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Joshua,,SAY:,Most marketability models answer the easy question: who is already famous? We wanted to answer the more useful question: who is about to become commercially valuable before everyone else sees it? Mav Metrics combines performance, reach, attention, engagement, momentum, and brand signals into one explainable system. The output is not just a ranking. It is a decision tool.,,TRANSITION: First, we changed the question from “who is popular?” to “where is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Joshua,,SAY:,The centerpiece is what we call the marketability gap. We estimate how marketable a player should be from basketball performance, then compare that benchmark with the marketability signals we actually observe. A negative gap does not mean a player is bad at marketing. It means there may be uncaptured value. That turns the model from a leaderboard into an opportunity detector.,,Q&amp;A ANCHOR: A residual-style gap is easier to act on than an absolute score because it controls for basketball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Shresta,,SAY:,We designed the output around decisions, not math for its own sake. A team can use it to decide where to spend content resources. An agent can use it to support a player’s commercial story. A sponsor can use it to identify emerging talent before market pricing catches up. That is why every score in our system needs an explanation and an action.,,TRANSITION: To make those decisions defensible, the model uses six simple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Shresta,,SAY:,The six pillars are performance, reach, attention, engagement, momentum, and brand. Performance gives the player credibility and exposure. Reach measures distribution. Attention captures demand beyond the player’s own accounts. Engagement tells us whether the audience is active. Momentum is how quickly that attention is changing. Brand captures commercial proof and fit. We normalize each measure to a zero-to-one-hundred percentile so unlike units can be combined without pretending followers and points are the same thing.,,Q&amp;A ANCHOR: Large count variables are log-scaled before percentile ranking so a handful of megastars do not flatten everyone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Veer,,SAY:,The model is intentionally explainable. We start with weighted pillar scores: 25 percent performance, 20 percent reach, 20 percent attention, 15 percent engagement, and 10 percent each for momentum and brand. Then we estimate expected marketability from performance. The residual is the marketability gap. We do not claim these weights are universal truth. We treat them as assumptions that should survive sensitivity testing.,,FORMULA: Score = .25P + .20R + .20A + .15E + .10M + .10B,Q&amp;A ANCHOR: In a production version, weights can be learned from historical commercial outcomes once enough data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Veer,,SAY:,This is the fastest way to understand the output. Players move right as performance increases and move up as marketability increases. The lower-right quadrant is where we look first: strong basketball value without equivalent commercial attention. These dots are illustrative because the final ranking should only be populated after every source is collected on the same date. The decision rule, however, is the part we would operationalize.,,IMPORTANT: Do not present the plotted dots as named real players. They are intentionally unlabeled to avoid overclaiming.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Veer,,SAY:,We wanted at least one benchmark that did not come from our own model. NBA Communications publishes player-level digital and social view totals. In the 2024–25 regular season, LeBron James generated 3.23 billion views, Stephen Curry 2.56 billion, and Luka Dončić 1.82 billion. These are real observed attention outcomes. A useful model should explain or anticipate outcomes like these instead of only reproducing a score we invented.,,SOURCE: https://pr.nba.com/2024-25-season-social-media-merchandise/,Q&amp;A ANCHOR: We would use rank correlation and holdout tests when enough seasons are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Veer,,SAY:,The second reality check is merchandise. The NBA and NBPA publish official top-selling jersey rankings. For the 2025–26 regular season, Curry ranked first, Luka second, Brunson third, Wembanyama fourth, LeBron fifth—and Dallas rookie Cooper Flagg finished ninth. We intentionally keep jersey sales out of the score, then use them as an external validation outcome. If our model can anticipate real buying behavior, it is measuring something meaningful.,,SOURCE: https://pr.nba.com/stephen-curry-knicks-sales-2025-26-season/,METRICS: Spearman rank correlation; Top-K hit rate; outlier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Veer,,SAY:,Any judge can ask why attention is 20 percent instead of 15. Our answer is: test it. We perturb the pillar weights within a reasonable range and track whether the same opportunities stay near the top. If one recommendation disappears the second a weight moves five points, we should not build a strategy around it. Robustness matters more than fake precision.,,Q&amp;A ANCHOR: The model is transparent enough to run sensitivity analysis live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Sejal,,SAY:,This is the product version of the framework. The dashboard is deliberately one screen. We can filter for younger players, high momentum, or negative marketability gap; adjust weights; compare players; and immediately see why someone ranks where they do. The goal is not to replace the presentation with software. It is to prove the framework is reusable after the case competition ends.,,DEMO: If the dashboard is live, show one weight change and one player filter—do not spend more than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Sejal,,SAY:,Dallas already gives us a clean example of why momentum matters. Cooper Flagg entered the NBA with major attention, debuted at number eleven in the midseason jersey rankings, finished ninth for the full 2025–26 regular season as the only rookie in the top fifteen, and then won Rookie of the Year after leading rookies at 21 points per game. The point is not that our model discovered Cooper Flagg. The point is that the sequence—performance, attention growth, then commercial proof—is exactly the pattern a momentum signal should be built to detect in less obvious players.,,SOURCES: https://pr.nba.com/stephen-curry-lakers-sales-2025-26-season/ ; https://pr.nba.com/stephen-curry-knicks-sales-2025-26-season/ ; https://pr.nba.com/cooper-flagg-2025-26-kia-nba-rookie-of-the-year/,PHOTO: official NBA.com player headshot.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Joshua,,SAY:,Our recommendation is to make this a quarterly scouting process. Refresh the same public signals on a fixed date, validate the model against observable commercial outcomes, create a watchlist, and run one small activation with the best opportunity. Then measure the lift and feed that outcome back into the model. We would start with a small pilot rather than claiming the first version should drive every decision.,,ACTION: A pilot can be run entirely with public data before asking for internal Mavericks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Joshua,,SAY:,There are important limits. Public data cannot tell us the exact economics of a private endorsement deal, and correlation does not prove that one variable caused commercial success. We would use this model to prioritize attention, not automate decisions. That is why every recommendation still needs human review, brand-safety checks, and—if the Mavericks adopted it—internal data where available.,,Q&amp;A ANCHOR: The model is a screening system, not a valuation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Joshua,,SAY:,Mav Metrics is built around one idea: commercial opportunity lives in the gap between what a player is doing on the court and how much value the market has captured off it. We measure that gap, track momentum, validate against real fan behavior, and turn the result into an action. Thank you—we are happy to take questions.,,Q&amp;A ROUTING: Veer = model/weights/validation; Shresta = market/brand rationale; Sejal = dashboard/results; Joshua = strategy/limitations/close.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20A13"/>
          </a:solidFill>
          <a:ln w="12700">
            <a:solidFill>
              <a:srgbClr val="020A13"/>
            </a:solidFill>
            <a:prstDash val="solid"/>
          </a:ln>
        </p:spPr>
      </p:sp>
      <p:sp>
        <p:nvSpPr>
          <p:cNvPr id="3" name="Shape 1"/>
          <p:cNvSpPr/>
          <p:nvPr/>
        </p:nvSpPr>
        <p:spPr>
          <a:xfrm>
            <a:off x="0" y="0"/>
            <a:ext cx="6126480" cy="6858000"/>
          </a:xfrm>
          <a:prstGeom prst="rect">
            <a:avLst/>
          </a:prstGeom>
          <a:solidFill>
            <a:srgbClr val="04111F"/>
          </a:solidFill>
          <a:ln w="12700">
            <a:solidFill>
              <a:srgbClr val="04111F">
                <a:alpha val="0"/>
              </a:srgbClr>
            </a:solidFill>
            <a:prstDash val="solid"/>
          </a:ln>
        </p:spPr>
      </p:sp>
      <p:sp>
        <p:nvSpPr>
          <p:cNvPr id="4" name="Text 2"/>
          <p:cNvSpPr/>
          <p:nvPr/>
        </p:nvSpPr>
        <p:spPr>
          <a:xfrm>
            <a:off x="640080" y="502920"/>
            <a:ext cx="4114800" cy="320040"/>
          </a:xfrm>
          <a:prstGeom prst="rect">
            <a:avLst/>
          </a:prstGeom>
          <a:noFill/>
          <a:ln/>
        </p:spPr>
        <p:txBody>
          <a:bodyPr wrap="square" lIns="254" tIns="254" rIns="254" bIns="254" rtlCol="0" anchor="ctr">
            <a:normAutofit/>
          </a:bodyPr>
          <a:lstStyle/>
          <a:p>
            <a:pPr algn="l" indent="0" marL="0">
              <a:buNone/>
            </a:pPr>
            <a:r>
              <a:rPr lang="en-US" sz="1000" b="1" dirty="0">
                <a:solidFill>
                  <a:srgbClr val="00A3FF"/>
                </a:solidFill>
              </a:rPr>
              <a:t>MAV METRICS</a:t>
            </a:r>
            <a:endParaRPr lang="en-US" sz="1000" dirty="0"/>
          </a:p>
        </p:txBody>
      </p:sp>
      <p:sp>
        <p:nvSpPr>
          <p:cNvPr id="5" name="Text 3"/>
          <p:cNvSpPr/>
          <p:nvPr/>
        </p:nvSpPr>
        <p:spPr>
          <a:xfrm>
            <a:off x="640080" y="1143000"/>
            <a:ext cx="5303520" cy="2240280"/>
          </a:xfrm>
          <a:prstGeom prst="rect">
            <a:avLst/>
          </a:prstGeom>
          <a:noFill/>
          <a:ln/>
        </p:spPr>
        <p:txBody>
          <a:bodyPr wrap="square" lIns="254" tIns="254" rIns="254" bIns="254" rtlCol="0" anchor="ctr">
            <a:normAutofit/>
          </a:bodyPr>
          <a:lstStyle/>
          <a:p>
            <a:pPr algn="l" indent="0" marL="0">
              <a:buNone/>
            </a:pPr>
            <a:r>
              <a:rPr lang="en-US" sz="3100" b="1" dirty="0">
                <a:solidFill>
                  <a:srgbClr val="FFFFFF"/>
                </a:solidFill>
              </a:rPr>
              <a:t>Find the player</a:t>
            </a:r>
            <a:endParaRPr lang="en-US" sz="3100" dirty="0"/>
          </a:p>
          <a:p>
            <a:pPr algn="l" indent="0" marL="0">
              <a:buNone/>
            </a:pPr>
            <a:r>
              <a:rPr lang="en-US" sz="3100" b="1" dirty="0">
                <a:solidFill>
                  <a:srgbClr val="FFFFFF"/>
                </a:solidFill>
              </a:rPr>
              <a:t>whose brand is about</a:t>
            </a:r>
            <a:endParaRPr lang="en-US" sz="3100" dirty="0"/>
          </a:p>
          <a:p>
            <a:pPr algn="l" indent="0" marL="0">
              <a:buNone/>
            </a:pPr>
            <a:r>
              <a:rPr lang="en-US" sz="3100" b="1" dirty="0">
                <a:solidFill>
                  <a:srgbClr val="FFFFFF"/>
                </a:solidFill>
              </a:rPr>
              <a:t>to catch up.</a:t>
            </a:r>
            <a:endParaRPr lang="en-US" sz="3100" dirty="0"/>
          </a:p>
        </p:txBody>
      </p:sp>
      <p:sp>
        <p:nvSpPr>
          <p:cNvPr id="6" name="Text 4"/>
          <p:cNvSpPr/>
          <p:nvPr/>
        </p:nvSpPr>
        <p:spPr>
          <a:xfrm>
            <a:off x="658368" y="3767328"/>
            <a:ext cx="4800600" cy="841248"/>
          </a:xfrm>
          <a:prstGeom prst="rect">
            <a:avLst/>
          </a:prstGeom>
          <a:noFill/>
          <a:ln/>
        </p:spPr>
        <p:txBody>
          <a:bodyPr wrap="square" lIns="254" tIns="254" rIns="254" bIns="254" rtlCol="0" anchor="ctr">
            <a:normAutofit/>
          </a:bodyPr>
          <a:lstStyle/>
          <a:p>
            <a:pPr algn="l" indent="0" marL="0">
              <a:buNone/>
            </a:pPr>
            <a:r>
              <a:rPr lang="en-US" sz="1400" dirty="0">
                <a:solidFill>
                  <a:srgbClr val="A9BAC9"/>
                </a:solidFill>
              </a:rPr>
              <a:t>A public-data framework for player marketability, momentum, and untapped commercial value.</a:t>
            </a:r>
            <a:endParaRPr lang="en-US" sz="1400" dirty="0"/>
          </a:p>
        </p:txBody>
      </p:sp>
      <p:sp>
        <p:nvSpPr>
          <p:cNvPr id="7" name="Shape 5"/>
          <p:cNvSpPr/>
          <p:nvPr/>
        </p:nvSpPr>
        <p:spPr>
          <a:xfrm>
            <a:off x="658368" y="4892040"/>
            <a:ext cx="2240280" cy="310896"/>
          </a:xfrm>
          <a:prstGeom prst="roundRect">
            <a:avLst>
              <a:gd name="adj" fmla="val 29412"/>
            </a:avLst>
          </a:prstGeom>
          <a:solidFill>
            <a:srgbClr val="00A3FF">
              <a:alpha val="18000"/>
            </a:srgbClr>
          </a:solidFill>
          <a:ln w="7620">
            <a:solidFill>
              <a:srgbClr val="00A3FF">
                <a:alpha val="65000"/>
              </a:srgbClr>
            </a:solidFill>
            <a:prstDash val="solid"/>
          </a:ln>
        </p:spPr>
      </p:sp>
      <p:sp>
        <p:nvSpPr>
          <p:cNvPr id="8" name="Text 6"/>
          <p:cNvSpPr/>
          <p:nvPr/>
        </p:nvSpPr>
        <p:spPr>
          <a:xfrm>
            <a:off x="713232" y="4928616"/>
            <a:ext cx="2130552"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2026 SPORTS ANALYTICS CASE</a:t>
            </a:r>
            <a:endParaRPr lang="en-US" sz="730" dirty="0"/>
          </a:p>
        </p:txBody>
      </p:sp>
      <p:sp>
        <p:nvSpPr>
          <p:cNvPr id="9" name="Text 7"/>
          <p:cNvSpPr/>
          <p:nvPr/>
        </p:nvSpPr>
        <p:spPr>
          <a:xfrm>
            <a:off x="658368" y="5596128"/>
            <a:ext cx="5394960" cy="320040"/>
          </a:xfrm>
          <a:prstGeom prst="rect">
            <a:avLst/>
          </a:prstGeom>
          <a:noFill/>
          <a:ln/>
        </p:spPr>
        <p:txBody>
          <a:bodyPr wrap="square" lIns="254" tIns="254" rIns="254" bIns="254" rtlCol="0" anchor="ctr">
            <a:normAutofit/>
          </a:bodyPr>
          <a:lstStyle/>
          <a:p>
            <a:pPr algn="l" indent="0" marL="0">
              <a:buNone/>
            </a:pPr>
            <a:r>
              <a:rPr lang="en-US" sz="850" b="1" dirty="0">
                <a:solidFill>
                  <a:srgbClr val="8195A6"/>
                </a:solidFill>
              </a:rPr>
              <a:t>Joshua Zamora  •  Shresta Yasarapu  •  Veer Singh  •  Sejal Jangal</a:t>
            </a:r>
            <a:endParaRPr lang="en-US" sz="850" dirty="0"/>
          </a:p>
        </p:txBody>
      </p:sp>
      <p:sp>
        <p:nvSpPr>
          <p:cNvPr id="10" name="Shape 8"/>
          <p:cNvSpPr/>
          <p:nvPr/>
        </p:nvSpPr>
        <p:spPr>
          <a:xfrm>
            <a:off x="6492240" y="640080"/>
            <a:ext cx="1691640" cy="2148840"/>
          </a:xfrm>
          <a:prstGeom prst="roundRect">
            <a:avLst>
              <a:gd name="adj" fmla="val 2703"/>
            </a:avLst>
          </a:prstGeom>
          <a:solidFill>
            <a:srgbClr val="071B2D"/>
          </a:solidFill>
          <a:ln w="11430">
            <a:solidFill>
              <a:srgbClr val="193B57"/>
            </a:solidFill>
            <a:prstDash val="solid"/>
          </a:ln>
        </p:spPr>
      </p:sp>
      <p:sp>
        <p:nvSpPr>
          <p:cNvPr id="11" name="Shape 9"/>
          <p:cNvSpPr/>
          <p:nvPr/>
        </p:nvSpPr>
        <p:spPr>
          <a:xfrm>
            <a:off x="7101230" y="950976"/>
            <a:ext cx="473659" cy="473659"/>
          </a:xfrm>
          <a:prstGeom prst="ellipse">
            <a:avLst/>
          </a:prstGeom>
          <a:solidFill>
            <a:srgbClr val="39566D"/>
          </a:solidFill>
          <a:ln w="12700">
            <a:solidFill>
              <a:srgbClr val="39566D"/>
            </a:solidFill>
            <a:prstDash val="solid"/>
          </a:ln>
        </p:spPr>
      </p:sp>
      <p:sp>
        <p:nvSpPr>
          <p:cNvPr id="12" name="Shape 10"/>
          <p:cNvSpPr/>
          <p:nvPr/>
        </p:nvSpPr>
        <p:spPr>
          <a:xfrm>
            <a:off x="6898234" y="1417320"/>
            <a:ext cx="879653" cy="879653"/>
          </a:xfrm>
          <a:prstGeom prst="ellipse">
            <a:avLst/>
          </a:prstGeom>
          <a:solidFill>
            <a:srgbClr val="29465D"/>
          </a:solidFill>
          <a:ln w="12700">
            <a:solidFill>
              <a:srgbClr val="29465D"/>
            </a:solidFill>
            <a:prstDash val="solid"/>
          </a:ln>
        </p:spPr>
      </p:sp>
      <p:sp>
        <p:nvSpPr>
          <p:cNvPr id="13" name="Shape 11"/>
          <p:cNvSpPr/>
          <p:nvPr/>
        </p:nvSpPr>
        <p:spPr>
          <a:xfrm>
            <a:off x="6519672" y="2395728"/>
            <a:ext cx="1636776" cy="365760"/>
          </a:xfrm>
          <a:prstGeom prst="rect">
            <a:avLst/>
          </a:prstGeom>
          <a:solidFill>
            <a:srgbClr val="04111F">
              <a:alpha val="95000"/>
            </a:srgbClr>
          </a:solidFill>
          <a:ln w="12700">
            <a:solidFill>
              <a:srgbClr val="04111F">
                <a:alpha val="0"/>
              </a:srgbClr>
            </a:solidFill>
            <a:prstDash val="solid"/>
          </a:ln>
        </p:spPr>
      </p:sp>
      <p:sp>
        <p:nvSpPr>
          <p:cNvPr id="14" name="Text 12"/>
          <p:cNvSpPr/>
          <p:nvPr/>
        </p:nvSpPr>
        <p:spPr>
          <a:xfrm>
            <a:off x="6601968" y="2459736"/>
            <a:ext cx="1472184" cy="201168"/>
          </a:xfrm>
          <a:prstGeom prst="rect">
            <a:avLst/>
          </a:prstGeom>
          <a:noFill/>
          <a:ln/>
        </p:spPr>
        <p:txBody>
          <a:bodyPr wrap="square" lIns="254" tIns="254" rIns="254" bIns="254" rtlCol="0" anchor="ctr">
            <a:normAutofit/>
          </a:bodyPr>
          <a:lstStyle/>
          <a:p>
            <a:pPr algn="ctr" indent="0" marL="0">
              <a:buNone/>
            </a:pPr>
            <a:r>
              <a:rPr lang="en-US" sz="780" b="1" dirty="0">
                <a:solidFill>
                  <a:srgbClr val="FFFFFF"/>
                </a:solidFill>
              </a:rPr>
              <a:t>COOPER FLAGG</a:t>
            </a:r>
            <a:endParaRPr lang="en-US" sz="780" dirty="0"/>
          </a:p>
        </p:txBody>
      </p:sp>
      <p:sp>
        <p:nvSpPr>
          <p:cNvPr id="15" name="Shape 13"/>
          <p:cNvSpPr/>
          <p:nvPr/>
        </p:nvSpPr>
        <p:spPr>
          <a:xfrm>
            <a:off x="8229600" y="640080"/>
            <a:ext cx="1691640" cy="2148840"/>
          </a:xfrm>
          <a:prstGeom prst="roundRect">
            <a:avLst>
              <a:gd name="adj" fmla="val 2703"/>
            </a:avLst>
          </a:prstGeom>
          <a:solidFill>
            <a:srgbClr val="071B2D"/>
          </a:solidFill>
          <a:ln w="11430">
            <a:solidFill>
              <a:srgbClr val="193B57"/>
            </a:solidFill>
            <a:prstDash val="solid"/>
          </a:ln>
        </p:spPr>
      </p:sp>
      <p:sp>
        <p:nvSpPr>
          <p:cNvPr id="16" name="Shape 14"/>
          <p:cNvSpPr/>
          <p:nvPr/>
        </p:nvSpPr>
        <p:spPr>
          <a:xfrm>
            <a:off x="8838590" y="950976"/>
            <a:ext cx="473659" cy="473659"/>
          </a:xfrm>
          <a:prstGeom prst="ellipse">
            <a:avLst/>
          </a:prstGeom>
          <a:solidFill>
            <a:srgbClr val="39566D"/>
          </a:solidFill>
          <a:ln w="12700">
            <a:solidFill>
              <a:srgbClr val="39566D"/>
            </a:solidFill>
            <a:prstDash val="solid"/>
          </a:ln>
        </p:spPr>
      </p:sp>
      <p:sp>
        <p:nvSpPr>
          <p:cNvPr id="17" name="Shape 15"/>
          <p:cNvSpPr/>
          <p:nvPr/>
        </p:nvSpPr>
        <p:spPr>
          <a:xfrm>
            <a:off x="8635594" y="1417320"/>
            <a:ext cx="879653" cy="879653"/>
          </a:xfrm>
          <a:prstGeom prst="ellipse">
            <a:avLst/>
          </a:prstGeom>
          <a:solidFill>
            <a:srgbClr val="29465D"/>
          </a:solidFill>
          <a:ln w="12700">
            <a:solidFill>
              <a:srgbClr val="29465D"/>
            </a:solidFill>
            <a:prstDash val="solid"/>
          </a:ln>
        </p:spPr>
      </p:sp>
      <p:sp>
        <p:nvSpPr>
          <p:cNvPr id="18" name="Shape 16"/>
          <p:cNvSpPr/>
          <p:nvPr/>
        </p:nvSpPr>
        <p:spPr>
          <a:xfrm>
            <a:off x="8257032" y="2395728"/>
            <a:ext cx="1636776" cy="365760"/>
          </a:xfrm>
          <a:prstGeom prst="rect">
            <a:avLst/>
          </a:prstGeom>
          <a:solidFill>
            <a:srgbClr val="04111F">
              <a:alpha val="95000"/>
            </a:srgbClr>
          </a:solidFill>
          <a:ln w="12700">
            <a:solidFill>
              <a:srgbClr val="04111F">
                <a:alpha val="0"/>
              </a:srgbClr>
            </a:solidFill>
            <a:prstDash val="solid"/>
          </a:ln>
        </p:spPr>
      </p:sp>
      <p:sp>
        <p:nvSpPr>
          <p:cNvPr id="19" name="Text 17"/>
          <p:cNvSpPr/>
          <p:nvPr/>
        </p:nvSpPr>
        <p:spPr>
          <a:xfrm>
            <a:off x="8339328" y="2459736"/>
            <a:ext cx="1472184" cy="201168"/>
          </a:xfrm>
          <a:prstGeom prst="rect">
            <a:avLst/>
          </a:prstGeom>
          <a:noFill/>
          <a:ln/>
        </p:spPr>
        <p:txBody>
          <a:bodyPr wrap="square" lIns="254" tIns="254" rIns="254" bIns="254" rtlCol="0" anchor="ctr">
            <a:normAutofit/>
          </a:bodyPr>
          <a:lstStyle/>
          <a:p>
            <a:pPr algn="ctr" indent="0" marL="0">
              <a:buNone/>
            </a:pPr>
            <a:r>
              <a:rPr lang="en-US" sz="780" b="1" dirty="0">
                <a:solidFill>
                  <a:srgbClr val="FFFFFF"/>
                </a:solidFill>
              </a:rPr>
              <a:t>STEPH CURRY</a:t>
            </a:r>
            <a:endParaRPr lang="en-US" sz="780" dirty="0"/>
          </a:p>
        </p:txBody>
      </p:sp>
      <p:sp>
        <p:nvSpPr>
          <p:cNvPr id="20" name="Shape 18"/>
          <p:cNvSpPr/>
          <p:nvPr/>
        </p:nvSpPr>
        <p:spPr>
          <a:xfrm>
            <a:off x="9966960" y="640080"/>
            <a:ext cx="1691640" cy="2148840"/>
          </a:xfrm>
          <a:prstGeom prst="roundRect">
            <a:avLst>
              <a:gd name="adj" fmla="val 2703"/>
            </a:avLst>
          </a:prstGeom>
          <a:solidFill>
            <a:srgbClr val="071B2D"/>
          </a:solidFill>
          <a:ln w="11430">
            <a:solidFill>
              <a:srgbClr val="193B57"/>
            </a:solidFill>
            <a:prstDash val="solid"/>
          </a:ln>
        </p:spPr>
      </p:sp>
      <p:sp>
        <p:nvSpPr>
          <p:cNvPr id="21" name="Shape 19"/>
          <p:cNvSpPr/>
          <p:nvPr/>
        </p:nvSpPr>
        <p:spPr>
          <a:xfrm>
            <a:off x="10575950" y="950976"/>
            <a:ext cx="473659" cy="473659"/>
          </a:xfrm>
          <a:prstGeom prst="ellipse">
            <a:avLst/>
          </a:prstGeom>
          <a:solidFill>
            <a:srgbClr val="39566D"/>
          </a:solidFill>
          <a:ln w="12700">
            <a:solidFill>
              <a:srgbClr val="39566D"/>
            </a:solidFill>
            <a:prstDash val="solid"/>
          </a:ln>
        </p:spPr>
      </p:sp>
      <p:sp>
        <p:nvSpPr>
          <p:cNvPr id="22" name="Shape 20"/>
          <p:cNvSpPr/>
          <p:nvPr/>
        </p:nvSpPr>
        <p:spPr>
          <a:xfrm>
            <a:off x="10372954" y="1417320"/>
            <a:ext cx="879653" cy="879653"/>
          </a:xfrm>
          <a:prstGeom prst="ellipse">
            <a:avLst/>
          </a:prstGeom>
          <a:solidFill>
            <a:srgbClr val="29465D"/>
          </a:solidFill>
          <a:ln w="12700">
            <a:solidFill>
              <a:srgbClr val="29465D"/>
            </a:solidFill>
            <a:prstDash val="solid"/>
          </a:ln>
        </p:spPr>
      </p:sp>
      <p:sp>
        <p:nvSpPr>
          <p:cNvPr id="23" name="Shape 21"/>
          <p:cNvSpPr/>
          <p:nvPr/>
        </p:nvSpPr>
        <p:spPr>
          <a:xfrm>
            <a:off x="9994392" y="2395728"/>
            <a:ext cx="1636776" cy="365760"/>
          </a:xfrm>
          <a:prstGeom prst="rect">
            <a:avLst/>
          </a:prstGeom>
          <a:solidFill>
            <a:srgbClr val="04111F">
              <a:alpha val="95000"/>
            </a:srgbClr>
          </a:solidFill>
          <a:ln w="12700">
            <a:solidFill>
              <a:srgbClr val="04111F">
                <a:alpha val="0"/>
              </a:srgbClr>
            </a:solidFill>
            <a:prstDash val="solid"/>
          </a:ln>
        </p:spPr>
      </p:sp>
      <p:sp>
        <p:nvSpPr>
          <p:cNvPr id="24" name="Text 22"/>
          <p:cNvSpPr/>
          <p:nvPr/>
        </p:nvSpPr>
        <p:spPr>
          <a:xfrm>
            <a:off x="10076688" y="2459736"/>
            <a:ext cx="1472184" cy="201168"/>
          </a:xfrm>
          <a:prstGeom prst="rect">
            <a:avLst/>
          </a:prstGeom>
          <a:noFill/>
          <a:ln/>
        </p:spPr>
        <p:txBody>
          <a:bodyPr wrap="square" lIns="254" tIns="254" rIns="254" bIns="254" rtlCol="0" anchor="ctr">
            <a:normAutofit/>
          </a:bodyPr>
          <a:lstStyle/>
          <a:p>
            <a:pPr algn="ctr" indent="0" marL="0">
              <a:buNone/>
            </a:pPr>
            <a:r>
              <a:rPr lang="en-US" sz="780" b="1" dirty="0">
                <a:solidFill>
                  <a:srgbClr val="FFFFFF"/>
                </a:solidFill>
              </a:rPr>
              <a:t>LUKA DONČIĆ</a:t>
            </a:r>
            <a:endParaRPr lang="en-US" sz="780" dirty="0"/>
          </a:p>
        </p:txBody>
      </p:sp>
      <p:sp>
        <p:nvSpPr>
          <p:cNvPr id="25" name="Shape 23"/>
          <p:cNvSpPr/>
          <p:nvPr/>
        </p:nvSpPr>
        <p:spPr>
          <a:xfrm>
            <a:off x="6492240" y="3063240"/>
            <a:ext cx="5166360" cy="2514600"/>
          </a:xfrm>
          <a:prstGeom prst="roundRect">
            <a:avLst>
              <a:gd name="adj" fmla="val 2909"/>
            </a:avLst>
          </a:prstGeom>
          <a:solidFill>
            <a:srgbClr val="081D31"/>
          </a:solidFill>
          <a:ln w="11430">
            <a:solidFill>
              <a:srgbClr val="193B57"/>
            </a:solidFill>
            <a:prstDash val="solid"/>
          </a:ln>
        </p:spPr>
      </p:sp>
      <p:sp>
        <p:nvSpPr>
          <p:cNvPr id="26" name="Text 24"/>
          <p:cNvSpPr/>
          <p:nvPr/>
        </p:nvSpPr>
        <p:spPr>
          <a:xfrm>
            <a:off x="6812280" y="3401568"/>
            <a:ext cx="2011680" cy="237744"/>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WHY THIS MATTERS</a:t>
            </a:r>
            <a:endParaRPr lang="en-US" sz="800" dirty="0"/>
          </a:p>
        </p:txBody>
      </p:sp>
      <p:sp>
        <p:nvSpPr>
          <p:cNvPr id="27" name="Text 25"/>
          <p:cNvSpPr/>
          <p:nvPr/>
        </p:nvSpPr>
        <p:spPr>
          <a:xfrm>
            <a:off x="6812280" y="3803904"/>
            <a:ext cx="4434840" cy="960120"/>
          </a:xfrm>
          <a:prstGeom prst="rect">
            <a:avLst/>
          </a:prstGeom>
          <a:noFill/>
          <a:ln/>
        </p:spPr>
        <p:txBody>
          <a:bodyPr wrap="square" lIns="254" tIns="254" rIns="254" bIns="254" rtlCol="0" anchor="ctr">
            <a:normAutofit/>
          </a:bodyPr>
          <a:lstStyle/>
          <a:p>
            <a:pPr algn="l" indent="0" marL="0">
              <a:buNone/>
            </a:pPr>
            <a:r>
              <a:rPr lang="en-US" sz="1700" b="1" dirty="0">
                <a:solidFill>
                  <a:srgbClr val="FFFFFF"/>
                </a:solidFill>
              </a:rPr>
              <a:t>Performance creates attention.</a:t>
            </a:r>
            <a:endParaRPr lang="en-US" sz="1700" dirty="0"/>
          </a:p>
          <a:p>
            <a:pPr algn="l" indent="0" marL="0">
              <a:buNone/>
            </a:pPr>
            <a:r>
              <a:rPr lang="en-US" sz="1700" b="1" dirty="0">
                <a:solidFill>
                  <a:srgbClr val="FFFFFF"/>
                </a:solidFill>
              </a:rPr>
              <a:t>Attention does not automatically create commercial value.</a:t>
            </a:r>
            <a:endParaRPr lang="en-US" sz="1700" dirty="0"/>
          </a:p>
        </p:txBody>
      </p:sp>
      <p:sp>
        <p:nvSpPr>
          <p:cNvPr id="28" name="Text 26"/>
          <p:cNvSpPr/>
          <p:nvPr/>
        </p:nvSpPr>
        <p:spPr>
          <a:xfrm>
            <a:off x="6812280" y="5084064"/>
            <a:ext cx="4343400" cy="347472"/>
          </a:xfrm>
          <a:prstGeom prst="rect">
            <a:avLst/>
          </a:prstGeom>
          <a:noFill/>
          <a:ln/>
        </p:spPr>
        <p:txBody>
          <a:bodyPr wrap="square" lIns="254" tIns="254" rIns="254" bIns="254" rtlCol="0" anchor="ctr">
            <a:normAutofit/>
          </a:bodyPr>
          <a:lstStyle/>
          <a:p>
            <a:pPr algn="l" indent="0" marL="0">
              <a:buNone/>
            </a:pPr>
            <a:r>
              <a:rPr lang="en-US" sz="1100" b="1" dirty="0">
                <a:solidFill>
                  <a:srgbClr val="35D0BA"/>
                </a:solidFill>
              </a:rPr>
              <a:t>Mav Metrics isolates the gap between the two.</a:t>
            </a:r>
            <a:endParaRPr lang="en-US" sz="1100" dirty="0"/>
          </a:p>
        </p:txBody>
      </p:sp>
      <p:sp>
        <p:nvSpPr>
          <p:cNvPr id="29" name="Shape 27"/>
          <p:cNvSpPr/>
          <p:nvPr/>
        </p:nvSpPr>
        <p:spPr>
          <a:xfrm>
            <a:off x="566928" y="6455664"/>
            <a:ext cx="11064240" cy="0"/>
          </a:xfrm>
          <a:prstGeom prst="line">
            <a:avLst/>
          </a:prstGeom>
          <a:noFill/>
          <a:ln w="8890">
            <a:solidFill>
              <a:srgbClr val="193B57"/>
            </a:solidFill>
            <a:prstDash val="solid"/>
          </a:ln>
        </p:spPr>
      </p:sp>
      <p:sp>
        <p:nvSpPr>
          <p:cNvPr id="30" name="Text 28"/>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01</a:t>
            </a:r>
            <a:endParaRPr lang="en-US" sz="580" dirty="0"/>
          </a:p>
        </p:txBody>
      </p:sp>
      <p:sp>
        <p:nvSpPr>
          <p:cNvPr id="31" name="Text 29"/>
          <p:cNvSpPr/>
          <p:nvPr/>
        </p:nvSpPr>
        <p:spPr>
          <a:xfrm>
            <a:off x="2148840" y="6492240"/>
            <a:ext cx="9418320" cy="164592"/>
          </a:xfrm>
          <a:prstGeom prst="rect">
            <a:avLst/>
          </a:prstGeom>
          <a:noFill/>
          <a:ln/>
        </p:spPr>
        <p:txBody>
          <a:bodyPr wrap="square" lIns="0" tIns="0" rIns="0" bIns="0" rtlCol="0" anchor="ctr">
            <a:normAutofit/>
          </a:bodyPr>
          <a:lstStyle/>
          <a:p>
            <a:pPr algn="r" indent="0" marL="0">
              <a:buNone/>
            </a:pPr>
            <a:r>
              <a:rPr lang="en-US" sz="520" dirty="0">
                <a:solidFill>
                  <a:srgbClr val="63798B"/>
                </a:solidFill>
              </a:rPr>
              <a:t>Photos: official NBA.com player headshots</a:t>
            </a:r>
            <a:endParaRPr lang="en-US" sz="5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THE OPPORTUNITY</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A ranking tells you who won. A model should tell you who is next.</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The useful signal is the mismatch between basketball value and commercial attention.</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02</a:t>
            </a:r>
            <a:endParaRPr lang="en-US" sz="580" dirty="0"/>
          </a:p>
        </p:txBody>
      </p:sp>
      <p:sp>
        <p:nvSpPr>
          <p:cNvPr id="8" name="Shape 6"/>
          <p:cNvSpPr/>
          <p:nvPr/>
        </p:nvSpPr>
        <p:spPr>
          <a:xfrm>
            <a:off x="685800" y="1883664"/>
            <a:ext cx="5074920" cy="3611880"/>
          </a:xfrm>
          <a:prstGeom prst="roundRect">
            <a:avLst>
              <a:gd name="adj" fmla="val 2025"/>
            </a:avLst>
          </a:prstGeom>
          <a:solidFill>
            <a:srgbClr val="081D31"/>
          </a:solidFill>
          <a:ln w="11430">
            <a:solidFill>
              <a:srgbClr val="193B57"/>
            </a:solidFill>
            <a:prstDash val="solid"/>
          </a:ln>
        </p:spPr>
      </p:sp>
      <p:sp>
        <p:nvSpPr>
          <p:cNvPr id="9" name="Text 7"/>
          <p:cNvSpPr/>
          <p:nvPr/>
        </p:nvSpPr>
        <p:spPr>
          <a:xfrm>
            <a:off x="969264" y="2176272"/>
            <a:ext cx="210312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MARKETABILITY GAP</a:t>
            </a:r>
            <a:endParaRPr lang="en-US" sz="800" dirty="0"/>
          </a:p>
        </p:txBody>
      </p:sp>
      <p:sp>
        <p:nvSpPr>
          <p:cNvPr id="10" name="Text 8"/>
          <p:cNvSpPr/>
          <p:nvPr/>
        </p:nvSpPr>
        <p:spPr>
          <a:xfrm>
            <a:off x="969264" y="2761488"/>
            <a:ext cx="2057400" cy="310896"/>
          </a:xfrm>
          <a:prstGeom prst="rect">
            <a:avLst/>
          </a:prstGeom>
          <a:noFill/>
          <a:ln/>
        </p:spPr>
        <p:txBody>
          <a:bodyPr wrap="square" lIns="254" tIns="254" rIns="254" bIns="254" rtlCol="0" anchor="ctr">
            <a:normAutofit/>
          </a:bodyPr>
          <a:lstStyle/>
          <a:p>
            <a:pPr algn="l" indent="0" marL="0">
              <a:buNone/>
            </a:pPr>
            <a:r>
              <a:rPr lang="en-US" sz="1500" b="1" dirty="0">
                <a:solidFill>
                  <a:srgbClr val="FFFFFF"/>
                </a:solidFill>
              </a:rPr>
              <a:t>Actual marketability</a:t>
            </a:r>
            <a:endParaRPr lang="en-US" sz="1500" dirty="0"/>
          </a:p>
        </p:txBody>
      </p:sp>
      <p:sp>
        <p:nvSpPr>
          <p:cNvPr id="11" name="Text 9"/>
          <p:cNvSpPr/>
          <p:nvPr/>
        </p:nvSpPr>
        <p:spPr>
          <a:xfrm>
            <a:off x="3172968" y="2706624"/>
            <a:ext cx="411480" cy="384048"/>
          </a:xfrm>
          <a:prstGeom prst="rect">
            <a:avLst/>
          </a:prstGeom>
          <a:noFill/>
          <a:ln/>
        </p:spPr>
        <p:txBody>
          <a:bodyPr wrap="square" lIns="254" tIns="254" rIns="254" bIns="254" rtlCol="0" anchor="ctr">
            <a:normAutofit/>
          </a:bodyPr>
          <a:lstStyle/>
          <a:p>
            <a:pPr algn="ctr" indent="0" marL="0">
              <a:buNone/>
            </a:pPr>
            <a:r>
              <a:rPr lang="en-US" sz="2100" b="1" dirty="0">
                <a:solidFill>
                  <a:srgbClr val="A9BAC9"/>
                </a:solidFill>
              </a:rPr>
              <a:t>−</a:t>
            </a:r>
            <a:endParaRPr lang="en-US" sz="2100" dirty="0"/>
          </a:p>
        </p:txBody>
      </p:sp>
      <p:sp>
        <p:nvSpPr>
          <p:cNvPr id="12" name="Text 10"/>
          <p:cNvSpPr/>
          <p:nvPr/>
        </p:nvSpPr>
        <p:spPr>
          <a:xfrm>
            <a:off x="3675888" y="2761488"/>
            <a:ext cx="1783080" cy="310896"/>
          </a:xfrm>
          <a:prstGeom prst="rect">
            <a:avLst/>
          </a:prstGeom>
          <a:noFill/>
          <a:ln/>
        </p:spPr>
        <p:txBody>
          <a:bodyPr wrap="square" lIns="254" tIns="254" rIns="254" bIns="254" rtlCol="0" anchor="ctr">
            <a:normAutofit/>
          </a:bodyPr>
          <a:lstStyle/>
          <a:p>
            <a:pPr algn="ctr" indent="0" marL="0">
              <a:buNone/>
            </a:pPr>
            <a:r>
              <a:rPr lang="en-US" sz="1500" b="1" dirty="0">
                <a:solidFill>
                  <a:srgbClr val="FFFFFF"/>
                </a:solidFill>
              </a:rPr>
              <a:t>Expected marketability</a:t>
            </a:r>
            <a:endParaRPr lang="en-US" sz="1500" dirty="0"/>
          </a:p>
        </p:txBody>
      </p:sp>
      <p:sp>
        <p:nvSpPr>
          <p:cNvPr id="13" name="Shape 11"/>
          <p:cNvSpPr/>
          <p:nvPr/>
        </p:nvSpPr>
        <p:spPr>
          <a:xfrm>
            <a:off x="914400" y="3310128"/>
            <a:ext cx="4526280" cy="0"/>
          </a:xfrm>
          <a:prstGeom prst="line">
            <a:avLst/>
          </a:prstGeom>
          <a:noFill/>
          <a:ln w="16510">
            <a:solidFill>
              <a:srgbClr val="00A3FF"/>
            </a:solidFill>
            <a:prstDash val="solid"/>
          </a:ln>
        </p:spPr>
      </p:sp>
      <p:sp>
        <p:nvSpPr>
          <p:cNvPr id="14" name="Text 12"/>
          <p:cNvSpPr/>
          <p:nvPr/>
        </p:nvSpPr>
        <p:spPr>
          <a:xfrm>
            <a:off x="960120" y="3675888"/>
            <a:ext cx="822960" cy="384048"/>
          </a:xfrm>
          <a:prstGeom prst="rect">
            <a:avLst/>
          </a:prstGeom>
          <a:noFill/>
          <a:ln/>
        </p:spPr>
        <p:txBody>
          <a:bodyPr wrap="square" lIns="254" tIns="254" rIns="254" bIns="254" rtlCol="0" anchor="ctr">
            <a:normAutofit/>
          </a:bodyPr>
          <a:lstStyle/>
          <a:p>
            <a:pPr algn="l" indent="0" marL="0">
              <a:buNone/>
            </a:pPr>
            <a:r>
              <a:rPr lang="en-US" sz="2200" b="1" dirty="0">
                <a:solidFill>
                  <a:srgbClr val="F4C95D"/>
                </a:solidFill>
              </a:rPr>
              <a:t>&lt; 0</a:t>
            </a:r>
            <a:endParaRPr lang="en-US" sz="2200" dirty="0"/>
          </a:p>
        </p:txBody>
      </p:sp>
      <p:sp>
        <p:nvSpPr>
          <p:cNvPr id="15" name="Text 13"/>
          <p:cNvSpPr/>
          <p:nvPr/>
        </p:nvSpPr>
        <p:spPr>
          <a:xfrm>
            <a:off x="1691640" y="3694176"/>
            <a:ext cx="3520440" cy="320040"/>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Underexposed relative to performance</a:t>
            </a:r>
            <a:endParaRPr lang="en-US" sz="1100" dirty="0"/>
          </a:p>
        </p:txBody>
      </p:sp>
      <p:sp>
        <p:nvSpPr>
          <p:cNvPr id="16" name="Text 14"/>
          <p:cNvSpPr/>
          <p:nvPr/>
        </p:nvSpPr>
        <p:spPr>
          <a:xfrm>
            <a:off x="960120" y="4343400"/>
            <a:ext cx="822960" cy="384048"/>
          </a:xfrm>
          <a:prstGeom prst="rect">
            <a:avLst/>
          </a:prstGeom>
          <a:noFill/>
          <a:ln/>
        </p:spPr>
        <p:txBody>
          <a:bodyPr wrap="square" lIns="254" tIns="254" rIns="254" bIns="254" rtlCol="0" anchor="ctr">
            <a:normAutofit/>
          </a:bodyPr>
          <a:lstStyle/>
          <a:p>
            <a:pPr algn="l" indent="0" marL="0">
              <a:buNone/>
            </a:pPr>
            <a:r>
              <a:rPr lang="en-US" sz="2200" b="1" dirty="0">
                <a:solidFill>
                  <a:srgbClr val="35D0BA"/>
                </a:solidFill>
              </a:rPr>
              <a:t>&gt; 0</a:t>
            </a:r>
            <a:endParaRPr lang="en-US" sz="2200" dirty="0"/>
          </a:p>
        </p:txBody>
      </p:sp>
      <p:sp>
        <p:nvSpPr>
          <p:cNvPr id="17" name="Text 15"/>
          <p:cNvSpPr/>
          <p:nvPr/>
        </p:nvSpPr>
        <p:spPr>
          <a:xfrm>
            <a:off x="1691640" y="4370832"/>
            <a:ext cx="3520440" cy="320040"/>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Brand is outperforming basketball baseline</a:t>
            </a:r>
            <a:endParaRPr lang="en-US" sz="1100" dirty="0"/>
          </a:p>
        </p:txBody>
      </p:sp>
      <p:sp>
        <p:nvSpPr>
          <p:cNvPr id="18" name="Shape 16"/>
          <p:cNvSpPr/>
          <p:nvPr/>
        </p:nvSpPr>
        <p:spPr>
          <a:xfrm>
            <a:off x="6172200" y="1883664"/>
            <a:ext cx="5321808" cy="3611880"/>
          </a:xfrm>
          <a:prstGeom prst="roundRect">
            <a:avLst>
              <a:gd name="adj" fmla="val 2025"/>
            </a:avLst>
          </a:prstGeom>
          <a:solidFill>
            <a:srgbClr val="0B2741"/>
          </a:solidFill>
          <a:ln w="11430">
            <a:solidFill>
              <a:srgbClr val="193B57"/>
            </a:solidFill>
            <a:prstDash val="solid"/>
          </a:ln>
        </p:spPr>
      </p:sp>
      <p:sp>
        <p:nvSpPr>
          <p:cNvPr id="19" name="Text 17"/>
          <p:cNvSpPr/>
          <p:nvPr/>
        </p:nvSpPr>
        <p:spPr>
          <a:xfrm>
            <a:off x="6473952" y="2176272"/>
            <a:ext cx="2286000" cy="256032"/>
          </a:xfrm>
          <a:prstGeom prst="rect">
            <a:avLst/>
          </a:prstGeom>
          <a:noFill/>
          <a:ln/>
        </p:spPr>
        <p:txBody>
          <a:bodyPr wrap="square" lIns="254" tIns="254" rIns="254" bIns="254" rtlCol="0" anchor="ctr">
            <a:normAutofit/>
          </a:bodyPr>
          <a:lstStyle/>
          <a:p>
            <a:pPr algn="l" indent="0" marL="0">
              <a:buNone/>
            </a:pPr>
            <a:r>
              <a:rPr lang="en-US" sz="800" b="1" dirty="0">
                <a:solidFill>
                  <a:srgbClr val="40D9FF"/>
                </a:solidFill>
              </a:rPr>
              <a:t>WHY IT IS ACTIONABLE</a:t>
            </a:r>
            <a:endParaRPr lang="en-US" sz="800" dirty="0"/>
          </a:p>
        </p:txBody>
      </p:sp>
      <p:sp>
        <p:nvSpPr>
          <p:cNvPr id="20" name="Shape 18"/>
          <p:cNvSpPr/>
          <p:nvPr/>
        </p:nvSpPr>
        <p:spPr>
          <a:xfrm>
            <a:off x="6473952" y="2743200"/>
            <a:ext cx="841248" cy="310896"/>
          </a:xfrm>
          <a:prstGeom prst="roundRect">
            <a:avLst>
              <a:gd name="adj" fmla="val 29412"/>
            </a:avLst>
          </a:prstGeom>
          <a:solidFill>
            <a:srgbClr val="00A3FF">
              <a:alpha val="18000"/>
            </a:srgbClr>
          </a:solidFill>
          <a:ln w="7620">
            <a:solidFill>
              <a:srgbClr val="00A3FF">
                <a:alpha val="65000"/>
              </a:srgbClr>
            </a:solidFill>
            <a:prstDash val="solid"/>
          </a:ln>
        </p:spPr>
      </p:sp>
      <p:sp>
        <p:nvSpPr>
          <p:cNvPr id="21" name="Text 19"/>
          <p:cNvSpPr/>
          <p:nvPr/>
        </p:nvSpPr>
        <p:spPr>
          <a:xfrm>
            <a:off x="6528816" y="2779776"/>
            <a:ext cx="731520"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TEAM</a:t>
            </a:r>
            <a:endParaRPr lang="en-US" sz="730" dirty="0"/>
          </a:p>
        </p:txBody>
      </p:sp>
      <p:sp>
        <p:nvSpPr>
          <p:cNvPr id="22" name="Text 20"/>
          <p:cNvSpPr/>
          <p:nvPr/>
        </p:nvSpPr>
        <p:spPr>
          <a:xfrm>
            <a:off x="7498080" y="2734056"/>
            <a:ext cx="3611880" cy="34747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Who deserves more content + sponsor support?</a:t>
            </a:r>
            <a:endParaRPr lang="en-US" sz="1050" dirty="0"/>
          </a:p>
        </p:txBody>
      </p:sp>
      <p:sp>
        <p:nvSpPr>
          <p:cNvPr id="23" name="Shape 21"/>
          <p:cNvSpPr/>
          <p:nvPr/>
        </p:nvSpPr>
        <p:spPr>
          <a:xfrm>
            <a:off x="6473952" y="3493008"/>
            <a:ext cx="841248" cy="310896"/>
          </a:xfrm>
          <a:prstGeom prst="roundRect">
            <a:avLst>
              <a:gd name="adj" fmla="val 29412"/>
            </a:avLst>
          </a:prstGeom>
          <a:solidFill>
            <a:srgbClr val="35D0BA">
              <a:alpha val="18000"/>
            </a:srgbClr>
          </a:solidFill>
          <a:ln w="7620">
            <a:solidFill>
              <a:srgbClr val="35D0BA">
                <a:alpha val="65000"/>
              </a:srgbClr>
            </a:solidFill>
            <a:prstDash val="solid"/>
          </a:ln>
        </p:spPr>
      </p:sp>
      <p:sp>
        <p:nvSpPr>
          <p:cNvPr id="24" name="Text 22"/>
          <p:cNvSpPr/>
          <p:nvPr/>
        </p:nvSpPr>
        <p:spPr>
          <a:xfrm>
            <a:off x="6528816" y="3529584"/>
            <a:ext cx="731520"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AGENT</a:t>
            </a:r>
            <a:endParaRPr lang="en-US" sz="730" dirty="0"/>
          </a:p>
        </p:txBody>
      </p:sp>
      <p:sp>
        <p:nvSpPr>
          <p:cNvPr id="25" name="Text 23"/>
          <p:cNvSpPr/>
          <p:nvPr/>
        </p:nvSpPr>
        <p:spPr>
          <a:xfrm>
            <a:off x="7498080" y="3483864"/>
            <a:ext cx="3611880" cy="34747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Whose commercial story is ahead of the market?</a:t>
            </a:r>
            <a:endParaRPr lang="en-US" sz="1050" dirty="0"/>
          </a:p>
        </p:txBody>
      </p:sp>
      <p:sp>
        <p:nvSpPr>
          <p:cNvPr id="26" name="Shape 24"/>
          <p:cNvSpPr/>
          <p:nvPr/>
        </p:nvSpPr>
        <p:spPr>
          <a:xfrm>
            <a:off x="6473952" y="4242816"/>
            <a:ext cx="841248" cy="310896"/>
          </a:xfrm>
          <a:prstGeom prst="roundRect">
            <a:avLst>
              <a:gd name="adj" fmla="val 29412"/>
            </a:avLst>
          </a:prstGeom>
          <a:solidFill>
            <a:srgbClr val="F4C95D">
              <a:alpha val="18000"/>
            </a:srgbClr>
          </a:solidFill>
          <a:ln w="7620">
            <a:solidFill>
              <a:srgbClr val="F4C95D">
                <a:alpha val="65000"/>
              </a:srgbClr>
            </a:solidFill>
            <a:prstDash val="solid"/>
          </a:ln>
        </p:spPr>
      </p:sp>
      <p:sp>
        <p:nvSpPr>
          <p:cNvPr id="27" name="Text 25"/>
          <p:cNvSpPr/>
          <p:nvPr/>
        </p:nvSpPr>
        <p:spPr>
          <a:xfrm>
            <a:off x="6528816" y="4279392"/>
            <a:ext cx="731520"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BRAND</a:t>
            </a:r>
            <a:endParaRPr lang="en-US" sz="730" dirty="0"/>
          </a:p>
        </p:txBody>
      </p:sp>
      <p:sp>
        <p:nvSpPr>
          <p:cNvPr id="28" name="Text 26"/>
          <p:cNvSpPr/>
          <p:nvPr/>
        </p:nvSpPr>
        <p:spPr>
          <a:xfrm>
            <a:off x="7498080" y="4233672"/>
            <a:ext cx="3611880" cy="34747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Who can be signed before the price catches up?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DECISION SYSTEM</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One model, three decisions.</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The same player-level data creates different actions depending on who is using it.</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03</a:t>
            </a:r>
            <a:endParaRPr lang="en-US" sz="580" dirty="0"/>
          </a:p>
        </p:txBody>
      </p:sp>
      <p:sp>
        <p:nvSpPr>
          <p:cNvPr id="8" name="Shape 6"/>
          <p:cNvSpPr/>
          <p:nvPr/>
        </p:nvSpPr>
        <p:spPr>
          <a:xfrm>
            <a:off x="685800" y="1965960"/>
            <a:ext cx="3401568" cy="3337560"/>
          </a:xfrm>
          <a:prstGeom prst="roundRect">
            <a:avLst>
              <a:gd name="adj" fmla="val 2192"/>
            </a:avLst>
          </a:prstGeom>
          <a:solidFill>
            <a:srgbClr val="081D31"/>
          </a:solidFill>
          <a:ln w="11430">
            <a:solidFill>
              <a:srgbClr val="193B57"/>
            </a:solidFill>
            <a:prstDash val="solid"/>
          </a:ln>
        </p:spPr>
      </p:sp>
      <p:sp>
        <p:nvSpPr>
          <p:cNvPr id="9" name="Text 7"/>
          <p:cNvSpPr/>
          <p:nvPr/>
        </p:nvSpPr>
        <p:spPr>
          <a:xfrm>
            <a:off x="932688" y="2240280"/>
            <a:ext cx="685800" cy="502920"/>
          </a:xfrm>
          <a:prstGeom prst="rect">
            <a:avLst/>
          </a:prstGeom>
          <a:noFill/>
          <a:ln/>
        </p:spPr>
        <p:txBody>
          <a:bodyPr wrap="square" lIns="254" tIns="254" rIns="254" bIns="254" rtlCol="0" anchor="ctr">
            <a:normAutofit/>
          </a:bodyPr>
          <a:lstStyle/>
          <a:p>
            <a:pPr algn="l" indent="0" marL="0">
              <a:buNone/>
            </a:pPr>
            <a:r>
              <a:rPr lang="en-US" sz="2500" b="1" dirty="0">
                <a:solidFill>
                  <a:srgbClr val="00A3FF"/>
                </a:solidFill>
              </a:rPr>
              <a:t>01</a:t>
            </a:r>
            <a:endParaRPr lang="en-US" sz="2500" dirty="0"/>
          </a:p>
        </p:txBody>
      </p:sp>
      <p:sp>
        <p:nvSpPr>
          <p:cNvPr id="10" name="Text 8"/>
          <p:cNvSpPr/>
          <p:nvPr/>
        </p:nvSpPr>
        <p:spPr>
          <a:xfrm>
            <a:off x="932688" y="2852928"/>
            <a:ext cx="2834640" cy="310896"/>
          </a:xfrm>
          <a:prstGeom prst="rect">
            <a:avLst/>
          </a:prstGeom>
          <a:noFill/>
          <a:ln/>
        </p:spPr>
        <p:txBody>
          <a:bodyPr wrap="square" lIns="254" tIns="254" rIns="254" bIns="254" rtlCol="0" anchor="ctr">
            <a:normAutofit/>
          </a:bodyPr>
          <a:lstStyle/>
          <a:p>
            <a:pPr algn="l" indent="0" marL="0">
              <a:buNone/>
            </a:pPr>
            <a:r>
              <a:rPr lang="en-US" sz="900" b="1" dirty="0">
                <a:solidFill>
                  <a:srgbClr val="00A3FF"/>
                </a:solidFill>
              </a:rPr>
              <a:t>TEAM MARKETING</a:t>
            </a:r>
            <a:endParaRPr lang="en-US" sz="900" dirty="0"/>
          </a:p>
        </p:txBody>
      </p:sp>
      <p:sp>
        <p:nvSpPr>
          <p:cNvPr id="11" name="Text 9"/>
          <p:cNvSpPr/>
          <p:nvPr/>
        </p:nvSpPr>
        <p:spPr>
          <a:xfrm>
            <a:off x="932688" y="3310128"/>
            <a:ext cx="2852928" cy="676656"/>
          </a:xfrm>
          <a:prstGeom prst="rect">
            <a:avLst/>
          </a:prstGeom>
          <a:noFill/>
          <a:ln/>
        </p:spPr>
        <p:txBody>
          <a:bodyPr wrap="square" lIns="254" tIns="254" rIns="254" bIns="254" rtlCol="0" anchor="ctr">
            <a:normAutofit/>
          </a:bodyPr>
          <a:lstStyle/>
          <a:p>
            <a:pPr algn="l" indent="0" marL="0">
              <a:buNone/>
            </a:pPr>
            <a:r>
              <a:rPr lang="en-US" sz="1700" b="1" dirty="0">
                <a:solidFill>
                  <a:srgbClr val="FFFFFF"/>
                </a:solidFill>
              </a:rPr>
              <a:t>Allocate content and sponsor inventory</a:t>
            </a:r>
            <a:endParaRPr lang="en-US" sz="1700" dirty="0"/>
          </a:p>
        </p:txBody>
      </p:sp>
      <p:sp>
        <p:nvSpPr>
          <p:cNvPr id="12" name="Text 10"/>
          <p:cNvSpPr/>
          <p:nvPr/>
        </p:nvSpPr>
        <p:spPr>
          <a:xfrm>
            <a:off x="932688" y="4270248"/>
            <a:ext cx="2852928" cy="658368"/>
          </a:xfrm>
          <a:prstGeom prst="rect">
            <a:avLst/>
          </a:prstGeom>
          <a:noFill/>
          <a:ln/>
        </p:spPr>
        <p:txBody>
          <a:bodyPr wrap="square" lIns="254" tIns="254" rIns="254" bIns="254" rtlCol="0" anchor="ctr">
            <a:normAutofit/>
          </a:bodyPr>
          <a:lstStyle/>
          <a:p>
            <a:pPr algn="l" indent="0" marL="0">
              <a:buNone/>
            </a:pPr>
            <a:r>
              <a:rPr lang="en-US" sz="950" dirty="0">
                <a:solidFill>
                  <a:srgbClr val="A9BAC9"/>
                </a:solidFill>
              </a:rPr>
              <a:t>Find players whose performance is ahead of their public profile.</a:t>
            </a:r>
            <a:endParaRPr lang="en-US" sz="950" dirty="0"/>
          </a:p>
        </p:txBody>
      </p:sp>
      <p:sp>
        <p:nvSpPr>
          <p:cNvPr id="13" name="Shape 11"/>
          <p:cNvSpPr/>
          <p:nvPr/>
        </p:nvSpPr>
        <p:spPr>
          <a:xfrm>
            <a:off x="4462272" y="1965960"/>
            <a:ext cx="3401568" cy="3337560"/>
          </a:xfrm>
          <a:prstGeom prst="roundRect">
            <a:avLst>
              <a:gd name="adj" fmla="val 2192"/>
            </a:avLst>
          </a:prstGeom>
          <a:solidFill>
            <a:srgbClr val="081D31"/>
          </a:solidFill>
          <a:ln w="11430">
            <a:solidFill>
              <a:srgbClr val="193B57"/>
            </a:solidFill>
            <a:prstDash val="solid"/>
          </a:ln>
        </p:spPr>
      </p:sp>
      <p:sp>
        <p:nvSpPr>
          <p:cNvPr id="14" name="Text 12"/>
          <p:cNvSpPr/>
          <p:nvPr/>
        </p:nvSpPr>
        <p:spPr>
          <a:xfrm>
            <a:off x="4709160" y="2240280"/>
            <a:ext cx="685800" cy="502920"/>
          </a:xfrm>
          <a:prstGeom prst="rect">
            <a:avLst/>
          </a:prstGeom>
          <a:noFill/>
          <a:ln/>
        </p:spPr>
        <p:txBody>
          <a:bodyPr wrap="square" lIns="254" tIns="254" rIns="254" bIns="254" rtlCol="0" anchor="ctr">
            <a:normAutofit/>
          </a:bodyPr>
          <a:lstStyle/>
          <a:p>
            <a:pPr algn="l" indent="0" marL="0">
              <a:buNone/>
            </a:pPr>
            <a:r>
              <a:rPr lang="en-US" sz="2500" b="1" dirty="0">
                <a:solidFill>
                  <a:srgbClr val="35D0BA"/>
                </a:solidFill>
              </a:rPr>
              <a:t>02</a:t>
            </a:r>
            <a:endParaRPr lang="en-US" sz="2500" dirty="0"/>
          </a:p>
        </p:txBody>
      </p:sp>
      <p:sp>
        <p:nvSpPr>
          <p:cNvPr id="15" name="Text 13"/>
          <p:cNvSpPr/>
          <p:nvPr/>
        </p:nvSpPr>
        <p:spPr>
          <a:xfrm>
            <a:off x="4709160" y="2852928"/>
            <a:ext cx="2834640" cy="310896"/>
          </a:xfrm>
          <a:prstGeom prst="rect">
            <a:avLst/>
          </a:prstGeom>
          <a:noFill/>
          <a:ln/>
        </p:spPr>
        <p:txBody>
          <a:bodyPr wrap="square" lIns="254" tIns="254" rIns="254" bIns="254" rtlCol="0" anchor="ctr">
            <a:normAutofit/>
          </a:bodyPr>
          <a:lstStyle/>
          <a:p>
            <a:pPr algn="l" indent="0" marL="0">
              <a:buNone/>
            </a:pPr>
            <a:r>
              <a:rPr lang="en-US" sz="900" b="1" dirty="0">
                <a:solidFill>
                  <a:srgbClr val="35D0BA"/>
                </a:solidFill>
              </a:rPr>
              <a:t>AGENTS + PLAYERS</a:t>
            </a:r>
            <a:endParaRPr lang="en-US" sz="900" dirty="0"/>
          </a:p>
        </p:txBody>
      </p:sp>
      <p:sp>
        <p:nvSpPr>
          <p:cNvPr id="16" name="Text 14"/>
          <p:cNvSpPr/>
          <p:nvPr/>
        </p:nvSpPr>
        <p:spPr>
          <a:xfrm>
            <a:off x="4709160" y="3310128"/>
            <a:ext cx="2852928" cy="676656"/>
          </a:xfrm>
          <a:prstGeom prst="rect">
            <a:avLst/>
          </a:prstGeom>
          <a:noFill/>
          <a:ln/>
        </p:spPr>
        <p:txBody>
          <a:bodyPr wrap="square" lIns="254" tIns="254" rIns="254" bIns="254" rtlCol="0" anchor="ctr">
            <a:normAutofit/>
          </a:bodyPr>
          <a:lstStyle/>
          <a:p>
            <a:pPr algn="l" indent="0" marL="0">
              <a:buNone/>
            </a:pPr>
            <a:r>
              <a:rPr lang="en-US" sz="1700" b="1" dirty="0">
                <a:solidFill>
                  <a:srgbClr val="FFFFFF"/>
                </a:solidFill>
              </a:rPr>
              <a:t>Build a stronger commercial narrative</a:t>
            </a:r>
            <a:endParaRPr lang="en-US" sz="1700" dirty="0"/>
          </a:p>
        </p:txBody>
      </p:sp>
      <p:sp>
        <p:nvSpPr>
          <p:cNvPr id="17" name="Text 15"/>
          <p:cNvSpPr/>
          <p:nvPr/>
        </p:nvSpPr>
        <p:spPr>
          <a:xfrm>
            <a:off x="4709160" y="4270248"/>
            <a:ext cx="2852928" cy="658368"/>
          </a:xfrm>
          <a:prstGeom prst="rect">
            <a:avLst/>
          </a:prstGeom>
          <a:noFill/>
          <a:ln/>
        </p:spPr>
        <p:txBody>
          <a:bodyPr wrap="square" lIns="254" tIns="254" rIns="254" bIns="254" rtlCol="0" anchor="ctr">
            <a:normAutofit/>
          </a:bodyPr>
          <a:lstStyle/>
          <a:p>
            <a:pPr algn="l" indent="0" marL="0">
              <a:buNone/>
            </a:pPr>
            <a:r>
              <a:rPr lang="en-US" sz="950" dirty="0">
                <a:solidFill>
                  <a:srgbClr val="A9BAC9"/>
                </a:solidFill>
              </a:rPr>
              <a:t>Show momentum, audience quality, and commercial upside with evidence.</a:t>
            </a:r>
            <a:endParaRPr lang="en-US" sz="950" dirty="0"/>
          </a:p>
        </p:txBody>
      </p:sp>
      <p:sp>
        <p:nvSpPr>
          <p:cNvPr id="18" name="Shape 16"/>
          <p:cNvSpPr/>
          <p:nvPr/>
        </p:nvSpPr>
        <p:spPr>
          <a:xfrm>
            <a:off x="8238744" y="1965960"/>
            <a:ext cx="3401568" cy="3337560"/>
          </a:xfrm>
          <a:prstGeom prst="roundRect">
            <a:avLst>
              <a:gd name="adj" fmla="val 2192"/>
            </a:avLst>
          </a:prstGeom>
          <a:solidFill>
            <a:srgbClr val="081D31"/>
          </a:solidFill>
          <a:ln w="11430">
            <a:solidFill>
              <a:srgbClr val="193B57"/>
            </a:solidFill>
            <a:prstDash val="solid"/>
          </a:ln>
        </p:spPr>
      </p:sp>
      <p:sp>
        <p:nvSpPr>
          <p:cNvPr id="19" name="Text 17"/>
          <p:cNvSpPr/>
          <p:nvPr/>
        </p:nvSpPr>
        <p:spPr>
          <a:xfrm>
            <a:off x="8485632" y="2240280"/>
            <a:ext cx="685800" cy="502920"/>
          </a:xfrm>
          <a:prstGeom prst="rect">
            <a:avLst/>
          </a:prstGeom>
          <a:noFill/>
          <a:ln/>
        </p:spPr>
        <p:txBody>
          <a:bodyPr wrap="square" lIns="254" tIns="254" rIns="254" bIns="254" rtlCol="0" anchor="ctr">
            <a:normAutofit/>
          </a:bodyPr>
          <a:lstStyle/>
          <a:p>
            <a:pPr algn="l" indent="0" marL="0">
              <a:buNone/>
            </a:pPr>
            <a:r>
              <a:rPr lang="en-US" sz="2500" b="1" dirty="0">
                <a:solidFill>
                  <a:srgbClr val="F4C95D"/>
                </a:solidFill>
              </a:rPr>
              <a:t>03</a:t>
            </a:r>
            <a:endParaRPr lang="en-US" sz="2500" dirty="0"/>
          </a:p>
        </p:txBody>
      </p:sp>
      <p:sp>
        <p:nvSpPr>
          <p:cNvPr id="20" name="Text 18"/>
          <p:cNvSpPr/>
          <p:nvPr/>
        </p:nvSpPr>
        <p:spPr>
          <a:xfrm>
            <a:off x="8485632" y="2852928"/>
            <a:ext cx="2834640" cy="310896"/>
          </a:xfrm>
          <a:prstGeom prst="rect">
            <a:avLst/>
          </a:prstGeom>
          <a:noFill/>
          <a:ln/>
        </p:spPr>
        <p:txBody>
          <a:bodyPr wrap="square" lIns="254" tIns="254" rIns="254" bIns="254" rtlCol="0" anchor="ctr">
            <a:normAutofit/>
          </a:bodyPr>
          <a:lstStyle/>
          <a:p>
            <a:pPr algn="l" indent="0" marL="0">
              <a:buNone/>
            </a:pPr>
            <a:r>
              <a:rPr lang="en-US" sz="900" b="1" dirty="0">
                <a:solidFill>
                  <a:srgbClr val="F4C95D"/>
                </a:solidFill>
              </a:rPr>
              <a:t>SPONSORS</a:t>
            </a:r>
            <a:endParaRPr lang="en-US" sz="900" dirty="0"/>
          </a:p>
        </p:txBody>
      </p:sp>
      <p:sp>
        <p:nvSpPr>
          <p:cNvPr id="21" name="Text 19"/>
          <p:cNvSpPr/>
          <p:nvPr/>
        </p:nvSpPr>
        <p:spPr>
          <a:xfrm>
            <a:off x="8485632" y="3310128"/>
            <a:ext cx="2852928" cy="676656"/>
          </a:xfrm>
          <a:prstGeom prst="rect">
            <a:avLst/>
          </a:prstGeom>
          <a:noFill/>
          <a:ln/>
        </p:spPr>
        <p:txBody>
          <a:bodyPr wrap="square" lIns="254" tIns="254" rIns="254" bIns="254" rtlCol="0" anchor="ctr">
            <a:normAutofit/>
          </a:bodyPr>
          <a:lstStyle/>
          <a:p>
            <a:pPr algn="l" indent="0" marL="0">
              <a:buNone/>
            </a:pPr>
            <a:r>
              <a:rPr lang="en-US" sz="1700" b="1" dirty="0">
                <a:solidFill>
                  <a:srgbClr val="FFFFFF"/>
                </a:solidFill>
              </a:rPr>
              <a:t>Discover rising talent earlier</a:t>
            </a:r>
            <a:endParaRPr lang="en-US" sz="1700" dirty="0"/>
          </a:p>
        </p:txBody>
      </p:sp>
      <p:sp>
        <p:nvSpPr>
          <p:cNvPr id="22" name="Text 20"/>
          <p:cNvSpPr/>
          <p:nvPr/>
        </p:nvSpPr>
        <p:spPr>
          <a:xfrm>
            <a:off x="8485632" y="4270248"/>
            <a:ext cx="2852928" cy="658368"/>
          </a:xfrm>
          <a:prstGeom prst="rect">
            <a:avLst/>
          </a:prstGeom>
          <a:noFill/>
          <a:ln/>
        </p:spPr>
        <p:txBody>
          <a:bodyPr wrap="square" lIns="254" tIns="254" rIns="254" bIns="254" rtlCol="0" anchor="ctr">
            <a:normAutofit/>
          </a:bodyPr>
          <a:lstStyle/>
          <a:p>
            <a:pPr algn="l" indent="0" marL="0">
              <a:buNone/>
            </a:pPr>
            <a:r>
              <a:rPr lang="en-US" sz="950" dirty="0">
                <a:solidFill>
                  <a:srgbClr val="A9BAC9"/>
                </a:solidFill>
              </a:rPr>
              <a:t>Prioritize fast-growing players before endorsement pricing fully adjusts.</a:t>
            </a:r>
            <a:endParaRPr lang="en-US" sz="950" dirty="0"/>
          </a:p>
        </p:txBody>
      </p:sp>
      <p:sp>
        <p:nvSpPr>
          <p:cNvPr id="23" name="Text 21"/>
          <p:cNvSpPr/>
          <p:nvPr/>
        </p:nvSpPr>
        <p:spPr>
          <a:xfrm>
            <a:off x="704088" y="5715000"/>
            <a:ext cx="10789920" cy="347472"/>
          </a:xfrm>
          <a:prstGeom prst="rect">
            <a:avLst/>
          </a:prstGeom>
          <a:noFill/>
          <a:ln/>
        </p:spPr>
        <p:txBody>
          <a:bodyPr wrap="square" lIns="254" tIns="254" rIns="254" bIns="254" rtlCol="0" anchor="ctr">
            <a:normAutofit/>
          </a:bodyPr>
          <a:lstStyle/>
          <a:p>
            <a:pPr algn="l" indent="0" marL="0">
              <a:buNone/>
            </a:pPr>
            <a:r>
              <a:rPr lang="en-US" sz="1300" b="1" dirty="0">
                <a:solidFill>
                  <a:srgbClr val="FFFFFF"/>
                </a:solidFill>
              </a:rPr>
              <a:t>A strong model does not end with “Player X = 84.” It ends with a next action.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INPUTS</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Six pillars. Every one has a reason to exist.</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Public sources keep the framework reproducible; percentiles put different units on the same scale.</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04</a:t>
            </a:r>
            <a:endParaRPr lang="en-US" sz="580" dirty="0"/>
          </a:p>
        </p:txBody>
      </p:sp>
      <p:sp>
        <p:nvSpPr>
          <p:cNvPr id="8" name="Text 6"/>
          <p:cNvSpPr/>
          <p:nvPr/>
        </p:nvSpPr>
        <p:spPr>
          <a:xfrm>
            <a:off x="2148840" y="6492240"/>
            <a:ext cx="9418320" cy="164592"/>
          </a:xfrm>
          <a:prstGeom prst="rect">
            <a:avLst/>
          </a:prstGeom>
          <a:noFill/>
          <a:ln/>
        </p:spPr>
        <p:txBody>
          <a:bodyPr wrap="square" lIns="0" tIns="0" rIns="0" bIns="0" rtlCol="0" anchor="ctr">
            <a:normAutofit/>
          </a:bodyPr>
          <a:lstStyle/>
          <a:p>
            <a:pPr algn="r" indent="0" marL="0">
              <a:buNone/>
            </a:pPr>
            <a:r>
              <a:rPr lang="en-US" sz="520" dirty="0">
                <a:solidFill>
                  <a:srgbClr val="63798B"/>
                </a:solidFill>
              </a:rPr>
              <a:t>Examples: NBA.com stats, social platforms, Google Trends / Wikipedia, public sponsorship announcements</a:t>
            </a:r>
            <a:endParaRPr lang="en-US" sz="520" dirty="0"/>
          </a:p>
        </p:txBody>
      </p:sp>
      <p:sp>
        <p:nvSpPr>
          <p:cNvPr id="9" name="Shape 7"/>
          <p:cNvSpPr/>
          <p:nvPr/>
        </p:nvSpPr>
        <p:spPr>
          <a:xfrm>
            <a:off x="658368" y="1828800"/>
            <a:ext cx="3429000" cy="1481328"/>
          </a:xfrm>
          <a:prstGeom prst="roundRect">
            <a:avLst>
              <a:gd name="adj" fmla="val 4938"/>
            </a:avLst>
          </a:prstGeom>
          <a:solidFill>
            <a:srgbClr val="081D31"/>
          </a:solidFill>
          <a:ln w="11430">
            <a:solidFill>
              <a:srgbClr val="193B57"/>
            </a:solidFill>
            <a:prstDash val="solid"/>
          </a:ln>
        </p:spPr>
      </p:sp>
      <p:sp>
        <p:nvSpPr>
          <p:cNvPr id="10" name="Text 8"/>
          <p:cNvSpPr/>
          <p:nvPr/>
        </p:nvSpPr>
        <p:spPr>
          <a:xfrm>
            <a:off x="3172968" y="2029968"/>
            <a:ext cx="594360" cy="292608"/>
          </a:xfrm>
          <a:prstGeom prst="rect">
            <a:avLst/>
          </a:prstGeom>
          <a:noFill/>
          <a:ln/>
        </p:spPr>
        <p:txBody>
          <a:bodyPr wrap="square" lIns="254" tIns="254" rIns="254" bIns="254" rtlCol="0" anchor="ctr">
            <a:normAutofit/>
          </a:bodyPr>
          <a:lstStyle/>
          <a:p>
            <a:pPr algn="r" indent="0" marL="0">
              <a:buNone/>
            </a:pPr>
            <a:r>
              <a:rPr lang="en-US" sz="1800" b="1" dirty="0">
                <a:solidFill>
                  <a:srgbClr val="00A3FF"/>
                </a:solidFill>
              </a:rPr>
              <a:t>25%</a:t>
            </a:r>
            <a:endParaRPr lang="en-US" sz="1800" dirty="0"/>
          </a:p>
        </p:txBody>
      </p:sp>
      <p:sp>
        <p:nvSpPr>
          <p:cNvPr id="11" name="Text 9"/>
          <p:cNvSpPr/>
          <p:nvPr/>
        </p:nvSpPr>
        <p:spPr>
          <a:xfrm>
            <a:off x="914400" y="2048256"/>
            <a:ext cx="2057400" cy="256032"/>
          </a:xfrm>
          <a:prstGeom prst="rect">
            <a:avLst/>
          </a:prstGeom>
          <a:noFill/>
          <a:ln/>
        </p:spPr>
        <p:txBody>
          <a:bodyPr wrap="square" lIns="254" tIns="254" rIns="254" bIns="254" rtlCol="0" anchor="ctr">
            <a:normAutofit/>
          </a:bodyPr>
          <a:lstStyle/>
          <a:p>
            <a:pPr algn="l" indent="0" marL="0">
              <a:buNone/>
            </a:pPr>
            <a:r>
              <a:rPr lang="en-US" sz="900" b="1" dirty="0">
                <a:solidFill>
                  <a:srgbClr val="00A3FF"/>
                </a:solidFill>
              </a:rPr>
              <a:t>PERFORMANCE</a:t>
            </a:r>
            <a:endParaRPr lang="en-US" sz="900" dirty="0"/>
          </a:p>
        </p:txBody>
      </p:sp>
      <p:sp>
        <p:nvSpPr>
          <p:cNvPr id="12" name="Text 10"/>
          <p:cNvSpPr/>
          <p:nvPr/>
        </p:nvSpPr>
        <p:spPr>
          <a:xfrm>
            <a:off x="914400" y="2542032"/>
            <a:ext cx="2816352" cy="493776"/>
          </a:xfrm>
          <a:prstGeom prst="rect">
            <a:avLst/>
          </a:prstGeom>
          <a:noFill/>
          <a:ln/>
        </p:spPr>
        <p:txBody>
          <a:bodyPr wrap="square" lIns="254" tIns="254" rIns="254" bIns="254" rtlCol="0" anchor="ctr">
            <a:normAutofit/>
          </a:bodyPr>
          <a:lstStyle/>
          <a:p>
            <a:pPr algn="l" indent="0" marL="0">
              <a:buNone/>
            </a:pPr>
            <a:r>
              <a:rPr lang="en-US" sz="930" dirty="0">
                <a:solidFill>
                  <a:srgbClr val="A9BAC9"/>
                </a:solidFill>
              </a:rPr>
              <a:t>NBA stats, minutes, awards, playoff exposure</a:t>
            </a:r>
            <a:endParaRPr lang="en-US" sz="930" dirty="0"/>
          </a:p>
        </p:txBody>
      </p:sp>
      <p:sp>
        <p:nvSpPr>
          <p:cNvPr id="13" name="Shape 11"/>
          <p:cNvSpPr/>
          <p:nvPr/>
        </p:nvSpPr>
        <p:spPr>
          <a:xfrm>
            <a:off x="4462272" y="1828800"/>
            <a:ext cx="3429000" cy="1481328"/>
          </a:xfrm>
          <a:prstGeom prst="roundRect">
            <a:avLst>
              <a:gd name="adj" fmla="val 4938"/>
            </a:avLst>
          </a:prstGeom>
          <a:solidFill>
            <a:srgbClr val="081D31"/>
          </a:solidFill>
          <a:ln w="11430">
            <a:solidFill>
              <a:srgbClr val="193B57"/>
            </a:solidFill>
            <a:prstDash val="solid"/>
          </a:ln>
        </p:spPr>
      </p:sp>
      <p:sp>
        <p:nvSpPr>
          <p:cNvPr id="14" name="Text 12"/>
          <p:cNvSpPr/>
          <p:nvPr/>
        </p:nvSpPr>
        <p:spPr>
          <a:xfrm>
            <a:off x="6976872" y="2029968"/>
            <a:ext cx="594360" cy="292608"/>
          </a:xfrm>
          <a:prstGeom prst="rect">
            <a:avLst/>
          </a:prstGeom>
          <a:noFill/>
          <a:ln/>
        </p:spPr>
        <p:txBody>
          <a:bodyPr wrap="square" lIns="254" tIns="254" rIns="254" bIns="254" rtlCol="0" anchor="ctr">
            <a:normAutofit/>
          </a:bodyPr>
          <a:lstStyle/>
          <a:p>
            <a:pPr algn="r" indent="0" marL="0">
              <a:buNone/>
            </a:pPr>
            <a:r>
              <a:rPr lang="en-US" sz="1800" b="1" dirty="0">
                <a:solidFill>
                  <a:srgbClr val="40D9FF"/>
                </a:solidFill>
              </a:rPr>
              <a:t>20%</a:t>
            </a:r>
            <a:endParaRPr lang="en-US" sz="1800" dirty="0"/>
          </a:p>
        </p:txBody>
      </p:sp>
      <p:sp>
        <p:nvSpPr>
          <p:cNvPr id="15" name="Text 13"/>
          <p:cNvSpPr/>
          <p:nvPr/>
        </p:nvSpPr>
        <p:spPr>
          <a:xfrm>
            <a:off x="4718304" y="2048256"/>
            <a:ext cx="2057400" cy="256032"/>
          </a:xfrm>
          <a:prstGeom prst="rect">
            <a:avLst/>
          </a:prstGeom>
          <a:noFill/>
          <a:ln/>
        </p:spPr>
        <p:txBody>
          <a:bodyPr wrap="square" lIns="254" tIns="254" rIns="254" bIns="254" rtlCol="0" anchor="ctr">
            <a:normAutofit/>
          </a:bodyPr>
          <a:lstStyle/>
          <a:p>
            <a:pPr algn="l" indent="0" marL="0">
              <a:buNone/>
            </a:pPr>
            <a:r>
              <a:rPr lang="en-US" sz="900" b="1" dirty="0">
                <a:solidFill>
                  <a:srgbClr val="40D9FF"/>
                </a:solidFill>
              </a:rPr>
              <a:t>REACH</a:t>
            </a:r>
            <a:endParaRPr lang="en-US" sz="900" dirty="0"/>
          </a:p>
        </p:txBody>
      </p:sp>
      <p:sp>
        <p:nvSpPr>
          <p:cNvPr id="16" name="Text 14"/>
          <p:cNvSpPr/>
          <p:nvPr/>
        </p:nvSpPr>
        <p:spPr>
          <a:xfrm>
            <a:off x="4718304" y="2542032"/>
            <a:ext cx="2816352" cy="493776"/>
          </a:xfrm>
          <a:prstGeom prst="rect">
            <a:avLst/>
          </a:prstGeom>
          <a:noFill/>
          <a:ln/>
        </p:spPr>
        <p:txBody>
          <a:bodyPr wrap="square" lIns="254" tIns="254" rIns="254" bIns="254" rtlCol="0" anchor="ctr">
            <a:normAutofit/>
          </a:bodyPr>
          <a:lstStyle/>
          <a:p>
            <a:pPr algn="l" indent="0" marL="0">
              <a:buNone/>
            </a:pPr>
            <a:r>
              <a:rPr lang="en-US" sz="930" dirty="0">
                <a:solidFill>
                  <a:srgbClr val="A9BAC9"/>
                </a:solidFill>
              </a:rPr>
              <a:t>Followers and audience size across major platforms</a:t>
            </a:r>
            <a:endParaRPr lang="en-US" sz="930" dirty="0"/>
          </a:p>
        </p:txBody>
      </p:sp>
      <p:sp>
        <p:nvSpPr>
          <p:cNvPr id="17" name="Shape 15"/>
          <p:cNvSpPr/>
          <p:nvPr/>
        </p:nvSpPr>
        <p:spPr>
          <a:xfrm>
            <a:off x="8266176" y="1828800"/>
            <a:ext cx="3429000" cy="1481328"/>
          </a:xfrm>
          <a:prstGeom prst="roundRect">
            <a:avLst>
              <a:gd name="adj" fmla="val 4938"/>
            </a:avLst>
          </a:prstGeom>
          <a:solidFill>
            <a:srgbClr val="081D31"/>
          </a:solidFill>
          <a:ln w="11430">
            <a:solidFill>
              <a:srgbClr val="193B57"/>
            </a:solidFill>
            <a:prstDash val="solid"/>
          </a:ln>
        </p:spPr>
      </p:sp>
      <p:sp>
        <p:nvSpPr>
          <p:cNvPr id="18" name="Text 16"/>
          <p:cNvSpPr/>
          <p:nvPr/>
        </p:nvSpPr>
        <p:spPr>
          <a:xfrm>
            <a:off x="10780776" y="2029968"/>
            <a:ext cx="594360" cy="292608"/>
          </a:xfrm>
          <a:prstGeom prst="rect">
            <a:avLst/>
          </a:prstGeom>
          <a:noFill/>
          <a:ln/>
        </p:spPr>
        <p:txBody>
          <a:bodyPr wrap="square" lIns="254" tIns="254" rIns="254" bIns="254" rtlCol="0" anchor="ctr">
            <a:normAutofit/>
          </a:bodyPr>
          <a:lstStyle/>
          <a:p>
            <a:pPr algn="r" indent="0" marL="0">
              <a:buNone/>
            </a:pPr>
            <a:r>
              <a:rPr lang="en-US" sz="1800" b="1" dirty="0">
                <a:solidFill>
                  <a:srgbClr val="35D0BA"/>
                </a:solidFill>
              </a:rPr>
              <a:t>20%</a:t>
            </a:r>
            <a:endParaRPr lang="en-US" sz="1800" dirty="0"/>
          </a:p>
        </p:txBody>
      </p:sp>
      <p:sp>
        <p:nvSpPr>
          <p:cNvPr id="19" name="Text 17"/>
          <p:cNvSpPr/>
          <p:nvPr/>
        </p:nvSpPr>
        <p:spPr>
          <a:xfrm>
            <a:off x="8522208" y="2048256"/>
            <a:ext cx="2057400" cy="256032"/>
          </a:xfrm>
          <a:prstGeom prst="rect">
            <a:avLst/>
          </a:prstGeom>
          <a:noFill/>
          <a:ln/>
        </p:spPr>
        <p:txBody>
          <a:bodyPr wrap="square" lIns="254" tIns="254" rIns="254" bIns="254" rtlCol="0" anchor="ctr">
            <a:normAutofit/>
          </a:bodyPr>
          <a:lstStyle/>
          <a:p>
            <a:pPr algn="l" indent="0" marL="0">
              <a:buNone/>
            </a:pPr>
            <a:r>
              <a:rPr lang="en-US" sz="900" b="1" dirty="0">
                <a:solidFill>
                  <a:srgbClr val="35D0BA"/>
                </a:solidFill>
              </a:rPr>
              <a:t>ATTENTION</a:t>
            </a:r>
            <a:endParaRPr lang="en-US" sz="900" dirty="0"/>
          </a:p>
        </p:txBody>
      </p:sp>
      <p:sp>
        <p:nvSpPr>
          <p:cNvPr id="20" name="Text 18"/>
          <p:cNvSpPr/>
          <p:nvPr/>
        </p:nvSpPr>
        <p:spPr>
          <a:xfrm>
            <a:off x="8522208" y="2542032"/>
            <a:ext cx="2816352" cy="493776"/>
          </a:xfrm>
          <a:prstGeom prst="rect">
            <a:avLst/>
          </a:prstGeom>
          <a:noFill/>
          <a:ln/>
        </p:spPr>
        <p:txBody>
          <a:bodyPr wrap="square" lIns="254" tIns="254" rIns="254" bIns="254" rtlCol="0" anchor="ctr">
            <a:normAutofit/>
          </a:bodyPr>
          <a:lstStyle/>
          <a:p>
            <a:pPr algn="l" indent="0" marL="0">
              <a:buNone/>
            </a:pPr>
            <a:r>
              <a:rPr lang="en-US" sz="930" dirty="0">
                <a:solidFill>
                  <a:srgbClr val="A9BAC9"/>
                </a:solidFill>
              </a:rPr>
              <a:t>Search, pageviews, NBA digital views, media demand</a:t>
            </a:r>
            <a:endParaRPr lang="en-US" sz="930" dirty="0"/>
          </a:p>
        </p:txBody>
      </p:sp>
      <p:sp>
        <p:nvSpPr>
          <p:cNvPr id="21" name="Shape 19"/>
          <p:cNvSpPr/>
          <p:nvPr/>
        </p:nvSpPr>
        <p:spPr>
          <a:xfrm>
            <a:off x="658368" y="3657600"/>
            <a:ext cx="3429000" cy="1481328"/>
          </a:xfrm>
          <a:prstGeom prst="roundRect">
            <a:avLst>
              <a:gd name="adj" fmla="val 4938"/>
            </a:avLst>
          </a:prstGeom>
          <a:solidFill>
            <a:srgbClr val="081D31"/>
          </a:solidFill>
          <a:ln w="11430">
            <a:solidFill>
              <a:srgbClr val="193B57"/>
            </a:solidFill>
            <a:prstDash val="solid"/>
          </a:ln>
        </p:spPr>
      </p:sp>
      <p:sp>
        <p:nvSpPr>
          <p:cNvPr id="22" name="Text 20"/>
          <p:cNvSpPr/>
          <p:nvPr/>
        </p:nvSpPr>
        <p:spPr>
          <a:xfrm>
            <a:off x="3172968" y="3858768"/>
            <a:ext cx="594360" cy="292608"/>
          </a:xfrm>
          <a:prstGeom prst="rect">
            <a:avLst/>
          </a:prstGeom>
          <a:noFill/>
          <a:ln/>
        </p:spPr>
        <p:txBody>
          <a:bodyPr wrap="square" lIns="254" tIns="254" rIns="254" bIns="254" rtlCol="0" anchor="ctr">
            <a:normAutofit/>
          </a:bodyPr>
          <a:lstStyle/>
          <a:p>
            <a:pPr algn="r" indent="0" marL="0">
              <a:buNone/>
            </a:pPr>
            <a:r>
              <a:rPr lang="en-US" sz="1800" b="1" dirty="0">
                <a:solidFill>
                  <a:srgbClr val="F4C95D"/>
                </a:solidFill>
              </a:rPr>
              <a:t>15%</a:t>
            </a:r>
            <a:endParaRPr lang="en-US" sz="1800" dirty="0"/>
          </a:p>
        </p:txBody>
      </p:sp>
      <p:sp>
        <p:nvSpPr>
          <p:cNvPr id="23" name="Text 21"/>
          <p:cNvSpPr/>
          <p:nvPr/>
        </p:nvSpPr>
        <p:spPr>
          <a:xfrm>
            <a:off x="914400" y="3877056"/>
            <a:ext cx="2057400" cy="256032"/>
          </a:xfrm>
          <a:prstGeom prst="rect">
            <a:avLst/>
          </a:prstGeom>
          <a:noFill/>
          <a:ln/>
        </p:spPr>
        <p:txBody>
          <a:bodyPr wrap="square" lIns="254" tIns="254" rIns="254" bIns="254" rtlCol="0" anchor="ctr">
            <a:normAutofit/>
          </a:bodyPr>
          <a:lstStyle/>
          <a:p>
            <a:pPr algn="l" indent="0" marL="0">
              <a:buNone/>
            </a:pPr>
            <a:r>
              <a:rPr lang="en-US" sz="900" b="1" dirty="0">
                <a:solidFill>
                  <a:srgbClr val="F4C95D"/>
                </a:solidFill>
              </a:rPr>
              <a:t>ENGAGEMENT</a:t>
            </a:r>
            <a:endParaRPr lang="en-US" sz="900" dirty="0"/>
          </a:p>
        </p:txBody>
      </p:sp>
      <p:sp>
        <p:nvSpPr>
          <p:cNvPr id="24" name="Text 22"/>
          <p:cNvSpPr/>
          <p:nvPr/>
        </p:nvSpPr>
        <p:spPr>
          <a:xfrm>
            <a:off x="914400" y="4370832"/>
            <a:ext cx="2816352" cy="493776"/>
          </a:xfrm>
          <a:prstGeom prst="rect">
            <a:avLst/>
          </a:prstGeom>
          <a:noFill/>
          <a:ln/>
        </p:spPr>
        <p:txBody>
          <a:bodyPr wrap="square" lIns="254" tIns="254" rIns="254" bIns="254" rtlCol="0" anchor="ctr">
            <a:normAutofit/>
          </a:bodyPr>
          <a:lstStyle/>
          <a:p>
            <a:pPr algn="l" indent="0" marL="0">
              <a:buNone/>
            </a:pPr>
            <a:r>
              <a:rPr lang="en-US" sz="930" dirty="0">
                <a:solidFill>
                  <a:srgbClr val="A9BAC9"/>
                </a:solidFill>
              </a:rPr>
              <a:t>Likes, comments, shares, engagement rate</a:t>
            </a:r>
            <a:endParaRPr lang="en-US" sz="930" dirty="0"/>
          </a:p>
        </p:txBody>
      </p:sp>
      <p:sp>
        <p:nvSpPr>
          <p:cNvPr id="25" name="Shape 23"/>
          <p:cNvSpPr/>
          <p:nvPr/>
        </p:nvSpPr>
        <p:spPr>
          <a:xfrm>
            <a:off x="4462272" y="3657600"/>
            <a:ext cx="3429000" cy="1481328"/>
          </a:xfrm>
          <a:prstGeom prst="roundRect">
            <a:avLst>
              <a:gd name="adj" fmla="val 4938"/>
            </a:avLst>
          </a:prstGeom>
          <a:solidFill>
            <a:srgbClr val="081D31"/>
          </a:solidFill>
          <a:ln w="11430">
            <a:solidFill>
              <a:srgbClr val="193B57"/>
            </a:solidFill>
            <a:prstDash val="solid"/>
          </a:ln>
        </p:spPr>
      </p:sp>
      <p:sp>
        <p:nvSpPr>
          <p:cNvPr id="26" name="Text 24"/>
          <p:cNvSpPr/>
          <p:nvPr/>
        </p:nvSpPr>
        <p:spPr>
          <a:xfrm>
            <a:off x="6976872" y="3858768"/>
            <a:ext cx="594360" cy="292608"/>
          </a:xfrm>
          <a:prstGeom prst="rect">
            <a:avLst/>
          </a:prstGeom>
          <a:noFill/>
          <a:ln/>
        </p:spPr>
        <p:txBody>
          <a:bodyPr wrap="square" lIns="254" tIns="254" rIns="254" bIns="254" rtlCol="0" anchor="ctr">
            <a:normAutofit/>
          </a:bodyPr>
          <a:lstStyle/>
          <a:p>
            <a:pPr algn="r" indent="0" marL="0">
              <a:buNone/>
            </a:pPr>
            <a:r>
              <a:rPr lang="en-US" sz="1800" b="1" dirty="0">
                <a:solidFill>
                  <a:srgbClr val="2477FF"/>
                </a:solidFill>
              </a:rPr>
              <a:t>10%</a:t>
            </a:r>
            <a:endParaRPr lang="en-US" sz="1800" dirty="0"/>
          </a:p>
        </p:txBody>
      </p:sp>
      <p:sp>
        <p:nvSpPr>
          <p:cNvPr id="27" name="Text 25"/>
          <p:cNvSpPr/>
          <p:nvPr/>
        </p:nvSpPr>
        <p:spPr>
          <a:xfrm>
            <a:off x="4718304" y="3877056"/>
            <a:ext cx="2057400" cy="256032"/>
          </a:xfrm>
          <a:prstGeom prst="rect">
            <a:avLst/>
          </a:prstGeom>
          <a:noFill/>
          <a:ln/>
        </p:spPr>
        <p:txBody>
          <a:bodyPr wrap="square" lIns="254" tIns="254" rIns="254" bIns="254" rtlCol="0" anchor="ctr">
            <a:normAutofit/>
          </a:bodyPr>
          <a:lstStyle/>
          <a:p>
            <a:pPr algn="l" indent="0" marL="0">
              <a:buNone/>
            </a:pPr>
            <a:r>
              <a:rPr lang="en-US" sz="900" b="1" dirty="0">
                <a:solidFill>
                  <a:srgbClr val="2477FF"/>
                </a:solidFill>
              </a:rPr>
              <a:t>MOMENTUM</a:t>
            </a:r>
            <a:endParaRPr lang="en-US" sz="900" dirty="0"/>
          </a:p>
        </p:txBody>
      </p:sp>
      <p:sp>
        <p:nvSpPr>
          <p:cNvPr id="28" name="Text 26"/>
          <p:cNvSpPr/>
          <p:nvPr/>
        </p:nvSpPr>
        <p:spPr>
          <a:xfrm>
            <a:off x="4718304" y="4370832"/>
            <a:ext cx="2816352" cy="493776"/>
          </a:xfrm>
          <a:prstGeom prst="rect">
            <a:avLst/>
          </a:prstGeom>
          <a:noFill/>
          <a:ln/>
        </p:spPr>
        <p:txBody>
          <a:bodyPr wrap="square" lIns="254" tIns="254" rIns="254" bIns="254" rtlCol="0" anchor="ctr">
            <a:normAutofit/>
          </a:bodyPr>
          <a:lstStyle/>
          <a:p>
            <a:pPr algn="l" indent="0" marL="0">
              <a:buNone/>
            </a:pPr>
            <a:r>
              <a:rPr lang="en-US" sz="930" dirty="0">
                <a:solidFill>
                  <a:srgbClr val="A9BAC9"/>
                </a:solidFill>
              </a:rPr>
              <a:t>Growth in attention, followers, and role</a:t>
            </a:r>
            <a:endParaRPr lang="en-US" sz="930" dirty="0"/>
          </a:p>
        </p:txBody>
      </p:sp>
      <p:sp>
        <p:nvSpPr>
          <p:cNvPr id="29" name="Shape 27"/>
          <p:cNvSpPr/>
          <p:nvPr/>
        </p:nvSpPr>
        <p:spPr>
          <a:xfrm>
            <a:off x="8266176" y="3657600"/>
            <a:ext cx="3429000" cy="1481328"/>
          </a:xfrm>
          <a:prstGeom prst="roundRect">
            <a:avLst>
              <a:gd name="adj" fmla="val 4938"/>
            </a:avLst>
          </a:prstGeom>
          <a:solidFill>
            <a:srgbClr val="081D31"/>
          </a:solidFill>
          <a:ln w="11430">
            <a:solidFill>
              <a:srgbClr val="193B57"/>
            </a:solidFill>
            <a:prstDash val="solid"/>
          </a:ln>
        </p:spPr>
      </p:sp>
      <p:sp>
        <p:nvSpPr>
          <p:cNvPr id="30" name="Text 28"/>
          <p:cNvSpPr/>
          <p:nvPr/>
        </p:nvSpPr>
        <p:spPr>
          <a:xfrm>
            <a:off x="10780776" y="3858768"/>
            <a:ext cx="594360" cy="292608"/>
          </a:xfrm>
          <a:prstGeom prst="rect">
            <a:avLst/>
          </a:prstGeom>
          <a:noFill/>
          <a:ln/>
        </p:spPr>
        <p:txBody>
          <a:bodyPr wrap="square" lIns="254" tIns="254" rIns="254" bIns="254" rtlCol="0" anchor="ctr">
            <a:normAutofit/>
          </a:bodyPr>
          <a:lstStyle/>
          <a:p>
            <a:pPr algn="r" indent="0" marL="0">
              <a:buNone/>
            </a:pPr>
            <a:r>
              <a:rPr lang="en-US" sz="1800" b="1" dirty="0">
                <a:solidFill>
                  <a:srgbClr val="9B8CFF"/>
                </a:solidFill>
              </a:rPr>
              <a:t>10%</a:t>
            </a:r>
            <a:endParaRPr lang="en-US" sz="1800" dirty="0"/>
          </a:p>
        </p:txBody>
      </p:sp>
      <p:sp>
        <p:nvSpPr>
          <p:cNvPr id="31" name="Text 29"/>
          <p:cNvSpPr/>
          <p:nvPr/>
        </p:nvSpPr>
        <p:spPr>
          <a:xfrm>
            <a:off x="8522208" y="3877056"/>
            <a:ext cx="2057400" cy="256032"/>
          </a:xfrm>
          <a:prstGeom prst="rect">
            <a:avLst/>
          </a:prstGeom>
          <a:noFill/>
          <a:ln/>
        </p:spPr>
        <p:txBody>
          <a:bodyPr wrap="square" lIns="254" tIns="254" rIns="254" bIns="254" rtlCol="0" anchor="ctr">
            <a:normAutofit/>
          </a:bodyPr>
          <a:lstStyle/>
          <a:p>
            <a:pPr algn="l" indent="0" marL="0">
              <a:buNone/>
            </a:pPr>
            <a:r>
              <a:rPr lang="en-US" sz="900" b="1" dirty="0">
                <a:solidFill>
                  <a:srgbClr val="9B8CFF"/>
                </a:solidFill>
              </a:rPr>
              <a:t>BRAND</a:t>
            </a:r>
            <a:endParaRPr lang="en-US" sz="900" dirty="0"/>
          </a:p>
        </p:txBody>
      </p:sp>
      <p:sp>
        <p:nvSpPr>
          <p:cNvPr id="32" name="Text 30"/>
          <p:cNvSpPr/>
          <p:nvPr/>
        </p:nvSpPr>
        <p:spPr>
          <a:xfrm>
            <a:off x="8522208" y="4370832"/>
            <a:ext cx="2816352" cy="493776"/>
          </a:xfrm>
          <a:prstGeom prst="rect">
            <a:avLst/>
          </a:prstGeom>
          <a:noFill/>
          <a:ln/>
        </p:spPr>
        <p:txBody>
          <a:bodyPr wrap="square" lIns="254" tIns="254" rIns="254" bIns="254" rtlCol="0" anchor="ctr">
            <a:normAutofit/>
          </a:bodyPr>
          <a:lstStyle/>
          <a:p>
            <a:pPr algn="l" indent="0" marL="0">
              <a:buNone/>
            </a:pPr>
            <a:r>
              <a:rPr lang="en-US" sz="930" dirty="0">
                <a:solidFill>
                  <a:srgbClr val="A9BAC9"/>
                </a:solidFill>
              </a:rPr>
              <a:t>Partnership proof, story, fit, reputation signals</a:t>
            </a:r>
            <a:endParaRPr lang="en-US" sz="930" dirty="0"/>
          </a:p>
        </p:txBody>
      </p:sp>
      <p:sp>
        <p:nvSpPr>
          <p:cNvPr id="33" name="Text 31"/>
          <p:cNvSpPr/>
          <p:nvPr/>
        </p:nvSpPr>
        <p:spPr>
          <a:xfrm>
            <a:off x="713232" y="5724144"/>
            <a:ext cx="10698480" cy="347472"/>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Normalization: log-transform large counts → percentile rank 0–100 → weighted pillar score.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MODEL</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Simple enough to defend. Useful enough to act on.</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Transparent weights are a feature, not a weakness—because we can test how much the answer changes.</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05</a:t>
            </a:r>
            <a:endParaRPr lang="en-US" sz="580" dirty="0"/>
          </a:p>
        </p:txBody>
      </p:sp>
      <p:sp>
        <p:nvSpPr>
          <p:cNvPr id="8" name="Text 6"/>
          <p:cNvSpPr/>
          <p:nvPr/>
        </p:nvSpPr>
        <p:spPr>
          <a:xfrm>
            <a:off x="713232" y="1920240"/>
            <a:ext cx="283464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MARKETABILITY SCORE</a:t>
            </a:r>
            <a:endParaRPr lang="en-US" sz="800" dirty="0"/>
          </a:p>
        </p:txBody>
      </p:sp>
      <p:sp>
        <p:nvSpPr>
          <p:cNvPr id="9" name="Text 7"/>
          <p:cNvSpPr/>
          <p:nvPr/>
        </p:nvSpPr>
        <p:spPr>
          <a:xfrm>
            <a:off x="713232" y="2331720"/>
            <a:ext cx="2377440" cy="347472"/>
          </a:xfrm>
          <a:prstGeom prst="rect">
            <a:avLst/>
          </a:prstGeom>
          <a:noFill/>
          <a:ln/>
        </p:spPr>
        <p:txBody>
          <a:bodyPr wrap="square" lIns="254" tIns="254" rIns="254" bIns="254" rtlCol="0" anchor="ctr">
            <a:normAutofit/>
          </a:bodyPr>
          <a:lstStyle/>
          <a:p>
            <a:pPr algn="l" indent="0" marL="0">
              <a:buNone/>
            </a:pPr>
            <a:r>
              <a:rPr lang="en-US" sz="1800" b="1" dirty="0">
                <a:solidFill>
                  <a:srgbClr val="FFFFFF"/>
                </a:solidFill>
              </a:rPr>
              <a:t>WeightedScore =</a:t>
            </a:r>
            <a:endParaRPr lang="en-US" sz="1800" dirty="0"/>
          </a:p>
        </p:txBody>
      </p:sp>
      <p:sp>
        <p:nvSpPr>
          <p:cNvPr id="10" name="Shape 8"/>
          <p:cNvSpPr/>
          <p:nvPr/>
        </p:nvSpPr>
        <p:spPr>
          <a:xfrm>
            <a:off x="713232" y="2926080"/>
            <a:ext cx="1268730" cy="457200"/>
          </a:xfrm>
          <a:prstGeom prst="rect">
            <a:avLst/>
          </a:prstGeom>
          <a:solidFill>
            <a:srgbClr val="00A3FF"/>
          </a:solidFill>
          <a:ln w="12700">
            <a:solidFill>
              <a:srgbClr val="04111F">
                <a:alpha val="0"/>
              </a:srgbClr>
            </a:solidFill>
            <a:prstDash val="solid"/>
          </a:ln>
        </p:spPr>
      </p:sp>
      <p:sp>
        <p:nvSpPr>
          <p:cNvPr id="11" name="Shape 9"/>
          <p:cNvSpPr/>
          <p:nvPr/>
        </p:nvSpPr>
        <p:spPr>
          <a:xfrm>
            <a:off x="1981962" y="2926080"/>
            <a:ext cx="1014984" cy="457200"/>
          </a:xfrm>
          <a:prstGeom prst="rect">
            <a:avLst/>
          </a:prstGeom>
          <a:solidFill>
            <a:srgbClr val="40D9FF"/>
          </a:solidFill>
          <a:ln w="12700">
            <a:solidFill>
              <a:srgbClr val="04111F">
                <a:alpha val="0"/>
              </a:srgbClr>
            </a:solidFill>
            <a:prstDash val="solid"/>
          </a:ln>
        </p:spPr>
      </p:sp>
      <p:sp>
        <p:nvSpPr>
          <p:cNvPr id="12" name="Shape 10"/>
          <p:cNvSpPr/>
          <p:nvPr/>
        </p:nvSpPr>
        <p:spPr>
          <a:xfrm>
            <a:off x="2996946" y="2926080"/>
            <a:ext cx="1014984" cy="457200"/>
          </a:xfrm>
          <a:prstGeom prst="rect">
            <a:avLst/>
          </a:prstGeom>
          <a:solidFill>
            <a:srgbClr val="35D0BA"/>
          </a:solidFill>
          <a:ln w="12700">
            <a:solidFill>
              <a:srgbClr val="04111F">
                <a:alpha val="0"/>
              </a:srgbClr>
            </a:solidFill>
            <a:prstDash val="solid"/>
          </a:ln>
        </p:spPr>
      </p:sp>
      <p:sp>
        <p:nvSpPr>
          <p:cNvPr id="13" name="Shape 11"/>
          <p:cNvSpPr/>
          <p:nvPr/>
        </p:nvSpPr>
        <p:spPr>
          <a:xfrm>
            <a:off x="4011930" y="2926080"/>
            <a:ext cx="761238" cy="457200"/>
          </a:xfrm>
          <a:prstGeom prst="rect">
            <a:avLst/>
          </a:prstGeom>
          <a:solidFill>
            <a:srgbClr val="F4C95D"/>
          </a:solidFill>
          <a:ln w="12700">
            <a:solidFill>
              <a:srgbClr val="04111F">
                <a:alpha val="0"/>
              </a:srgbClr>
            </a:solidFill>
            <a:prstDash val="solid"/>
          </a:ln>
        </p:spPr>
      </p:sp>
      <p:sp>
        <p:nvSpPr>
          <p:cNvPr id="14" name="Shape 12"/>
          <p:cNvSpPr/>
          <p:nvPr/>
        </p:nvSpPr>
        <p:spPr>
          <a:xfrm>
            <a:off x="4773168" y="2926080"/>
            <a:ext cx="507492" cy="457200"/>
          </a:xfrm>
          <a:prstGeom prst="rect">
            <a:avLst/>
          </a:prstGeom>
          <a:solidFill>
            <a:srgbClr val="2477FF"/>
          </a:solidFill>
          <a:ln w="12700">
            <a:solidFill>
              <a:srgbClr val="04111F">
                <a:alpha val="0"/>
              </a:srgbClr>
            </a:solidFill>
            <a:prstDash val="solid"/>
          </a:ln>
        </p:spPr>
      </p:sp>
      <p:sp>
        <p:nvSpPr>
          <p:cNvPr id="15" name="Shape 13"/>
          <p:cNvSpPr/>
          <p:nvPr/>
        </p:nvSpPr>
        <p:spPr>
          <a:xfrm>
            <a:off x="5280660" y="2926080"/>
            <a:ext cx="507492" cy="457200"/>
          </a:xfrm>
          <a:prstGeom prst="rect">
            <a:avLst/>
          </a:prstGeom>
          <a:solidFill>
            <a:srgbClr val="9B8CFF"/>
          </a:solidFill>
          <a:ln w="12700">
            <a:solidFill>
              <a:srgbClr val="04111F">
                <a:alpha val="0"/>
              </a:srgbClr>
            </a:solidFill>
            <a:prstDash val="solid"/>
          </a:ln>
        </p:spPr>
      </p:sp>
      <p:sp>
        <p:nvSpPr>
          <p:cNvPr id="16" name="Shape 14"/>
          <p:cNvSpPr/>
          <p:nvPr/>
        </p:nvSpPr>
        <p:spPr>
          <a:xfrm>
            <a:off x="722376" y="3721608"/>
            <a:ext cx="128016" cy="128016"/>
          </a:xfrm>
          <a:prstGeom prst="ellipse">
            <a:avLst/>
          </a:prstGeom>
          <a:solidFill>
            <a:srgbClr val="00A3FF"/>
          </a:solidFill>
          <a:ln w="12700">
            <a:solidFill>
              <a:srgbClr val="00A3FF">
                <a:alpha val="0"/>
              </a:srgbClr>
            </a:solidFill>
            <a:prstDash val="solid"/>
          </a:ln>
        </p:spPr>
      </p:sp>
      <p:sp>
        <p:nvSpPr>
          <p:cNvPr id="17" name="Text 15"/>
          <p:cNvSpPr/>
          <p:nvPr/>
        </p:nvSpPr>
        <p:spPr>
          <a:xfrm>
            <a:off x="914400" y="3675888"/>
            <a:ext cx="2240280" cy="228600"/>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25% Performance</a:t>
            </a:r>
            <a:endParaRPr lang="en-US" sz="850" dirty="0"/>
          </a:p>
        </p:txBody>
      </p:sp>
      <p:sp>
        <p:nvSpPr>
          <p:cNvPr id="18" name="Shape 16"/>
          <p:cNvSpPr/>
          <p:nvPr/>
        </p:nvSpPr>
        <p:spPr>
          <a:xfrm>
            <a:off x="722376" y="4224528"/>
            <a:ext cx="128016" cy="128016"/>
          </a:xfrm>
          <a:prstGeom prst="ellipse">
            <a:avLst/>
          </a:prstGeom>
          <a:solidFill>
            <a:srgbClr val="40D9FF"/>
          </a:solidFill>
          <a:ln w="12700">
            <a:solidFill>
              <a:srgbClr val="40D9FF">
                <a:alpha val="0"/>
              </a:srgbClr>
            </a:solidFill>
            <a:prstDash val="solid"/>
          </a:ln>
        </p:spPr>
      </p:sp>
      <p:sp>
        <p:nvSpPr>
          <p:cNvPr id="19" name="Text 17"/>
          <p:cNvSpPr/>
          <p:nvPr/>
        </p:nvSpPr>
        <p:spPr>
          <a:xfrm>
            <a:off x="914400" y="4178808"/>
            <a:ext cx="2240280" cy="228600"/>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20% Reach</a:t>
            </a:r>
            <a:endParaRPr lang="en-US" sz="850" dirty="0"/>
          </a:p>
        </p:txBody>
      </p:sp>
      <p:sp>
        <p:nvSpPr>
          <p:cNvPr id="20" name="Shape 18"/>
          <p:cNvSpPr/>
          <p:nvPr/>
        </p:nvSpPr>
        <p:spPr>
          <a:xfrm>
            <a:off x="722376" y="4727448"/>
            <a:ext cx="128016" cy="128016"/>
          </a:xfrm>
          <a:prstGeom prst="ellipse">
            <a:avLst/>
          </a:prstGeom>
          <a:solidFill>
            <a:srgbClr val="35D0BA"/>
          </a:solidFill>
          <a:ln w="12700">
            <a:solidFill>
              <a:srgbClr val="35D0BA">
                <a:alpha val="0"/>
              </a:srgbClr>
            </a:solidFill>
            <a:prstDash val="solid"/>
          </a:ln>
        </p:spPr>
      </p:sp>
      <p:sp>
        <p:nvSpPr>
          <p:cNvPr id="21" name="Text 19"/>
          <p:cNvSpPr/>
          <p:nvPr/>
        </p:nvSpPr>
        <p:spPr>
          <a:xfrm>
            <a:off x="914400" y="4681728"/>
            <a:ext cx="2240280" cy="228600"/>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20% Attention</a:t>
            </a:r>
            <a:endParaRPr lang="en-US" sz="850" dirty="0"/>
          </a:p>
        </p:txBody>
      </p:sp>
      <p:sp>
        <p:nvSpPr>
          <p:cNvPr id="22" name="Shape 20"/>
          <p:cNvSpPr/>
          <p:nvPr/>
        </p:nvSpPr>
        <p:spPr>
          <a:xfrm>
            <a:off x="3419856" y="3721608"/>
            <a:ext cx="128016" cy="128016"/>
          </a:xfrm>
          <a:prstGeom prst="ellipse">
            <a:avLst/>
          </a:prstGeom>
          <a:solidFill>
            <a:srgbClr val="F4C95D"/>
          </a:solidFill>
          <a:ln w="12700">
            <a:solidFill>
              <a:srgbClr val="F4C95D">
                <a:alpha val="0"/>
              </a:srgbClr>
            </a:solidFill>
            <a:prstDash val="solid"/>
          </a:ln>
        </p:spPr>
      </p:sp>
      <p:sp>
        <p:nvSpPr>
          <p:cNvPr id="23" name="Text 21"/>
          <p:cNvSpPr/>
          <p:nvPr/>
        </p:nvSpPr>
        <p:spPr>
          <a:xfrm>
            <a:off x="3611880" y="3675888"/>
            <a:ext cx="2240280" cy="228600"/>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15% Engagement</a:t>
            </a:r>
            <a:endParaRPr lang="en-US" sz="850" dirty="0"/>
          </a:p>
        </p:txBody>
      </p:sp>
      <p:sp>
        <p:nvSpPr>
          <p:cNvPr id="24" name="Shape 22"/>
          <p:cNvSpPr/>
          <p:nvPr/>
        </p:nvSpPr>
        <p:spPr>
          <a:xfrm>
            <a:off x="3419856" y="4224528"/>
            <a:ext cx="128016" cy="128016"/>
          </a:xfrm>
          <a:prstGeom prst="ellipse">
            <a:avLst/>
          </a:prstGeom>
          <a:solidFill>
            <a:srgbClr val="2477FF"/>
          </a:solidFill>
          <a:ln w="12700">
            <a:solidFill>
              <a:srgbClr val="2477FF">
                <a:alpha val="0"/>
              </a:srgbClr>
            </a:solidFill>
            <a:prstDash val="solid"/>
          </a:ln>
        </p:spPr>
      </p:sp>
      <p:sp>
        <p:nvSpPr>
          <p:cNvPr id="25" name="Text 23"/>
          <p:cNvSpPr/>
          <p:nvPr/>
        </p:nvSpPr>
        <p:spPr>
          <a:xfrm>
            <a:off x="3611880" y="4178808"/>
            <a:ext cx="2240280" cy="228600"/>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10% Momentum</a:t>
            </a:r>
            <a:endParaRPr lang="en-US" sz="850" dirty="0"/>
          </a:p>
        </p:txBody>
      </p:sp>
      <p:sp>
        <p:nvSpPr>
          <p:cNvPr id="26" name="Shape 24"/>
          <p:cNvSpPr/>
          <p:nvPr/>
        </p:nvSpPr>
        <p:spPr>
          <a:xfrm>
            <a:off x="3419856" y="4727448"/>
            <a:ext cx="128016" cy="128016"/>
          </a:xfrm>
          <a:prstGeom prst="ellipse">
            <a:avLst/>
          </a:prstGeom>
          <a:solidFill>
            <a:srgbClr val="9B8CFF"/>
          </a:solidFill>
          <a:ln w="12700">
            <a:solidFill>
              <a:srgbClr val="9B8CFF">
                <a:alpha val="0"/>
              </a:srgbClr>
            </a:solidFill>
            <a:prstDash val="solid"/>
          </a:ln>
        </p:spPr>
      </p:sp>
      <p:sp>
        <p:nvSpPr>
          <p:cNvPr id="27" name="Text 25"/>
          <p:cNvSpPr/>
          <p:nvPr/>
        </p:nvSpPr>
        <p:spPr>
          <a:xfrm>
            <a:off x="3611880" y="4681728"/>
            <a:ext cx="2240280" cy="228600"/>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10% Brand</a:t>
            </a:r>
            <a:endParaRPr lang="en-US" sz="850" dirty="0"/>
          </a:p>
        </p:txBody>
      </p:sp>
      <p:sp>
        <p:nvSpPr>
          <p:cNvPr id="28" name="Shape 26"/>
          <p:cNvSpPr/>
          <p:nvPr/>
        </p:nvSpPr>
        <p:spPr>
          <a:xfrm>
            <a:off x="6492240" y="1874520"/>
            <a:ext cx="4892040" cy="3493008"/>
          </a:xfrm>
          <a:prstGeom prst="roundRect">
            <a:avLst>
              <a:gd name="adj" fmla="val 2094"/>
            </a:avLst>
          </a:prstGeom>
          <a:solidFill>
            <a:srgbClr val="0B2741"/>
          </a:solidFill>
          <a:ln w="11430">
            <a:solidFill>
              <a:srgbClr val="193B57"/>
            </a:solidFill>
            <a:prstDash val="solid"/>
          </a:ln>
        </p:spPr>
      </p:sp>
      <p:sp>
        <p:nvSpPr>
          <p:cNvPr id="29" name="Text 27"/>
          <p:cNvSpPr/>
          <p:nvPr/>
        </p:nvSpPr>
        <p:spPr>
          <a:xfrm>
            <a:off x="6793992" y="2176272"/>
            <a:ext cx="2103120" cy="246888"/>
          </a:xfrm>
          <a:prstGeom prst="rect">
            <a:avLst/>
          </a:prstGeom>
          <a:noFill/>
          <a:ln/>
        </p:spPr>
        <p:txBody>
          <a:bodyPr wrap="square" lIns="254" tIns="254" rIns="254" bIns="254" rtlCol="0" anchor="ctr">
            <a:normAutofit/>
          </a:bodyPr>
          <a:lstStyle/>
          <a:p>
            <a:pPr algn="l" indent="0" marL="0">
              <a:buNone/>
            </a:pPr>
            <a:r>
              <a:rPr lang="en-US" sz="800" b="1" dirty="0">
                <a:solidFill>
                  <a:srgbClr val="35D0BA"/>
                </a:solidFill>
              </a:rPr>
              <a:t>MARKETABILITY GAP</a:t>
            </a:r>
            <a:endParaRPr lang="en-US" sz="800" dirty="0"/>
          </a:p>
        </p:txBody>
      </p:sp>
      <p:sp>
        <p:nvSpPr>
          <p:cNvPr id="30" name="Text 28"/>
          <p:cNvSpPr/>
          <p:nvPr/>
        </p:nvSpPr>
        <p:spPr>
          <a:xfrm>
            <a:off x="6793992" y="2761488"/>
            <a:ext cx="3749040" cy="438912"/>
          </a:xfrm>
          <a:prstGeom prst="rect">
            <a:avLst/>
          </a:prstGeom>
          <a:noFill/>
          <a:ln/>
        </p:spPr>
        <p:txBody>
          <a:bodyPr wrap="square" lIns="254" tIns="254" rIns="254" bIns="254" rtlCol="0" anchor="ctr">
            <a:normAutofit/>
          </a:bodyPr>
          <a:lstStyle/>
          <a:p>
            <a:pPr algn="l" indent="0" marL="0">
              <a:buNone/>
            </a:pPr>
            <a:r>
              <a:rPr lang="en-US" sz="2200" b="1" dirty="0">
                <a:solidFill>
                  <a:srgbClr val="FFFFFF"/>
                </a:solidFill>
              </a:rPr>
              <a:t>Gap = Actual − Expected</a:t>
            </a:r>
            <a:endParaRPr lang="en-US" sz="2200" dirty="0"/>
          </a:p>
        </p:txBody>
      </p:sp>
      <p:sp>
        <p:nvSpPr>
          <p:cNvPr id="31" name="Text 29"/>
          <p:cNvSpPr/>
          <p:nvPr/>
        </p:nvSpPr>
        <p:spPr>
          <a:xfrm>
            <a:off x="6793992" y="3456432"/>
            <a:ext cx="4023360" cy="896112"/>
          </a:xfrm>
          <a:prstGeom prst="rect">
            <a:avLst/>
          </a:prstGeom>
          <a:noFill/>
          <a:ln/>
        </p:spPr>
        <p:txBody>
          <a:bodyPr wrap="square" lIns="254" tIns="254" rIns="254" bIns="254" rtlCol="0" anchor="ctr">
            <a:normAutofit/>
          </a:bodyPr>
          <a:lstStyle/>
          <a:p>
            <a:pPr algn="l" indent="0" marL="0">
              <a:buNone/>
            </a:pPr>
            <a:r>
              <a:rPr lang="en-US" sz="1200" dirty="0">
                <a:solidFill>
                  <a:srgbClr val="A9BAC9"/>
                </a:solidFill>
              </a:rPr>
              <a:t>Expected marketability is estimated from basketball performance. The residual becomes the opportunity signal.</a:t>
            </a:r>
            <a:endParaRPr lang="en-US" sz="1200" dirty="0"/>
          </a:p>
        </p:txBody>
      </p:sp>
      <p:sp>
        <p:nvSpPr>
          <p:cNvPr id="32" name="Shape 30"/>
          <p:cNvSpPr/>
          <p:nvPr/>
        </p:nvSpPr>
        <p:spPr>
          <a:xfrm>
            <a:off x="6793992" y="4599432"/>
            <a:ext cx="2743200" cy="310896"/>
          </a:xfrm>
          <a:prstGeom prst="roundRect">
            <a:avLst>
              <a:gd name="adj" fmla="val 29412"/>
            </a:avLst>
          </a:prstGeom>
          <a:solidFill>
            <a:srgbClr val="F4C95D">
              <a:alpha val="18000"/>
            </a:srgbClr>
          </a:solidFill>
          <a:ln w="7620">
            <a:solidFill>
              <a:srgbClr val="F4C95D">
                <a:alpha val="65000"/>
              </a:srgbClr>
            </a:solidFill>
            <a:prstDash val="solid"/>
          </a:ln>
        </p:spPr>
      </p:sp>
      <p:sp>
        <p:nvSpPr>
          <p:cNvPr id="33" name="Text 31"/>
          <p:cNvSpPr/>
          <p:nvPr/>
        </p:nvSpPr>
        <p:spPr>
          <a:xfrm>
            <a:off x="6848856" y="4636008"/>
            <a:ext cx="2633472"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NEGATIVE GAP = UNTAPPED UPSIDE</a:t>
            </a:r>
            <a:endParaRPr lang="en-US" sz="7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OPPORTUNITY MAP</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The map tells you where to look first.</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Performance on the x-axis. Marketability on the y-axis. The lower-right quadrant is the commercial scouting zone.</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06</a:t>
            </a:r>
            <a:endParaRPr lang="en-US" sz="580" dirty="0"/>
          </a:p>
        </p:txBody>
      </p:sp>
      <p:sp>
        <p:nvSpPr>
          <p:cNvPr id="8" name="Shape 6"/>
          <p:cNvSpPr/>
          <p:nvPr/>
        </p:nvSpPr>
        <p:spPr>
          <a:xfrm>
            <a:off x="914400" y="5413248"/>
            <a:ext cx="6903720" cy="0"/>
          </a:xfrm>
          <a:prstGeom prst="line">
            <a:avLst/>
          </a:prstGeom>
          <a:noFill/>
          <a:ln w="13970">
            <a:solidFill>
              <a:srgbClr val="7891A4"/>
            </a:solidFill>
            <a:prstDash val="solid"/>
            <a:headEnd type="none"/>
            <a:tailEnd type="triangle"/>
          </a:ln>
        </p:spPr>
      </p:sp>
      <p:sp>
        <p:nvSpPr>
          <p:cNvPr id="9" name="Shape 7"/>
          <p:cNvSpPr/>
          <p:nvPr/>
        </p:nvSpPr>
        <p:spPr>
          <a:xfrm>
            <a:off x="914400" y="5413248"/>
            <a:ext cx="0" cy="-3538728"/>
          </a:xfrm>
          <a:prstGeom prst="line">
            <a:avLst/>
          </a:prstGeom>
          <a:noFill/>
          <a:ln w="13970">
            <a:solidFill>
              <a:srgbClr val="7891A4"/>
            </a:solidFill>
            <a:prstDash val="solid"/>
            <a:headEnd type="none"/>
            <a:tailEnd type="triangle"/>
          </a:ln>
        </p:spPr>
      </p:sp>
      <p:sp>
        <p:nvSpPr>
          <p:cNvPr id="10" name="Shape 8"/>
          <p:cNvSpPr/>
          <p:nvPr/>
        </p:nvSpPr>
        <p:spPr>
          <a:xfrm>
            <a:off x="4370832" y="2011680"/>
            <a:ext cx="0" cy="3246120"/>
          </a:xfrm>
          <a:prstGeom prst="line">
            <a:avLst/>
          </a:prstGeom>
          <a:noFill/>
          <a:ln w="10160">
            <a:solidFill>
              <a:srgbClr val="193B57"/>
            </a:solidFill>
            <a:prstDash val="solid"/>
          </a:ln>
        </p:spPr>
      </p:sp>
      <p:sp>
        <p:nvSpPr>
          <p:cNvPr id="11" name="Shape 9"/>
          <p:cNvSpPr/>
          <p:nvPr/>
        </p:nvSpPr>
        <p:spPr>
          <a:xfrm>
            <a:off x="1051560" y="3703320"/>
            <a:ext cx="6583680" cy="0"/>
          </a:xfrm>
          <a:prstGeom prst="line">
            <a:avLst/>
          </a:prstGeom>
          <a:noFill/>
          <a:ln w="10160">
            <a:solidFill>
              <a:srgbClr val="193B57"/>
            </a:solidFill>
            <a:prstDash val="solid"/>
          </a:ln>
        </p:spPr>
      </p:sp>
      <p:sp>
        <p:nvSpPr>
          <p:cNvPr id="12" name="Text 10"/>
          <p:cNvSpPr/>
          <p:nvPr/>
        </p:nvSpPr>
        <p:spPr>
          <a:xfrm>
            <a:off x="2852928" y="5623560"/>
            <a:ext cx="3108960" cy="237744"/>
          </a:xfrm>
          <a:prstGeom prst="rect">
            <a:avLst/>
          </a:prstGeom>
          <a:noFill/>
          <a:ln/>
        </p:spPr>
        <p:txBody>
          <a:bodyPr wrap="square" lIns="254" tIns="254" rIns="254" bIns="254" rtlCol="0" anchor="ctr">
            <a:normAutofit/>
          </a:bodyPr>
          <a:lstStyle/>
          <a:p>
            <a:pPr algn="ctr" indent="0" marL="0">
              <a:buNone/>
            </a:pPr>
            <a:r>
              <a:rPr lang="en-US" sz="800" b="1" dirty="0">
                <a:solidFill>
                  <a:srgbClr val="7F95A6"/>
                </a:solidFill>
              </a:rPr>
              <a:t>BASKETBALL PERFORMANCE →</a:t>
            </a:r>
            <a:endParaRPr lang="en-US" sz="800" dirty="0"/>
          </a:p>
        </p:txBody>
      </p:sp>
      <p:sp>
        <p:nvSpPr>
          <p:cNvPr id="13" name="Text 11"/>
          <p:cNvSpPr/>
          <p:nvPr/>
        </p:nvSpPr>
        <p:spPr>
          <a:xfrm>
            <a:off x="164592" y="2944368"/>
            <a:ext cx="1005840" cy="228600"/>
          </a:xfrm>
          <a:prstGeom prst="rect">
            <a:avLst/>
          </a:prstGeom>
          <a:noFill/>
          <a:ln/>
        </p:spPr>
        <p:txBody>
          <a:bodyPr wrap="square" lIns="254" tIns="254" rIns="254" bIns="254" rtlCol="0" anchor="ctr">
            <a:normAutofit/>
          </a:bodyPr>
          <a:lstStyle/>
          <a:p>
            <a:pPr algn="l" indent="0" marL="0">
              <a:buNone/>
            </a:pPr>
            <a:r>
              <a:rPr lang="en-US" sz="740" b="1" dirty="0">
                <a:solidFill>
                  <a:srgbClr val="7F95A6"/>
                </a:solidFill>
              </a:rPr>
              <a:t>MARKETABILITY →</a:t>
            </a:r>
            <a:endParaRPr lang="en-US" sz="740" dirty="0"/>
          </a:p>
        </p:txBody>
      </p:sp>
      <p:sp>
        <p:nvSpPr>
          <p:cNvPr id="14" name="Shape 12"/>
          <p:cNvSpPr/>
          <p:nvPr/>
        </p:nvSpPr>
        <p:spPr>
          <a:xfrm>
            <a:off x="1751076" y="4585716"/>
            <a:ext cx="155448" cy="155448"/>
          </a:xfrm>
          <a:prstGeom prst="ellipse">
            <a:avLst/>
          </a:prstGeom>
          <a:solidFill>
            <a:srgbClr val="66798B"/>
          </a:solidFill>
          <a:ln w="12700">
            <a:solidFill>
              <a:srgbClr val="66798B">
                <a:alpha val="0"/>
              </a:srgbClr>
            </a:solidFill>
            <a:prstDash val="solid"/>
          </a:ln>
        </p:spPr>
      </p:sp>
      <p:sp>
        <p:nvSpPr>
          <p:cNvPr id="15" name="Shape 13"/>
          <p:cNvSpPr/>
          <p:nvPr/>
        </p:nvSpPr>
        <p:spPr>
          <a:xfrm>
            <a:off x="2208276" y="4128516"/>
            <a:ext cx="155448" cy="155448"/>
          </a:xfrm>
          <a:prstGeom prst="ellipse">
            <a:avLst/>
          </a:prstGeom>
          <a:solidFill>
            <a:srgbClr val="00A3FF"/>
          </a:solidFill>
          <a:ln w="12700">
            <a:solidFill>
              <a:srgbClr val="00A3FF">
                <a:alpha val="0"/>
              </a:srgbClr>
            </a:solidFill>
            <a:prstDash val="solid"/>
          </a:ln>
        </p:spPr>
      </p:sp>
      <p:sp>
        <p:nvSpPr>
          <p:cNvPr id="16" name="Shape 14"/>
          <p:cNvSpPr/>
          <p:nvPr/>
        </p:nvSpPr>
        <p:spPr>
          <a:xfrm>
            <a:off x="2939796" y="4448556"/>
            <a:ext cx="155448" cy="155448"/>
          </a:xfrm>
          <a:prstGeom prst="ellipse">
            <a:avLst/>
          </a:prstGeom>
          <a:solidFill>
            <a:srgbClr val="66798B"/>
          </a:solidFill>
          <a:ln w="12700">
            <a:solidFill>
              <a:srgbClr val="66798B">
                <a:alpha val="0"/>
              </a:srgbClr>
            </a:solidFill>
            <a:prstDash val="solid"/>
          </a:ln>
        </p:spPr>
      </p:sp>
      <p:sp>
        <p:nvSpPr>
          <p:cNvPr id="17" name="Shape 15"/>
          <p:cNvSpPr/>
          <p:nvPr/>
        </p:nvSpPr>
        <p:spPr>
          <a:xfrm>
            <a:off x="3488436" y="3351276"/>
            <a:ext cx="155448" cy="155448"/>
          </a:xfrm>
          <a:prstGeom prst="ellipse">
            <a:avLst/>
          </a:prstGeom>
          <a:solidFill>
            <a:srgbClr val="35D0BA"/>
          </a:solidFill>
          <a:ln w="12700">
            <a:solidFill>
              <a:srgbClr val="35D0BA">
                <a:alpha val="0"/>
              </a:srgbClr>
            </a:solidFill>
            <a:prstDash val="solid"/>
          </a:ln>
        </p:spPr>
      </p:sp>
      <p:sp>
        <p:nvSpPr>
          <p:cNvPr id="18" name="Shape 16"/>
          <p:cNvSpPr/>
          <p:nvPr/>
        </p:nvSpPr>
        <p:spPr>
          <a:xfrm>
            <a:off x="4791456" y="4398264"/>
            <a:ext cx="201168" cy="201168"/>
          </a:xfrm>
          <a:prstGeom prst="ellipse">
            <a:avLst/>
          </a:prstGeom>
          <a:solidFill>
            <a:srgbClr val="F4C95D"/>
          </a:solidFill>
          <a:ln w="12700">
            <a:solidFill>
              <a:srgbClr val="F4C95D">
                <a:alpha val="0"/>
              </a:srgbClr>
            </a:solidFill>
            <a:prstDash val="solid"/>
          </a:ln>
        </p:spPr>
      </p:sp>
      <p:sp>
        <p:nvSpPr>
          <p:cNvPr id="19" name="Shape 17"/>
          <p:cNvSpPr/>
          <p:nvPr/>
        </p:nvSpPr>
        <p:spPr>
          <a:xfrm>
            <a:off x="5340096" y="4059936"/>
            <a:ext cx="201168" cy="201168"/>
          </a:xfrm>
          <a:prstGeom prst="ellipse">
            <a:avLst/>
          </a:prstGeom>
          <a:solidFill>
            <a:srgbClr val="F4C95D"/>
          </a:solidFill>
          <a:ln w="12700">
            <a:solidFill>
              <a:srgbClr val="F4C95D">
                <a:alpha val="0"/>
              </a:srgbClr>
            </a:solidFill>
            <a:prstDash val="solid"/>
          </a:ln>
        </p:spPr>
      </p:sp>
      <p:sp>
        <p:nvSpPr>
          <p:cNvPr id="20" name="Shape 18"/>
          <p:cNvSpPr/>
          <p:nvPr/>
        </p:nvSpPr>
        <p:spPr>
          <a:xfrm>
            <a:off x="6048756" y="3140964"/>
            <a:ext cx="155448" cy="155448"/>
          </a:xfrm>
          <a:prstGeom prst="ellipse">
            <a:avLst/>
          </a:prstGeom>
          <a:solidFill>
            <a:srgbClr val="00A3FF"/>
          </a:solidFill>
          <a:ln w="12700">
            <a:solidFill>
              <a:srgbClr val="00A3FF">
                <a:alpha val="0"/>
              </a:srgbClr>
            </a:solidFill>
            <a:prstDash val="solid"/>
          </a:ln>
        </p:spPr>
      </p:sp>
      <p:sp>
        <p:nvSpPr>
          <p:cNvPr id="21" name="Shape 19"/>
          <p:cNvSpPr/>
          <p:nvPr/>
        </p:nvSpPr>
        <p:spPr>
          <a:xfrm>
            <a:off x="6734556" y="2500884"/>
            <a:ext cx="155448" cy="155448"/>
          </a:xfrm>
          <a:prstGeom prst="ellipse">
            <a:avLst/>
          </a:prstGeom>
          <a:solidFill>
            <a:srgbClr val="35D0BA"/>
          </a:solidFill>
          <a:ln w="12700">
            <a:solidFill>
              <a:srgbClr val="35D0BA">
                <a:alpha val="0"/>
              </a:srgbClr>
            </a:solidFill>
            <a:prstDash val="solid"/>
          </a:ln>
        </p:spPr>
      </p:sp>
      <p:sp>
        <p:nvSpPr>
          <p:cNvPr id="22" name="Shape 20"/>
          <p:cNvSpPr/>
          <p:nvPr/>
        </p:nvSpPr>
        <p:spPr>
          <a:xfrm>
            <a:off x="5682996" y="2391156"/>
            <a:ext cx="155448" cy="155448"/>
          </a:xfrm>
          <a:prstGeom prst="ellipse">
            <a:avLst/>
          </a:prstGeom>
          <a:solidFill>
            <a:srgbClr val="00A3FF"/>
          </a:solidFill>
          <a:ln w="12700">
            <a:solidFill>
              <a:srgbClr val="00A3FF">
                <a:alpha val="0"/>
              </a:srgbClr>
            </a:solidFill>
            <a:prstDash val="solid"/>
          </a:ln>
        </p:spPr>
      </p:sp>
      <p:sp>
        <p:nvSpPr>
          <p:cNvPr id="23" name="Shape 21"/>
          <p:cNvSpPr/>
          <p:nvPr/>
        </p:nvSpPr>
        <p:spPr>
          <a:xfrm>
            <a:off x="8275320" y="1874520"/>
            <a:ext cx="3246120" cy="3547872"/>
          </a:xfrm>
          <a:prstGeom prst="roundRect">
            <a:avLst>
              <a:gd name="adj" fmla="val 2254"/>
            </a:avLst>
          </a:prstGeom>
          <a:solidFill>
            <a:srgbClr val="081D31"/>
          </a:solidFill>
          <a:ln w="11430">
            <a:solidFill>
              <a:srgbClr val="193B57"/>
            </a:solidFill>
            <a:prstDash val="solid"/>
          </a:ln>
        </p:spPr>
      </p:sp>
      <p:sp>
        <p:nvSpPr>
          <p:cNvPr id="24" name="Text 22"/>
          <p:cNvSpPr/>
          <p:nvPr/>
        </p:nvSpPr>
        <p:spPr>
          <a:xfrm>
            <a:off x="8577072" y="2240280"/>
            <a:ext cx="2606040" cy="658368"/>
          </a:xfrm>
          <a:prstGeom prst="rect">
            <a:avLst/>
          </a:prstGeom>
          <a:noFill/>
          <a:ln/>
        </p:spPr>
        <p:txBody>
          <a:bodyPr wrap="square" lIns="254" tIns="254" rIns="254" bIns="254" rtlCol="0" anchor="ctr">
            <a:normAutofit/>
          </a:bodyPr>
          <a:lstStyle/>
          <a:p>
            <a:pPr algn="l" indent="0" marL="0">
              <a:buNone/>
            </a:pPr>
            <a:r>
              <a:rPr lang="en-US" sz="1300" b="1" dirty="0">
                <a:solidFill>
                  <a:srgbClr val="F4C95D"/>
                </a:solidFill>
              </a:rPr>
              <a:t>HIGH PERFORMANCE</a:t>
            </a:r>
            <a:endParaRPr lang="en-US" sz="1300" dirty="0"/>
          </a:p>
          <a:p>
            <a:pPr algn="l" indent="0" marL="0">
              <a:buNone/>
            </a:pPr>
            <a:r>
              <a:rPr lang="en-US" sz="1300" b="1" dirty="0">
                <a:solidFill>
                  <a:srgbClr val="F4C95D"/>
                </a:solidFill>
              </a:rPr>
              <a:t>LOWER MARKETABILITY</a:t>
            </a:r>
            <a:endParaRPr lang="en-US" sz="1300" dirty="0"/>
          </a:p>
        </p:txBody>
      </p:sp>
      <p:sp>
        <p:nvSpPr>
          <p:cNvPr id="25" name="Text 23"/>
          <p:cNvSpPr/>
          <p:nvPr/>
        </p:nvSpPr>
        <p:spPr>
          <a:xfrm>
            <a:off x="8577072" y="3108960"/>
            <a:ext cx="2194560" cy="256032"/>
          </a:xfrm>
          <a:prstGeom prst="rect">
            <a:avLst/>
          </a:prstGeom>
          <a:noFill/>
          <a:ln/>
        </p:spPr>
        <p:txBody>
          <a:bodyPr wrap="square" lIns="254" tIns="254" rIns="254" bIns="254" rtlCol="0" anchor="ctr">
            <a:normAutofit/>
          </a:bodyPr>
          <a:lstStyle/>
          <a:p>
            <a:pPr algn="l" indent="0" marL="0">
              <a:buNone/>
            </a:pPr>
            <a:r>
              <a:rPr lang="en-US" sz="900" b="1" dirty="0">
                <a:solidFill>
                  <a:srgbClr val="FFFFFF"/>
                </a:solidFill>
              </a:rPr>
              <a:t>Primary target</a:t>
            </a:r>
            <a:endParaRPr lang="en-US" sz="900" dirty="0"/>
          </a:p>
        </p:txBody>
      </p:sp>
      <p:sp>
        <p:nvSpPr>
          <p:cNvPr id="26" name="Text 24"/>
          <p:cNvSpPr/>
          <p:nvPr/>
        </p:nvSpPr>
        <p:spPr>
          <a:xfrm>
            <a:off x="8577072" y="3511296"/>
            <a:ext cx="2487168" cy="1115568"/>
          </a:xfrm>
          <a:prstGeom prst="rect">
            <a:avLst/>
          </a:prstGeom>
          <a:noFill/>
          <a:ln/>
        </p:spPr>
        <p:txBody>
          <a:bodyPr wrap="square" lIns="254" tIns="254" rIns="254" bIns="254" rtlCol="0" anchor="ctr">
            <a:normAutofit/>
          </a:bodyPr>
          <a:lstStyle/>
          <a:p>
            <a:pPr algn="l" indent="0" marL="0">
              <a:buNone/>
            </a:pPr>
            <a:r>
              <a:rPr lang="en-US" sz="1000" dirty="0">
                <a:solidFill>
                  <a:srgbClr val="A9BAC9"/>
                </a:solidFill>
              </a:rPr>
              <a:t>• More player-led content</a:t>
            </a:r>
            <a:endParaRPr lang="en-US" sz="1000" dirty="0"/>
          </a:p>
          <a:p>
            <a:pPr algn="l" indent="0" marL="0">
              <a:buNone/>
            </a:pPr>
            <a:r>
              <a:rPr lang="en-US" sz="1000" dirty="0">
                <a:solidFill>
                  <a:srgbClr val="A9BAC9"/>
                </a:solidFill>
              </a:rPr>
              <a:t>• Sponsor packaging</a:t>
            </a:r>
            <a:endParaRPr lang="en-US" sz="1000" dirty="0"/>
          </a:p>
          <a:p>
            <a:pPr algn="l" indent="0" marL="0">
              <a:buNone/>
            </a:pPr>
            <a:r>
              <a:rPr lang="en-US" sz="1000" dirty="0">
                <a:solidFill>
                  <a:srgbClr val="A9BAC9"/>
                </a:solidFill>
              </a:rPr>
              <a:t>• International / local storytelling</a:t>
            </a:r>
            <a:endParaRPr lang="en-US" sz="1000" dirty="0"/>
          </a:p>
          <a:p>
            <a:pPr algn="l" indent="0" marL="0">
              <a:buNone/>
            </a:pPr>
            <a:r>
              <a:rPr lang="en-US" sz="1000" dirty="0">
                <a:solidFill>
                  <a:srgbClr val="A9BAC9"/>
                </a:solidFill>
              </a:rPr>
              <a:t>• Track momentum quarterly</a:t>
            </a:r>
            <a:endParaRPr lang="en-US" sz="1000" dirty="0"/>
          </a:p>
        </p:txBody>
      </p:sp>
      <p:sp>
        <p:nvSpPr>
          <p:cNvPr id="27" name="Shape 25"/>
          <p:cNvSpPr/>
          <p:nvPr/>
        </p:nvSpPr>
        <p:spPr>
          <a:xfrm>
            <a:off x="8577072" y="4828032"/>
            <a:ext cx="1572768" cy="310896"/>
          </a:xfrm>
          <a:prstGeom prst="roundRect">
            <a:avLst>
              <a:gd name="adj" fmla="val 29412"/>
            </a:avLst>
          </a:prstGeom>
          <a:solidFill>
            <a:srgbClr val="F4C95D">
              <a:alpha val="18000"/>
            </a:srgbClr>
          </a:solidFill>
          <a:ln w="7620">
            <a:solidFill>
              <a:srgbClr val="F4C95D">
                <a:alpha val="65000"/>
              </a:srgbClr>
            </a:solidFill>
            <a:prstDash val="solid"/>
          </a:ln>
        </p:spPr>
      </p:sp>
      <p:sp>
        <p:nvSpPr>
          <p:cNvPr id="28" name="Text 26"/>
          <p:cNvSpPr/>
          <p:nvPr/>
        </p:nvSpPr>
        <p:spPr>
          <a:xfrm>
            <a:off x="8631936" y="4864608"/>
            <a:ext cx="1463040"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SCOUT HERE FIRST</a:t>
            </a:r>
            <a:endParaRPr lang="en-US" sz="730" dirty="0"/>
          </a:p>
        </p:txBody>
      </p:sp>
      <p:sp>
        <p:nvSpPr>
          <p:cNvPr id="29" name="Text 27"/>
          <p:cNvSpPr/>
          <p:nvPr/>
        </p:nvSpPr>
        <p:spPr>
          <a:xfrm>
            <a:off x="713232" y="6108192"/>
            <a:ext cx="7406640" cy="201168"/>
          </a:xfrm>
          <a:prstGeom prst="rect">
            <a:avLst/>
          </a:prstGeom>
          <a:noFill/>
          <a:ln/>
        </p:spPr>
        <p:txBody>
          <a:bodyPr wrap="square" lIns="254" tIns="254" rIns="254" bIns="254" rtlCol="0" anchor="ctr">
            <a:normAutofit/>
          </a:bodyPr>
          <a:lstStyle/>
          <a:p>
            <a:pPr algn="l" indent="0" marL="0">
              <a:buNone/>
            </a:pPr>
            <a:r>
              <a:rPr lang="en-US" sz="560" dirty="0">
                <a:solidFill>
                  <a:srgbClr val="71879A"/>
                </a:solidFill>
              </a:rPr>
              <a:t>Illustrative framework visualization — not a final player ranking.</a:t>
            </a:r>
            <a:endParaRPr lang="en-US" sz="5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REALITY CHECK</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Real fan attention is measurable—and concentrated.</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Official NBA digital/social views give us an external outcome that a useful marketability model should understand.</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07</a:t>
            </a:r>
            <a:endParaRPr lang="en-US" sz="580" dirty="0"/>
          </a:p>
        </p:txBody>
      </p:sp>
      <p:sp>
        <p:nvSpPr>
          <p:cNvPr id="8" name="Text 6"/>
          <p:cNvSpPr/>
          <p:nvPr/>
        </p:nvSpPr>
        <p:spPr>
          <a:xfrm>
            <a:off x="2148840" y="6492240"/>
            <a:ext cx="9418320" cy="164592"/>
          </a:xfrm>
          <a:prstGeom prst="rect">
            <a:avLst/>
          </a:prstGeom>
          <a:noFill/>
          <a:ln/>
        </p:spPr>
        <p:txBody>
          <a:bodyPr wrap="square" lIns="0" tIns="0" rIns="0" bIns="0" rtlCol="0" anchor="ctr">
            <a:normAutofit/>
          </a:bodyPr>
          <a:lstStyle/>
          <a:p>
            <a:pPr algn="r" indent="0" marL="0">
              <a:buNone/>
            </a:pPr>
            <a:r>
              <a:rPr lang="en-US" sz="520" dirty="0">
                <a:solidFill>
                  <a:srgbClr val="63798B"/>
                </a:solidFill>
              </a:rPr>
              <a:t>NBA Communications, Apr. 14 2025 — 2024–25 regular season social/digital views</a:t>
            </a:r>
            <a:endParaRPr lang="en-US" sz="520" dirty="0"/>
          </a:p>
        </p:txBody>
      </p:sp>
      <p:sp>
        <p:nvSpPr>
          <p:cNvPr id="9" name="Text 7"/>
          <p:cNvSpPr/>
          <p:nvPr/>
        </p:nvSpPr>
        <p:spPr>
          <a:xfrm>
            <a:off x="749808" y="193852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01</a:t>
            </a:r>
            <a:endParaRPr lang="en-US" sz="680" dirty="0"/>
          </a:p>
        </p:txBody>
      </p:sp>
      <p:sp>
        <p:nvSpPr>
          <p:cNvPr id="10" name="Text 8"/>
          <p:cNvSpPr/>
          <p:nvPr/>
        </p:nvSpPr>
        <p:spPr>
          <a:xfrm>
            <a:off x="1124712" y="193852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LeBron</a:t>
            </a:r>
            <a:endParaRPr lang="en-US" sz="820" dirty="0"/>
          </a:p>
        </p:txBody>
      </p:sp>
      <p:sp>
        <p:nvSpPr>
          <p:cNvPr id="11" name="Shape 9"/>
          <p:cNvSpPr/>
          <p:nvPr/>
        </p:nvSpPr>
        <p:spPr>
          <a:xfrm>
            <a:off x="2267712" y="1965960"/>
            <a:ext cx="4434840" cy="164592"/>
          </a:xfrm>
          <a:prstGeom prst="rect">
            <a:avLst/>
          </a:prstGeom>
          <a:solidFill>
            <a:srgbClr val="00A3FF"/>
          </a:solidFill>
          <a:ln w="12700">
            <a:solidFill>
              <a:srgbClr val="00A3FF">
                <a:alpha val="0"/>
              </a:srgbClr>
            </a:solidFill>
            <a:prstDash val="solid"/>
          </a:ln>
        </p:spPr>
      </p:sp>
      <p:sp>
        <p:nvSpPr>
          <p:cNvPr id="12" name="Text 10"/>
          <p:cNvSpPr/>
          <p:nvPr/>
        </p:nvSpPr>
        <p:spPr>
          <a:xfrm>
            <a:off x="6830568" y="193852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3.23B</a:t>
            </a:r>
            <a:endParaRPr lang="en-US" sz="730" dirty="0"/>
          </a:p>
        </p:txBody>
      </p:sp>
      <p:sp>
        <p:nvSpPr>
          <p:cNvPr id="13" name="Text 11"/>
          <p:cNvSpPr/>
          <p:nvPr/>
        </p:nvSpPr>
        <p:spPr>
          <a:xfrm>
            <a:off x="749808" y="230428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02</a:t>
            </a:r>
            <a:endParaRPr lang="en-US" sz="680" dirty="0"/>
          </a:p>
        </p:txBody>
      </p:sp>
      <p:sp>
        <p:nvSpPr>
          <p:cNvPr id="14" name="Text 12"/>
          <p:cNvSpPr/>
          <p:nvPr/>
        </p:nvSpPr>
        <p:spPr>
          <a:xfrm>
            <a:off x="1124712" y="230428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Curry</a:t>
            </a:r>
            <a:endParaRPr lang="en-US" sz="820" dirty="0"/>
          </a:p>
        </p:txBody>
      </p:sp>
      <p:sp>
        <p:nvSpPr>
          <p:cNvPr id="15" name="Shape 13"/>
          <p:cNvSpPr/>
          <p:nvPr/>
        </p:nvSpPr>
        <p:spPr>
          <a:xfrm>
            <a:off x="2267712" y="2331720"/>
            <a:ext cx="3514920" cy="164592"/>
          </a:xfrm>
          <a:prstGeom prst="rect">
            <a:avLst/>
          </a:prstGeom>
          <a:solidFill>
            <a:srgbClr val="40D9FF"/>
          </a:solidFill>
          <a:ln w="12700">
            <a:solidFill>
              <a:srgbClr val="40D9FF">
                <a:alpha val="0"/>
              </a:srgbClr>
            </a:solidFill>
            <a:prstDash val="solid"/>
          </a:ln>
        </p:spPr>
      </p:sp>
      <p:sp>
        <p:nvSpPr>
          <p:cNvPr id="16" name="Text 14"/>
          <p:cNvSpPr/>
          <p:nvPr/>
        </p:nvSpPr>
        <p:spPr>
          <a:xfrm>
            <a:off x="6830568" y="230428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2.56B</a:t>
            </a:r>
            <a:endParaRPr lang="en-US" sz="730" dirty="0"/>
          </a:p>
        </p:txBody>
      </p:sp>
      <p:sp>
        <p:nvSpPr>
          <p:cNvPr id="17" name="Text 15"/>
          <p:cNvSpPr/>
          <p:nvPr/>
        </p:nvSpPr>
        <p:spPr>
          <a:xfrm>
            <a:off x="749808" y="267004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03</a:t>
            </a:r>
            <a:endParaRPr lang="en-US" sz="680" dirty="0"/>
          </a:p>
        </p:txBody>
      </p:sp>
      <p:sp>
        <p:nvSpPr>
          <p:cNvPr id="18" name="Text 16"/>
          <p:cNvSpPr/>
          <p:nvPr/>
        </p:nvSpPr>
        <p:spPr>
          <a:xfrm>
            <a:off x="1124712" y="267004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Luka</a:t>
            </a:r>
            <a:endParaRPr lang="en-US" sz="820" dirty="0"/>
          </a:p>
        </p:txBody>
      </p:sp>
      <p:sp>
        <p:nvSpPr>
          <p:cNvPr id="19" name="Shape 17"/>
          <p:cNvSpPr/>
          <p:nvPr/>
        </p:nvSpPr>
        <p:spPr>
          <a:xfrm>
            <a:off x="2267712" y="2697480"/>
            <a:ext cx="2498888" cy="164592"/>
          </a:xfrm>
          <a:prstGeom prst="rect">
            <a:avLst/>
          </a:prstGeom>
          <a:solidFill>
            <a:srgbClr val="35D0BA"/>
          </a:solidFill>
          <a:ln w="12700">
            <a:solidFill>
              <a:srgbClr val="35D0BA">
                <a:alpha val="0"/>
              </a:srgbClr>
            </a:solidFill>
            <a:prstDash val="solid"/>
          </a:ln>
        </p:spPr>
      </p:sp>
      <p:sp>
        <p:nvSpPr>
          <p:cNvPr id="20" name="Text 18"/>
          <p:cNvSpPr/>
          <p:nvPr/>
        </p:nvSpPr>
        <p:spPr>
          <a:xfrm>
            <a:off x="6830568" y="267004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1.82B</a:t>
            </a:r>
            <a:endParaRPr lang="en-US" sz="730" dirty="0"/>
          </a:p>
        </p:txBody>
      </p:sp>
      <p:sp>
        <p:nvSpPr>
          <p:cNvPr id="21" name="Text 19"/>
          <p:cNvSpPr/>
          <p:nvPr/>
        </p:nvSpPr>
        <p:spPr>
          <a:xfrm>
            <a:off x="749808" y="303580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04</a:t>
            </a:r>
            <a:endParaRPr lang="en-US" sz="680" dirty="0"/>
          </a:p>
        </p:txBody>
      </p:sp>
      <p:sp>
        <p:nvSpPr>
          <p:cNvPr id="22" name="Text 20"/>
          <p:cNvSpPr/>
          <p:nvPr/>
        </p:nvSpPr>
        <p:spPr>
          <a:xfrm>
            <a:off x="1124712" y="303580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Wemby</a:t>
            </a:r>
            <a:endParaRPr lang="en-US" sz="820" dirty="0"/>
          </a:p>
        </p:txBody>
      </p:sp>
      <p:sp>
        <p:nvSpPr>
          <p:cNvPr id="23" name="Shape 21"/>
          <p:cNvSpPr/>
          <p:nvPr/>
        </p:nvSpPr>
        <p:spPr>
          <a:xfrm>
            <a:off x="2267712" y="3063240"/>
            <a:ext cx="2018333" cy="164592"/>
          </a:xfrm>
          <a:prstGeom prst="rect">
            <a:avLst/>
          </a:prstGeom>
          <a:solidFill>
            <a:srgbClr val="F4C95D"/>
          </a:solidFill>
          <a:ln w="12700">
            <a:solidFill>
              <a:srgbClr val="F4C95D">
                <a:alpha val="0"/>
              </a:srgbClr>
            </a:solidFill>
            <a:prstDash val="solid"/>
          </a:ln>
        </p:spPr>
      </p:sp>
      <p:sp>
        <p:nvSpPr>
          <p:cNvPr id="24" name="Text 22"/>
          <p:cNvSpPr/>
          <p:nvPr/>
        </p:nvSpPr>
        <p:spPr>
          <a:xfrm>
            <a:off x="6830568" y="303580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1.47B</a:t>
            </a:r>
            <a:endParaRPr lang="en-US" sz="730" dirty="0"/>
          </a:p>
        </p:txBody>
      </p:sp>
      <p:sp>
        <p:nvSpPr>
          <p:cNvPr id="25" name="Text 23"/>
          <p:cNvSpPr/>
          <p:nvPr/>
        </p:nvSpPr>
        <p:spPr>
          <a:xfrm>
            <a:off x="749808" y="340156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05</a:t>
            </a:r>
            <a:endParaRPr lang="en-US" sz="680" dirty="0"/>
          </a:p>
        </p:txBody>
      </p:sp>
      <p:sp>
        <p:nvSpPr>
          <p:cNvPr id="26" name="Text 24"/>
          <p:cNvSpPr/>
          <p:nvPr/>
        </p:nvSpPr>
        <p:spPr>
          <a:xfrm>
            <a:off x="1124712" y="340156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Jokić</a:t>
            </a:r>
            <a:endParaRPr lang="en-US" sz="820" dirty="0"/>
          </a:p>
        </p:txBody>
      </p:sp>
      <p:sp>
        <p:nvSpPr>
          <p:cNvPr id="27" name="Shape 25"/>
          <p:cNvSpPr/>
          <p:nvPr/>
        </p:nvSpPr>
        <p:spPr>
          <a:xfrm>
            <a:off x="2267712" y="3429000"/>
            <a:ext cx="1647619" cy="164592"/>
          </a:xfrm>
          <a:prstGeom prst="rect">
            <a:avLst/>
          </a:prstGeom>
          <a:solidFill>
            <a:srgbClr val="9B8CFF"/>
          </a:solidFill>
          <a:ln w="12700">
            <a:solidFill>
              <a:srgbClr val="9B8CFF">
                <a:alpha val="0"/>
              </a:srgbClr>
            </a:solidFill>
            <a:prstDash val="solid"/>
          </a:ln>
        </p:spPr>
      </p:sp>
      <p:sp>
        <p:nvSpPr>
          <p:cNvPr id="28" name="Text 26"/>
          <p:cNvSpPr/>
          <p:nvPr/>
        </p:nvSpPr>
        <p:spPr>
          <a:xfrm>
            <a:off x="6830568" y="340156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1.20B</a:t>
            </a:r>
            <a:endParaRPr lang="en-US" sz="730" dirty="0"/>
          </a:p>
        </p:txBody>
      </p:sp>
      <p:sp>
        <p:nvSpPr>
          <p:cNvPr id="29" name="Text 27"/>
          <p:cNvSpPr/>
          <p:nvPr/>
        </p:nvSpPr>
        <p:spPr>
          <a:xfrm>
            <a:off x="749808" y="376732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06</a:t>
            </a:r>
            <a:endParaRPr lang="en-US" sz="680" dirty="0"/>
          </a:p>
        </p:txBody>
      </p:sp>
      <p:sp>
        <p:nvSpPr>
          <p:cNvPr id="30" name="Text 28"/>
          <p:cNvSpPr/>
          <p:nvPr/>
        </p:nvSpPr>
        <p:spPr>
          <a:xfrm>
            <a:off x="1124712" y="376732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Ja</a:t>
            </a:r>
            <a:endParaRPr lang="en-US" sz="820" dirty="0"/>
          </a:p>
        </p:txBody>
      </p:sp>
      <p:sp>
        <p:nvSpPr>
          <p:cNvPr id="31" name="Shape 29"/>
          <p:cNvSpPr/>
          <p:nvPr/>
        </p:nvSpPr>
        <p:spPr>
          <a:xfrm>
            <a:off x="2267712" y="3794760"/>
            <a:ext cx="1496587" cy="164592"/>
          </a:xfrm>
          <a:prstGeom prst="rect">
            <a:avLst/>
          </a:prstGeom>
          <a:solidFill>
            <a:srgbClr val="2477FF"/>
          </a:solidFill>
          <a:ln w="12700">
            <a:solidFill>
              <a:srgbClr val="2477FF">
                <a:alpha val="0"/>
              </a:srgbClr>
            </a:solidFill>
            <a:prstDash val="solid"/>
          </a:ln>
        </p:spPr>
      </p:sp>
      <p:sp>
        <p:nvSpPr>
          <p:cNvPr id="32" name="Text 30"/>
          <p:cNvSpPr/>
          <p:nvPr/>
        </p:nvSpPr>
        <p:spPr>
          <a:xfrm>
            <a:off x="6830568" y="376732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1.09B</a:t>
            </a:r>
            <a:endParaRPr lang="en-US" sz="730" dirty="0"/>
          </a:p>
        </p:txBody>
      </p:sp>
      <p:sp>
        <p:nvSpPr>
          <p:cNvPr id="33" name="Text 31"/>
          <p:cNvSpPr/>
          <p:nvPr/>
        </p:nvSpPr>
        <p:spPr>
          <a:xfrm>
            <a:off x="749808" y="413308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07</a:t>
            </a:r>
            <a:endParaRPr lang="en-US" sz="680" dirty="0"/>
          </a:p>
        </p:txBody>
      </p:sp>
      <p:sp>
        <p:nvSpPr>
          <p:cNvPr id="34" name="Text 32"/>
          <p:cNvSpPr/>
          <p:nvPr/>
        </p:nvSpPr>
        <p:spPr>
          <a:xfrm>
            <a:off x="1124712" y="413308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Shai</a:t>
            </a:r>
            <a:endParaRPr lang="en-US" sz="820" dirty="0"/>
          </a:p>
        </p:txBody>
      </p:sp>
      <p:sp>
        <p:nvSpPr>
          <p:cNvPr id="35" name="Shape 33"/>
          <p:cNvSpPr/>
          <p:nvPr/>
        </p:nvSpPr>
        <p:spPr>
          <a:xfrm>
            <a:off x="2267712" y="4160520"/>
            <a:ext cx="1455396" cy="164592"/>
          </a:xfrm>
          <a:prstGeom prst="rect">
            <a:avLst/>
          </a:prstGeom>
          <a:solidFill>
            <a:srgbClr val="5ED8C6"/>
          </a:solidFill>
          <a:ln w="12700">
            <a:solidFill>
              <a:srgbClr val="5ED8C6">
                <a:alpha val="0"/>
              </a:srgbClr>
            </a:solidFill>
            <a:prstDash val="solid"/>
          </a:ln>
        </p:spPr>
      </p:sp>
      <p:sp>
        <p:nvSpPr>
          <p:cNvPr id="36" name="Text 34"/>
          <p:cNvSpPr/>
          <p:nvPr/>
        </p:nvSpPr>
        <p:spPr>
          <a:xfrm>
            <a:off x="6830568" y="413308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1.06B</a:t>
            </a:r>
            <a:endParaRPr lang="en-US" sz="730" dirty="0"/>
          </a:p>
        </p:txBody>
      </p:sp>
      <p:sp>
        <p:nvSpPr>
          <p:cNvPr id="37" name="Text 35"/>
          <p:cNvSpPr/>
          <p:nvPr/>
        </p:nvSpPr>
        <p:spPr>
          <a:xfrm>
            <a:off x="749808" y="449884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08</a:t>
            </a:r>
            <a:endParaRPr lang="en-US" sz="680" dirty="0"/>
          </a:p>
        </p:txBody>
      </p:sp>
      <p:sp>
        <p:nvSpPr>
          <p:cNvPr id="38" name="Text 36"/>
          <p:cNvSpPr/>
          <p:nvPr/>
        </p:nvSpPr>
        <p:spPr>
          <a:xfrm>
            <a:off x="1124712" y="449884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Giannis</a:t>
            </a:r>
            <a:endParaRPr lang="en-US" sz="820" dirty="0"/>
          </a:p>
        </p:txBody>
      </p:sp>
      <p:sp>
        <p:nvSpPr>
          <p:cNvPr id="39" name="Shape 37"/>
          <p:cNvSpPr/>
          <p:nvPr/>
        </p:nvSpPr>
        <p:spPr>
          <a:xfrm>
            <a:off x="2267712" y="4526280"/>
            <a:ext cx="1231595" cy="164592"/>
          </a:xfrm>
          <a:prstGeom prst="rect">
            <a:avLst/>
          </a:prstGeom>
          <a:solidFill>
            <a:srgbClr val="F2B84B"/>
          </a:solidFill>
          <a:ln w="12700">
            <a:solidFill>
              <a:srgbClr val="F2B84B">
                <a:alpha val="0"/>
              </a:srgbClr>
            </a:solidFill>
            <a:prstDash val="solid"/>
          </a:ln>
        </p:spPr>
      </p:sp>
      <p:sp>
        <p:nvSpPr>
          <p:cNvPr id="40" name="Text 38"/>
          <p:cNvSpPr/>
          <p:nvPr/>
        </p:nvSpPr>
        <p:spPr>
          <a:xfrm>
            <a:off x="6830568" y="449884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0.897B</a:t>
            </a:r>
            <a:endParaRPr lang="en-US" sz="730" dirty="0"/>
          </a:p>
        </p:txBody>
      </p:sp>
      <p:sp>
        <p:nvSpPr>
          <p:cNvPr id="41" name="Text 39"/>
          <p:cNvSpPr/>
          <p:nvPr/>
        </p:nvSpPr>
        <p:spPr>
          <a:xfrm>
            <a:off x="749808" y="486460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09</a:t>
            </a:r>
            <a:endParaRPr lang="en-US" sz="680" dirty="0"/>
          </a:p>
        </p:txBody>
      </p:sp>
      <p:sp>
        <p:nvSpPr>
          <p:cNvPr id="42" name="Text 40"/>
          <p:cNvSpPr/>
          <p:nvPr/>
        </p:nvSpPr>
        <p:spPr>
          <a:xfrm>
            <a:off x="1124712" y="486460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Edwards</a:t>
            </a:r>
            <a:endParaRPr lang="en-US" sz="820" dirty="0"/>
          </a:p>
        </p:txBody>
      </p:sp>
      <p:sp>
        <p:nvSpPr>
          <p:cNvPr id="43" name="Shape 41"/>
          <p:cNvSpPr/>
          <p:nvPr/>
        </p:nvSpPr>
        <p:spPr>
          <a:xfrm>
            <a:off x="2267712" y="4892040"/>
            <a:ext cx="1098412" cy="164592"/>
          </a:xfrm>
          <a:prstGeom prst="rect">
            <a:avLst/>
          </a:prstGeom>
          <a:solidFill>
            <a:srgbClr val="8FC8FF"/>
          </a:solidFill>
          <a:ln w="12700">
            <a:solidFill>
              <a:srgbClr val="8FC8FF">
                <a:alpha val="0"/>
              </a:srgbClr>
            </a:solidFill>
            <a:prstDash val="solid"/>
          </a:ln>
        </p:spPr>
      </p:sp>
      <p:sp>
        <p:nvSpPr>
          <p:cNvPr id="44" name="Text 42"/>
          <p:cNvSpPr/>
          <p:nvPr/>
        </p:nvSpPr>
        <p:spPr>
          <a:xfrm>
            <a:off x="6830568" y="486460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0.800B</a:t>
            </a:r>
            <a:endParaRPr lang="en-US" sz="730" dirty="0"/>
          </a:p>
        </p:txBody>
      </p:sp>
      <p:sp>
        <p:nvSpPr>
          <p:cNvPr id="45" name="Text 43"/>
          <p:cNvSpPr/>
          <p:nvPr/>
        </p:nvSpPr>
        <p:spPr>
          <a:xfrm>
            <a:off x="749808" y="5230368"/>
            <a:ext cx="292608" cy="201168"/>
          </a:xfrm>
          <a:prstGeom prst="rect">
            <a:avLst/>
          </a:prstGeom>
          <a:noFill/>
          <a:ln/>
        </p:spPr>
        <p:txBody>
          <a:bodyPr wrap="square" lIns="254" tIns="254" rIns="254" bIns="254" rtlCol="0" anchor="ctr">
            <a:normAutofit/>
          </a:bodyPr>
          <a:lstStyle/>
          <a:p>
            <a:pPr algn="l" indent="0" marL="0">
              <a:buNone/>
            </a:pPr>
            <a:r>
              <a:rPr lang="en-US" sz="680" b="1" dirty="0">
                <a:solidFill>
                  <a:srgbClr val="708698"/>
                </a:solidFill>
              </a:rPr>
              <a:t>10</a:t>
            </a:r>
            <a:endParaRPr lang="en-US" sz="680" dirty="0"/>
          </a:p>
        </p:txBody>
      </p:sp>
      <p:sp>
        <p:nvSpPr>
          <p:cNvPr id="46" name="Text 44"/>
          <p:cNvSpPr/>
          <p:nvPr/>
        </p:nvSpPr>
        <p:spPr>
          <a:xfrm>
            <a:off x="1124712" y="5230368"/>
            <a:ext cx="1078992" cy="219456"/>
          </a:xfrm>
          <a:prstGeom prst="rect">
            <a:avLst/>
          </a:prstGeom>
          <a:noFill/>
          <a:ln/>
        </p:spPr>
        <p:txBody>
          <a:bodyPr wrap="square" lIns="254" tIns="254" rIns="254" bIns="254" rtlCol="0" anchor="ctr">
            <a:normAutofit/>
          </a:bodyPr>
          <a:lstStyle/>
          <a:p>
            <a:pPr algn="l" indent="0" marL="0">
              <a:buNone/>
            </a:pPr>
            <a:r>
              <a:rPr lang="en-US" sz="820" b="1" dirty="0">
                <a:solidFill>
                  <a:srgbClr val="FFFFFF"/>
                </a:solidFill>
              </a:rPr>
              <a:t>Tatum</a:t>
            </a:r>
            <a:endParaRPr lang="en-US" sz="820" dirty="0"/>
          </a:p>
        </p:txBody>
      </p:sp>
      <p:sp>
        <p:nvSpPr>
          <p:cNvPr id="47" name="Shape 45"/>
          <p:cNvSpPr/>
          <p:nvPr/>
        </p:nvSpPr>
        <p:spPr>
          <a:xfrm>
            <a:off x="2267712" y="5257800"/>
            <a:ext cx="1051730" cy="164592"/>
          </a:xfrm>
          <a:prstGeom prst="rect">
            <a:avLst/>
          </a:prstGeom>
          <a:solidFill>
            <a:srgbClr val="C4B5FD"/>
          </a:solidFill>
          <a:ln w="12700">
            <a:solidFill>
              <a:srgbClr val="C4B5FD">
                <a:alpha val="0"/>
              </a:srgbClr>
            </a:solidFill>
            <a:prstDash val="solid"/>
          </a:ln>
        </p:spPr>
      </p:sp>
      <p:sp>
        <p:nvSpPr>
          <p:cNvPr id="48" name="Text 46"/>
          <p:cNvSpPr/>
          <p:nvPr/>
        </p:nvSpPr>
        <p:spPr>
          <a:xfrm>
            <a:off x="6830568" y="5230368"/>
            <a:ext cx="566928" cy="201168"/>
          </a:xfrm>
          <a:prstGeom prst="rect">
            <a:avLst/>
          </a:prstGeom>
          <a:noFill/>
          <a:ln/>
        </p:spPr>
        <p:txBody>
          <a:bodyPr wrap="square" lIns="254" tIns="254" rIns="254" bIns="254" rtlCol="0" anchor="ctr">
            <a:normAutofit/>
          </a:bodyPr>
          <a:lstStyle/>
          <a:p>
            <a:pPr algn="r" indent="0" marL="0">
              <a:buNone/>
            </a:pPr>
            <a:r>
              <a:rPr lang="en-US" sz="730" b="1" dirty="0">
                <a:solidFill>
                  <a:srgbClr val="A9BAC9"/>
                </a:solidFill>
              </a:rPr>
              <a:t>0.766B</a:t>
            </a:r>
            <a:endParaRPr lang="en-US" sz="730" dirty="0"/>
          </a:p>
        </p:txBody>
      </p:sp>
      <p:sp>
        <p:nvSpPr>
          <p:cNvPr id="49" name="Shape 47"/>
          <p:cNvSpPr/>
          <p:nvPr/>
        </p:nvSpPr>
        <p:spPr>
          <a:xfrm>
            <a:off x="7818120" y="1901952"/>
            <a:ext cx="3520440" cy="3794760"/>
          </a:xfrm>
          <a:prstGeom prst="roundRect">
            <a:avLst>
              <a:gd name="adj" fmla="val 2078"/>
            </a:avLst>
          </a:prstGeom>
          <a:solidFill>
            <a:srgbClr val="081D31"/>
          </a:solidFill>
          <a:ln w="11430">
            <a:solidFill>
              <a:srgbClr val="193B57"/>
            </a:solidFill>
            <a:prstDash val="solid"/>
          </a:ln>
        </p:spPr>
      </p:sp>
      <p:sp>
        <p:nvSpPr>
          <p:cNvPr id="50" name="Text 48"/>
          <p:cNvSpPr/>
          <p:nvPr/>
        </p:nvSpPr>
        <p:spPr>
          <a:xfrm>
            <a:off x="8119872" y="2194560"/>
            <a:ext cx="242316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WHAT THIS DOES FOR US</a:t>
            </a:r>
            <a:endParaRPr lang="en-US" sz="800" dirty="0"/>
          </a:p>
        </p:txBody>
      </p:sp>
      <p:sp>
        <p:nvSpPr>
          <p:cNvPr id="51" name="Text 49"/>
          <p:cNvSpPr/>
          <p:nvPr/>
        </p:nvSpPr>
        <p:spPr>
          <a:xfrm>
            <a:off x="8119872" y="2788920"/>
            <a:ext cx="384048" cy="310896"/>
          </a:xfrm>
          <a:prstGeom prst="rect">
            <a:avLst/>
          </a:prstGeom>
          <a:noFill/>
          <a:ln/>
        </p:spPr>
        <p:txBody>
          <a:bodyPr wrap="square" lIns="254" tIns="254" rIns="254" bIns="254" rtlCol="0" anchor="ctr">
            <a:normAutofit/>
          </a:bodyPr>
          <a:lstStyle/>
          <a:p>
            <a:pPr algn="l" indent="0" marL="0">
              <a:buNone/>
            </a:pPr>
            <a:r>
              <a:rPr lang="en-US" sz="1700" b="1" dirty="0">
                <a:solidFill>
                  <a:srgbClr val="40D9FF"/>
                </a:solidFill>
              </a:rPr>
              <a:t>1</a:t>
            </a:r>
            <a:endParaRPr lang="en-US" sz="1700" dirty="0"/>
          </a:p>
        </p:txBody>
      </p:sp>
      <p:sp>
        <p:nvSpPr>
          <p:cNvPr id="52" name="Text 50"/>
          <p:cNvSpPr/>
          <p:nvPr/>
        </p:nvSpPr>
        <p:spPr>
          <a:xfrm>
            <a:off x="8641080" y="2788920"/>
            <a:ext cx="2240280" cy="310896"/>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External validation target</a:t>
            </a:r>
            <a:endParaRPr lang="en-US" sz="1100" dirty="0"/>
          </a:p>
        </p:txBody>
      </p:sp>
      <p:sp>
        <p:nvSpPr>
          <p:cNvPr id="53" name="Text 51"/>
          <p:cNvSpPr/>
          <p:nvPr/>
        </p:nvSpPr>
        <p:spPr>
          <a:xfrm>
            <a:off x="8119872" y="3502152"/>
            <a:ext cx="384048" cy="310896"/>
          </a:xfrm>
          <a:prstGeom prst="rect">
            <a:avLst/>
          </a:prstGeom>
          <a:noFill/>
          <a:ln/>
        </p:spPr>
        <p:txBody>
          <a:bodyPr wrap="square" lIns="254" tIns="254" rIns="254" bIns="254" rtlCol="0" anchor="ctr">
            <a:normAutofit/>
          </a:bodyPr>
          <a:lstStyle/>
          <a:p>
            <a:pPr algn="l" indent="0" marL="0">
              <a:buNone/>
            </a:pPr>
            <a:r>
              <a:rPr lang="en-US" sz="1700" b="1" dirty="0">
                <a:solidFill>
                  <a:srgbClr val="35D0BA"/>
                </a:solidFill>
              </a:rPr>
              <a:t>2</a:t>
            </a:r>
            <a:endParaRPr lang="en-US" sz="1700" dirty="0"/>
          </a:p>
        </p:txBody>
      </p:sp>
      <p:sp>
        <p:nvSpPr>
          <p:cNvPr id="54" name="Text 52"/>
          <p:cNvSpPr/>
          <p:nvPr/>
        </p:nvSpPr>
        <p:spPr>
          <a:xfrm>
            <a:off x="8641080" y="3474720"/>
            <a:ext cx="2240280" cy="502920"/>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Reality check on follower-only models</a:t>
            </a:r>
            <a:endParaRPr lang="en-US" sz="1100" dirty="0"/>
          </a:p>
        </p:txBody>
      </p:sp>
      <p:sp>
        <p:nvSpPr>
          <p:cNvPr id="55" name="Text 53"/>
          <p:cNvSpPr/>
          <p:nvPr/>
        </p:nvSpPr>
        <p:spPr>
          <a:xfrm>
            <a:off x="8119872" y="4315968"/>
            <a:ext cx="384048" cy="310896"/>
          </a:xfrm>
          <a:prstGeom prst="rect">
            <a:avLst/>
          </a:prstGeom>
          <a:noFill/>
          <a:ln/>
        </p:spPr>
        <p:txBody>
          <a:bodyPr wrap="square" lIns="254" tIns="254" rIns="254" bIns="254" rtlCol="0" anchor="ctr">
            <a:normAutofit/>
          </a:bodyPr>
          <a:lstStyle/>
          <a:p>
            <a:pPr algn="l" indent="0" marL="0">
              <a:buNone/>
            </a:pPr>
            <a:r>
              <a:rPr lang="en-US" sz="1700" b="1" dirty="0">
                <a:solidFill>
                  <a:srgbClr val="F4C95D"/>
                </a:solidFill>
              </a:rPr>
              <a:t>3</a:t>
            </a:r>
            <a:endParaRPr lang="en-US" sz="1700" dirty="0"/>
          </a:p>
        </p:txBody>
      </p:sp>
      <p:sp>
        <p:nvSpPr>
          <p:cNvPr id="56" name="Text 54"/>
          <p:cNvSpPr/>
          <p:nvPr/>
        </p:nvSpPr>
        <p:spPr>
          <a:xfrm>
            <a:off x="8641080" y="4288536"/>
            <a:ext cx="2240280" cy="502920"/>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A way to study attention growth over time</a:t>
            </a:r>
            <a:endParaRPr lang="en-US" sz="1100" dirty="0"/>
          </a:p>
        </p:txBody>
      </p:sp>
      <p:sp>
        <p:nvSpPr>
          <p:cNvPr id="57" name="Shape 55"/>
          <p:cNvSpPr/>
          <p:nvPr/>
        </p:nvSpPr>
        <p:spPr>
          <a:xfrm>
            <a:off x="8119872" y="5120640"/>
            <a:ext cx="2176272" cy="310896"/>
          </a:xfrm>
          <a:prstGeom prst="roundRect">
            <a:avLst>
              <a:gd name="adj" fmla="val 29412"/>
            </a:avLst>
          </a:prstGeom>
          <a:solidFill>
            <a:srgbClr val="00A3FF">
              <a:alpha val="18000"/>
            </a:srgbClr>
          </a:solidFill>
          <a:ln w="7620">
            <a:solidFill>
              <a:srgbClr val="00A3FF">
                <a:alpha val="65000"/>
              </a:srgbClr>
            </a:solidFill>
            <a:prstDash val="solid"/>
          </a:ln>
        </p:spPr>
      </p:sp>
      <p:sp>
        <p:nvSpPr>
          <p:cNvPr id="58" name="Text 56"/>
          <p:cNvSpPr/>
          <p:nvPr/>
        </p:nvSpPr>
        <p:spPr>
          <a:xfrm>
            <a:off x="8174736" y="5157216"/>
            <a:ext cx="2066544"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REAL OUTCOME, NOT OUR SCORE</a:t>
            </a:r>
            <a:endParaRPr lang="en-US" sz="7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VALIDATION</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We do not validate the score with the score.</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Merchandise sales are an independent commercial behavior—perfect for an outside check.</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08</a:t>
            </a:r>
            <a:endParaRPr lang="en-US" sz="580" dirty="0"/>
          </a:p>
        </p:txBody>
      </p:sp>
      <p:sp>
        <p:nvSpPr>
          <p:cNvPr id="8" name="Text 6"/>
          <p:cNvSpPr/>
          <p:nvPr/>
        </p:nvSpPr>
        <p:spPr>
          <a:xfrm>
            <a:off x="2148840" y="6492240"/>
            <a:ext cx="9418320" cy="164592"/>
          </a:xfrm>
          <a:prstGeom prst="rect">
            <a:avLst/>
          </a:prstGeom>
          <a:noFill/>
          <a:ln/>
        </p:spPr>
        <p:txBody>
          <a:bodyPr wrap="square" lIns="0" tIns="0" rIns="0" bIns="0" rtlCol="0" anchor="ctr">
            <a:normAutofit/>
          </a:bodyPr>
          <a:lstStyle/>
          <a:p>
            <a:pPr algn="r" indent="0" marL="0">
              <a:buNone/>
            </a:pPr>
            <a:r>
              <a:rPr lang="en-US" sz="520" dirty="0">
                <a:solidFill>
                  <a:srgbClr val="63798B"/>
                </a:solidFill>
              </a:rPr>
              <a:t>NBA / NBPA official top-selling jersey releases, 2025–26 regular season</a:t>
            </a:r>
            <a:endParaRPr lang="en-US" sz="520" dirty="0"/>
          </a:p>
        </p:txBody>
      </p:sp>
      <p:sp>
        <p:nvSpPr>
          <p:cNvPr id="9" name="Shape 7"/>
          <p:cNvSpPr/>
          <p:nvPr/>
        </p:nvSpPr>
        <p:spPr>
          <a:xfrm>
            <a:off x="713232" y="1874520"/>
            <a:ext cx="5102352" cy="3822192"/>
          </a:xfrm>
          <a:prstGeom prst="roundRect">
            <a:avLst>
              <a:gd name="adj" fmla="val 1914"/>
            </a:avLst>
          </a:prstGeom>
          <a:solidFill>
            <a:srgbClr val="081D31"/>
          </a:solidFill>
          <a:ln w="11430">
            <a:solidFill>
              <a:srgbClr val="193B57"/>
            </a:solidFill>
            <a:prstDash val="solid"/>
          </a:ln>
        </p:spPr>
      </p:sp>
      <p:sp>
        <p:nvSpPr>
          <p:cNvPr id="10" name="Text 8"/>
          <p:cNvSpPr/>
          <p:nvPr/>
        </p:nvSpPr>
        <p:spPr>
          <a:xfrm>
            <a:off x="987552" y="2194560"/>
            <a:ext cx="274320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2025–26 TOP-SELLING JERSEYS</a:t>
            </a:r>
            <a:endParaRPr lang="en-US" sz="800" dirty="0"/>
          </a:p>
        </p:txBody>
      </p:sp>
      <p:sp>
        <p:nvSpPr>
          <p:cNvPr id="11" name="Text 9"/>
          <p:cNvSpPr/>
          <p:nvPr/>
        </p:nvSpPr>
        <p:spPr>
          <a:xfrm>
            <a:off x="987552" y="268833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1</a:t>
            </a:r>
            <a:endParaRPr lang="en-US" sz="800" dirty="0"/>
          </a:p>
        </p:txBody>
      </p:sp>
      <p:sp>
        <p:nvSpPr>
          <p:cNvPr id="12" name="Text 10"/>
          <p:cNvSpPr/>
          <p:nvPr/>
        </p:nvSpPr>
        <p:spPr>
          <a:xfrm>
            <a:off x="1298448" y="268833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Stephen Curry</a:t>
            </a:r>
            <a:endParaRPr lang="en-US" sz="870" dirty="0"/>
          </a:p>
        </p:txBody>
      </p:sp>
      <p:sp>
        <p:nvSpPr>
          <p:cNvPr id="13" name="Text 11"/>
          <p:cNvSpPr/>
          <p:nvPr/>
        </p:nvSpPr>
        <p:spPr>
          <a:xfrm>
            <a:off x="987552" y="319125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2</a:t>
            </a:r>
            <a:endParaRPr lang="en-US" sz="800" dirty="0"/>
          </a:p>
        </p:txBody>
      </p:sp>
      <p:sp>
        <p:nvSpPr>
          <p:cNvPr id="14" name="Text 12"/>
          <p:cNvSpPr/>
          <p:nvPr/>
        </p:nvSpPr>
        <p:spPr>
          <a:xfrm>
            <a:off x="1298448" y="319125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Luka Dončić</a:t>
            </a:r>
            <a:endParaRPr lang="en-US" sz="870" dirty="0"/>
          </a:p>
        </p:txBody>
      </p:sp>
      <p:sp>
        <p:nvSpPr>
          <p:cNvPr id="15" name="Text 13"/>
          <p:cNvSpPr/>
          <p:nvPr/>
        </p:nvSpPr>
        <p:spPr>
          <a:xfrm>
            <a:off x="987552" y="369417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3</a:t>
            </a:r>
            <a:endParaRPr lang="en-US" sz="800" dirty="0"/>
          </a:p>
        </p:txBody>
      </p:sp>
      <p:sp>
        <p:nvSpPr>
          <p:cNvPr id="16" name="Text 14"/>
          <p:cNvSpPr/>
          <p:nvPr/>
        </p:nvSpPr>
        <p:spPr>
          <a:xfrm>
            <a:off x="1298448" y="369417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Jalen Brunson</a:t>
            </a:r>
            <a:endParaRPr lang="en-US" sz="870" dirty="0"/>
          </a:p>
        </p:txBody>
      </p:sp>
      <p:sp>
        <p:nvSpPr>
          <p:cNvPr id="17" name="Text 15"/>
          <p:cNvSpPr/>
          <p:nvPr/>
        </p:nvSpPr>
        <p:spPr>
          <a:xfrm>
            <a:off x="987552" y="419709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4</a:t>
            </a:r>
            <a:endParaRPr lang="en-US" sz="800" dirty="0"/>
          </a:p>
        </p:txBody>
      </p:sp>
      <p:sp>
        <p:nvSpPr>
          <p:cNvPr id="18" name="Text 16"/>
          <p:cNvSpPr/>
          <p:nvPr/>
        </p:nvSpPr>
        <p:spPr>
          <a:xfrm>
            <a:off x="1298448" y="419709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Victor Wembanyama</a:t>
            </a:r>
            <a:endParaRPr lang="en-US" sz="870" dirty="0"/>
          </a:p>
        </p:txBody>
      </p:sp>
      <p:sp>
        <p:nvSpPr>
          <p:cNvPr id="19" name="Text 17"/>
          <p:cNvSpPr/>
          <p:nvPr/>
        </p:nvSpPr>
        <p:spPr>
          <a:xfrm>
            <a:off x="987552" y="470001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5</a:t>
            </a:r>
            <a:endParaRPr lang="en-US" sz="800" dirty="0"/>
          </a:p>
        </p:txBody>
      </p:sp>
      <p:sp>
        <p:nvSpPr>
          <p:cNvPr id="20" name="Text 18"/>
          <p:cNvSpPr/>
          <p:nvPr/>
        </p:nvSpPr>
        <p:spPr>
          <a:xfrm>
            <a:off x="1298448" y="470001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LeBron James</a:t>
            </a:r>
            <a:endParaRPr lang="en-US" sz="870" dirty="0"/>
          </a:p>
        </p:txBody>
      </p:sp>
      <p:sp>
        <p:nvSpPr>
          <p:cNvPr id="21" name="Text 19"/>
          <p:cNvSpPr/>
          <p:nvPr/>
        </p:nvSpPr>
        <p:spPr>
          <a:xfrm>
            <a:off x="3227832" y="268833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6</a:t>
            </a:r>
            <a:endParaRPr lang="en-US" sz="800" dirty="0"/>
          </a:p>
        </p:txBody>
      </p:sp>
      <p:sp>
        <p:nvSpPr>
          <p:cNvPr id="22" name="Text 20"/>
          <p:cNvSpPr/>
          <p:nvPr/>
        </p:nvSpPr>
        <p:spPr>
          <a:xfrm>
            <a:off x="3538728" y="268833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Anthony Edwards</a:t>
            </a:r>
            <a:endParaRPr lang="en-US" sz="870" dirty="0"/>
          </a:p>
        </p:txBody>
      </p:sp>
      <p:sp>
        <p:nvSpPr>
          <p:cNvPr id="23" name="Text 21"/>
          <p:cNvSpPr/>
          <p:nvPr/>
        </p:nvSpPr>
        <p:spPr>
          <a:xfrm>
            <a:off x="3227832" y="319125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7</a:t>
            </a:r>
            <a:endParaRPr lang="en-US" sz="800" dirty="0"/>
          </a:p>
        </p:txBody>
      </p:sp>
      <p:sp>
        <p:nvSpPr>
          <p:cNvPr id="24" name="Text 22"/>
          <p:cNvSpPr/>
          <p:nvPr/>
        </p:nvSpPr>
        <p:spPr>
          <a:xfrm>
            <a:off x="3538728" y="319125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Jayson Tatum</a:t>
            </a:r>
            <a:endParaRPr lang="en-US" sz="870" dirty="0"/>
          </a:p>
        </p:txBody>
      </p:sp>
      <p:sp>
        <p:nvSpPr>
          <p:cNvPr id="25" name="Text 23"/>
          <p:cNvSpPr/>
          <p:nvPr/>
        </p:nvSpPr>
        <p:spPr>
          <a:xfrm>
            <a:off x="3227832" y="369417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8</a:t>
            </a:r>
            <a:endParaRPr lang="en-US" sz="800" dirty="0"/>
          </a:p>
        </p:txBody>
      </p:sp>
      <p:sp>
        <p:nvSpPr>
          <p:cNvPr id="26" name="Text 24"/>
          <p:cNvSpPr/>
          <p:nvPr/>
        </p:nvSpPr>
        <p:spPr>
          <a:xfrm>
            <a:off x="3538728" y="369417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Shai Gilgeous-Alexander</a:t>
            </a:r>
            <a:endParaRPr lang="en-US" sz="870" dirty="0"/>
          </a:p>
        </p:txBody>
      </p:sp>
      <p:sp>
        <p:nvSpPr>
          <p:cNvPr id="27" name="Text 25"/>
          <p:cNvSpPr/>
          <p:nvPr/>
        </p:nvSpPr>
        <p:spPr>
          <a:xfrm>
            <a:off x="3227832" y="4197096"/>
            <a:ext cx="256032" cy="219456"/>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9</a:t>
            </a:r>
            <a:endParaRPr lang="en-US" sz="800" dirty="0"/>
          </a:p>
        </p:txBody>
      </p:sp>
      <p:sp>
        <p:nvSpPr>
          <p:cNvPr id="28" name="Text 26"/>
          <p:cNvSpPr/>
          <p:nvPr/>
        </p:nvSpPr>
        <p:spPr>
          <a:xfrm>
            <a:off x="3538728" y="4197096"/>
            <a:ext cx="1773936" cy="219456"/>
          </a:xfrm>
          <a:prstGeom prst="rect">
            <a:avLst/>
          </a:prstGeom>
          <a:noFill/>
          <a:ln/>
        </p:spPr>
        <p:txBody>
          <a:bodyPr wrap="square" lIns="254" tIns="254" rIns="254" bIns="254" rtlCol="0" anchor="ctr">
            <a:normAutofit/>
          </a:bodyPr>
          <a:lstStyle/>
          <a:p>
            <a:pPr algn="l" indent="0" marL="0">
              <a:buNone/>
            </a:pPr>
            <a:r>
              <a:rPr lang="en-US" sz="870" b="1" dirty="0">
                <a:solidFill>
                  <a:srgbClr val="FFFFFF"/>
                </a:solidFill>
              </a:rPr>
              <a:t>Cooper Flagg</a:t>
            </a:r>
            <a:endParaRPr lang="en-US" sz="870" dirty="0"/>
          </a:p>
        </p:txBody>
      </p:sp>
      <p:sp>
        <p:nvSpPr>
          <p:cNvPr id="29" name="Shape 27"/>
          <p:cNvSpPr/>
          <p:nvPr/>
        </p:nvSpPr>
        <p:spPr>
          <a:xfrm>
            <a:off x="6172200" y="1874520"/>
            <a:ext cx="5166360" cy="3822192"/>
          </a:xfrm>
          <a:prstGeom prst="roundRect">
            <a:avLst>
              <a:gd name="adj" fmla="val 1914"/>
            </a:avLst>
          </a:prstGeom>
          <a:solidFill>
            <a:srgbClr val="0B2741"/>
          </a:solidFill>
          <a:ln w="11430">
            <a:solidFill>
              <a:srgbClr val="193B57"/>
            </a:solidFill>
            <a:prstDash val="solid"/>
          </a:ln>
        </p:spPr>
      </p:sp>
      <p:sp>
        <p:nvSpPr>
          <p:cNvPr id="30" name="Text 28"/>
          <p:cNvSpPr/>
          <p:nvPr/>
        </p:nvSpPr>
        <p:spPr>
          <a:xfrm>
            <a:off x="6492240" y="2194560"/>
            <a:ext cx="2194560" cy="256032"/>
          </a:xfrm>
          <a:prstGeom prst="rect">
            <a:avLst/>
          </a:prstGeom>
          <a:noFill/>
          <a:ln/>
        </p:spPr>
        <p:txBody>
          <a:bodyPr wrap="square" lIns="254" tIns="254" rIns="254" bIns="254" rtlCol="0" anchor="ctr">
            <a:normAutofit/>
          </a:bodyPr>
          <a:lstStyle/>
          <a:p>
            <a:pPr algn="l" indent="0" marL="0">
              <a:buNone/>
            </a:pPr>
            <a:r>
              <a:rPr lang="en-US" sz="800" b="1" dirty="0">
                <a:solidFill>
                  <a:srgbClr val="35D0BA"/>
                </a:solidFill>
              </a:rPr>
              <a:t>VALIDATION PLAN</a:t>
            </a:r>
            <a:endParaRPr lang="en-US" sz="800" dirty="0"/>
          </a:p>
        </p:txBody>
      </p:sp>
      <p:sp>
        <p:nvSpPr>
          <p:cNvPr id="31" name="Text 29"/>
          <p:cNvSpPr/>
          <p:nvPr/>
        </p:nvSpPr>
        <p:spPr>
          <a:xfrm>
            <a:off x="6492240" y="2697480"/>
            <a:ext cx="402336" cy="237744"/>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01</a:t>
            </a:r>
            <a:endParaRPr lang="en-US" sz="800" dirty="0"/>
          </a:p>
        </p:txBody>
      </p:sp>
      <p:sp>
        <p:nvSpPr>
          <p:cNvPr id="32" name="Text 30"/>
          <p:cNvSpPr/>
          <p:nvPr/>
        </p:nvSpPr>
        <p:spPr>
          <a:xfrm>
            <a:off x="7059168" y="2697480"/>
            <a:ext cx="3703320" cy="25603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Build score without jersey sales</a:t>
            </a:r>
            <a:endParaRPr lang="en-US" sz="1050" dirty="0"/>
          </a:p>
        </p:txBody>
      </p:sp>
      <p:sp>
        <p:nvSpPr>
          <p:cNvPr id="33" name="Text 31"/>
          <p:cNvSpPr/>
          <p:nvPr/>
        </p:nvSpPr>
        <p:spPr>
          <a:xfrm>
            <a:off x="6492240" y="3227832"/>
            <a:ext cx="402336" cy="237744"/>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02</a:t>
            </a:r>
            <a:endParaRPr lang="en-US" sz="800" dirty="0"/>
          </a:p>
        </p:txBody>
      </p:sp>
      <p:sp>
        <p:nvSpPr>
          <p:cNvPr id="34" name="Text 32"/>
          <p:cNvSpPr/>
          <p:nvPr/>
        </p:nvSpPr>
        <p:spPr>
          <a:xfrm>
            <a:off x="7059168" y="3227832"/>
            <a:ext cx="3703320" cy="25603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Predict commercial rank / tier</a:t>
            </a:r>
            <a:endParaRPr lang="en-US" sz="1050" dirty="0"/>
          </a:p>
        </p:txBody>
      </p:sp>
      <p:sp>
        <p:nvSpPr>
          <p:cNvPr id="35" name="Text 33"/>
          <p:cNvSpPr/>
          <p:nvPr/>
        </p:nvSpPr>
        <p:spPr>
          <a:xfrm>
            <a:off x="6492240" y="3758184"/>
            <a:ext cx="402336" cy="237744"/>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03</a:t>
            </a:r>
            <a:endParaRPr lang="en-US" sz="800" dirty="0"/>
          </a:p>
        </p:txBody>
      </p:sp>
      <p:sp>
        <p:nvSpPr>
          <p:cNvPr id="36" name="Text 34"/>
          <p:cNvSpPr/>
          <p:nvPr/>
        </p:nvSpPr>
        <p:spPr>
          <a:xfrm>
            <a:off x="7059168" y="3758184"/>
            <a:ext cx="3703320" cy="25603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Compare with observed sales rank</a:t>
            </a:r>
            <a:endParaRPr lang="en-US" sz="1050" dirty="0"/>
          </a:p>
        </p:txBody>
      </p:sp>
      <p:sp>
        <p:nvSpPr>
          <p:cNvPr id="37" name="Text 35"/>
          <p:cNvSpPr/>
          <p:nvPr/>
        </p:nvSpPr>
        <p:spPr>
          <a:xfrm>
            <a:off x="6492240" y="4288536"/>
            <a:ext cx="402336" cy="237744"/>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04</a:t>
            </a:r>
            <a:endParaRPr lang="en-US" sz="800" dirty="0"/>
          </a:p>
        </p:txBody>
      </p:sp>
      <p:sp>
        <p:nvSpPr>
          <p:cNvPr id="38" name="Text 36"/>
          <p:cNvSpPr/>
          <p:nvPr/>
        </p:nvSpPr>
        <p:spPr>
          <a:xfrm>
            <a:off x="7059168" y="4288536"/>
            <a:ext cx="3703320" cy="25603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Inspect the biggest misses</a:t>
            </a:r>
            <a:endParaRPr lang="en-US" sz="1050" dirty="0"/>
          </a:p>
        </p:txBody>
      </p:sp>
      <p:sp>
        <p:nvSpPr>
          <p:cNvPr id="39" name="Text 37"/>
          <p:cNvSpPr/>
          <p:nvPr/>
        </p:nvSpPr>
        <p:spPr>
          <a:xfrm>
            <a:off x="6492240" y="4818888"/>
            <a:ext cx="402336" cy="237744"/>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05</a:t>
            </a:r>
            <a:endParaRPr lang="en-US" sz="800" dirty="0"/>
          </a:p>
        </p:txBody>
      </p:sp>
      <p:sp>
        <p:nvSpPr>
          <p:cNvPr id="40" name="Text 38"/>
          <p:cNvSpPr/>
          <p:nvPr/>
        </p:nvSpPr>
        <p:spPr>
          <a:xfrm>
            <a:off x="7059168" y="4818888"/>
            <a:ext cx="3703320" cy="256032"/>
          </a:xfrm>
          <a:prstGeom prst="rect">
            <a:avLst/>
          </a:prstGeom>
          <a:noFill/>
          <a:ln/>
        </p:spPr>
        <p:txBody>
          <a:bodyPr wrap="square" lIns="254" tIns="254" rIns="254" bIns="254" rtlCol="0" anchor="ctr">
            <a:normAutofit/>
          </a:bodyPr>
          <a:lstStyle/>
          <a:p>
            <a:pPr algn="l" indent="0" marL="0">
              <a:buNone/>
            </a:pPr>
            <a:r>
              <a:rPr lang="en-US" sz="1050" b="1" dirty="0">
                <a:solidFill>
                  <a:srgbClr val="FFFFFF"/>
                </a:solidFill>
              </a:rPr>
              <a:t>Tune only on training periods</a:t>
            </a:r>
            <a:endParaRPr lang="en-US" sz="1050" dirty="0"/>
          </a:p>
        </p:txBody>
      </p:sp>
      <p:sp>
        <p:nvSpPr>
          <p:cNvPr id="41" name="Shape 39"/>
          <p:cNvSpPr/>
          <p:nvPr/>
        </p:nvSpPr>
        <p:spPr>
          <a:xfrm>
            <a:off x="6492240" y="5285232"/>
            <a:ext cx="2487168" cy="310896"/>
          </a:xfrm>
          <a:prstGeom prst="roundRect">
            <a:avLst>
              <a:gd name="adj" fmla="val 29412"/>
            </a:avLst>
          </a:prstGeom>
          <a:solidFill>
            <a:srgbClr val="35D0BA">
              <a:alpha val="18000"/>
            </a:srgbClr>
          </a:solidFill>
          <a:ln w="7620">
            <a:solidFill>
              <a:srgbClr val="35D0BA">
                <a:alpha val="65000"/>
              </a:srgbClr>
            </a:solidFill>
            <a:prstDash val="solid"/>
          </a:ln>
        </p:spPr>
      </p:sp>
      <p:sp>
        <p:nvSpPr>
          <p:cNvPr id="42" name="Text 40"/>
          <p:cNvSpPr/>
          <p:nvPr/>
        </p:nvSpPr>
        <p:spPr>
          <a:xfrm>
            <a:off x="6547104" y="5321808"/>
            <a:ext cx="2377440"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SPEARMAN ρ  +  TOP-K HIT RATE</a:t>
            </a:r>
            <a:endParaRPr lang="en-US" sz="7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ROBUSTNESS</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A good recommendation should survive a reasonable argument about weights.</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Sensitivity testing turns “why 20%?” from a weakness into a testable question.</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09</a:t>
            </a:r>
            <a:endParaRPr lang="en-US" sz="580" dirty="0"/>
          </a:p>
        </p:txBody>
      </p:sp>
      <p:sp>
        <p:nvSpPr>
          <p:cNvPr id="8" name="Shape 6"/>
          <p:cNvSpPr/>
          <p:nvPr/>
        </p:nvSpPr>
        <p:spPr>
          <a:xfrm>
            <a:off x="713232" y="1874520"/>
            <a:ext cx="6812280" cy="3822192"/>
          </a:xfrm>
          <a:prstGeom prst="roundRect">
            <a:avLst>
              <a:gd name="adj" fmla="val 1914"/>
            </a:avLst>
          </a:prstGeom>
          <a:solidFill>
            <a:srgbClr val="081D31"/>
          </a:solidFill>
          <a:ln w="11430">
            <a:solidFill>
              <a:srgbClr val="193B57"/>
            </a:solidFill>
            <a:prstDash val="solid"/>
          </a:ln>
        </p:spPr>
      </p:sp>
      <p:sp>
        <p:nvSpPr>
          <p:cNvPr id="9" name="Text 7"/>
          <p:cNvSpPr/>
          <p:nvPr/>
        </p:nvSpPr>
        <p:spPr>
          <a:xfrm>
            <a:off x="987552" y="2176272"/>
            <a:ext cx="502920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RANK STABILITY UNDER ±10-POINT WEIGHT SHIFTS</a:t>
            </a:r>
            <a:endParaRPr lang="en-US" sz="800" dirty="0"/>
          </a:p>
        </p:txBody>
      </p:sp>
      <p:sp>
        <p:nvSpPr>
          <p:cNvPr id="10" name="Text 8"/>
          <p:cNvSpPr/>
          <p:nvPr/>
        </p:nvSpPr>
        <p:spPr>
          <a:xfrm>
            <a:off x="987552" y="2788920"/>
            <a:ext cx="1600200" cy="219456"/>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Top opportunity A</a:t>
            </a:r>
            <a:endParaRPr lang="en-US" sz="850" dirty="0"/>
          </a:p>
        </p:txBody>
      </p:sp>
      <p:sp>
        <p:nvSpPr>
          <p:cNvPr id="11" name="Shape 9"/>
          <p:cNvSpPr/>
          <p:nvPr/>
        </p:nvSpPr>
        <p:spPr>
          <a:xfrm>
            <a:off x="2651760" y="2898648"/>
            <a:ext cx="4160520" cy="0"/>
          </a:xfrm>
          <a:prstGeom prst="line">
            <a:avLst/>
          </a:prstGeom>
          <a:noFill/>
          <a:ln w="50800">
            <a:solidFill>
              <a:srgbClr val="193B57"/>
            </a:solidFill>
            <a:prstDash val="solid"/>
          </a:ln>
        </p:spPr>
      </p:sp>
      <p:sp>
        <p:nvSpPr>
          <p:cNvPr id="12" name="Shape 10"/>
          <p:cNvSpPr/>
          <p:nvPr/>
        </p:nvSpPr>
        <p:spPr>
          <a:xfrm>
            <a:off x="3017520" y="2898648"/>
            <a:ext cx="2651760" cy="0"/>
          </a:xfrm>
          <a:prstGeom prst="line">
            <a:avLst/>
          </a:prstGeom>
          <a:noFill/>
          <a:ln w="76200">
            <a:solidFill>
              <a:srgbClr val="35D0BA"/>
            </a:solidFill>
            <a:prstDash val="solid"/>
            <a:headEnd type="none"/>
            <a:tailEnd type="none"/>
          </a:ln>
        </p:spPr>
      </p:sp>
      <p:sp>
        <p:nvSpPr>
          <p:cNvPr id="13" name="Text 11"/>
          <p:cNvSpPr/>
          <p:nvPr/>
        </p:nvSpPr>
        <p:spPr>
          <a:xfrm>
            <a:off x="987552" y="3401568"/>
            <a:ext cx="1600200" cy="219456"/>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Top opportunity B</a:t>
            </a:r>
            <a:endParaRPr lang="en-US" sz="850" dirty="0"/>
          </a:p>
        </p:txBody>
      </p:sp>
      <p:sp>
        <p:nvSpPr>
          <p:cNvPr id="14" name="Shape 12"/>
          <p:cNvSpPr/>
          <p:nvPr/>
        </p:nvSpPr>
        <p:spPr>
          <a:xfrm>
            <a:off x="2651760" y="3511296"/>
            <a:ext cx="4160520" cy="0"/>
          </a:xfrm>
          <a:prstGeom prst="line">
            <a:avLst/>
          </a:prstGeom>
          <a:noFill/>
          <a:ln w="50800">
            <a:solidFill>
              <a:srgbClr val="193B57"/>
            </a:solidFill>
            <a:prstDash val="solid"/>
          </a:ln>
        </p:spPr>
      </p:sp>
      <p:sp>
        <p:nvSpPr>
          <p:cNvPr id="15" name="Shape 13"/>
          <p:cNvSpPr/>
          <p:nvPr/>
        </p:nvSpPr>
        <p:spPr>
          <a:xfrm>
            <a:off x="3657600" y="3511296"/>
            <a:ext cx="2194560" cy="0"/>
          </a:xfrm>
          <a:prstGeom prst="line">
            <a:avLst/>
          </a:prstGeom>
          <a:noFill/>
          <a:ln w="76200">
            <a:solidFill>
              <a:srgbClr val="00A3FF"/>
            </a:solidFill>
            <a:prstDash val="solid"/>
            <a:headEnd type="none"/>
            <a:tailEnd type="none"/>
          </a:ln>
        </p:spPr>
      </p:sp>
      <p:sp>
        <p:nvSpPr>
          <p:cNvPr id="16" name="Text 14"/>
          <p:cNvSpPr/>
          <p:nvPr/>
        </p:nvSpPr>
        <p:spPr>
          <a:xfrm>
            <a:off x="987552" y="4014216"/>
            <a:ext cx="1600200" cy="219456"/>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Top opportunity C</a:t>
            </a:r>
            <a:endParaRPr lang="en-US" sz="850" dirty="0"/>
          </a:p>
        </p:txBody>
      </p:sp>
      <p:sp>
        <p:nvSpPr>
          <p:cNvPr id="17" name="Shape 15"/>
          <p:cNvSpPr/>
          <p:nvPr/>
        </p:nvSpPr>
        <p:spPr>
          <a:xfrm>
            <a:off x="2651760" y="4123944"/>
            <a:ext cx="4160520" cy="0"/>
          </a:xfrm>
          <a:prstGeom prst="line">
            <a:avLst/>
          </a:prstGeom>
          <a:noFill/>
          <a:ln w="50800">
            <a:solidFill>
              <a:srgbClr val="193B57"/>
            </a:solidFill>
            <a:prstDash val="solid"/>
          </a:ln>
        </p:spPr>
      </p:sp>
      <p:sp>
        <p:nvSpPr>
          <p:cNvPr id="18" name="Shape 16"/>
          <p:cNvSpPr/>
          <p:nvPr/>
        </p:nvSpPr>
        <p:spPr>
          <a:xfrm>
            <a:off x="4297680" y="4123944"/>
            <a:ext cx="1828800" cy="0"/>
          </a:xfrm>
          <a:prstGeom prst="line">
            <a:avLst/>
          </a:prstGeom>
          <a:noFill/>
          <a:ln w="76200">
            <a:solidFill>
              <a:srgbClr val="F4C95D"/>
            </a:solidFill>
            <a:prstDash val="solid"/>
            <a:headEnd type="none"/>
            <a:tailEnd type="none"/>
          </a:ln>
        </p:spPr>
      </p:sp>
      <p:sp>
        <p:nvSpPr>
          <p:cNvPr id="19" name="Text 17"/>
          <p:cNvSpPr/>
          <p:nvPr/>
        </p:nvSpPr>
        <p:spPr>
          <a:xfrm>
            <a:off x="987552" y="4626864"/>
            <a:ext cx="1600200" cy="219456"/>
          </a:xfrm>
          <a:prstGeom prst="rect">
            <a:avLst/>
          </a:prstGeom>
          <a:noFill/>
          <a:ln/>
        </p:spPr>
        <p:txBody>
          <a:bodyPr wrap="square" lIns="254" tIns="254" rIns="254" bIns="254" rtlCol="0" anchor="ctr">
            <a:normAutofit/>
          </a:bodyPr>
          <a:lstStyle/>
          <a:p>
            <a:pPr algn="l" indent="0" marL="0">
              <a:buNone/>
            </a:pPr>
            <a:r>
              <a:rPr lang="en-US" sz="850" b="1" dirty="0">
                <a:solidFill>
                  <a:srgbClr val="A9BAC9"/>
                </a:solidFill>
              </a:rPr>
              <a:t>Top opportunity D</a:t>
            </a:r>
            <a:endParaRPr lang="en-US" sz="850" dirty="0"/>
          </a:p>
        </p:txBody>
      </p:sp>
      <p:sp>
        <p:nvSpPr>
          <p:cNvPr id="20" name="Shape 18"/>
          <p:cNvSpPr/>
          <p:nvPr/>
        </p:nvSpPr>
        <p:spPr>
          <a:xfrm>
            <a:off x="2651760" y="4736592"/>
            <a:ext cx="4160520" cy="0"/>
          </a:xfrm>
          <a:prstGeom prst="line">
            <a:avLst/>
          </a:prstGeom>
          <a:noFill/>
          <a:ln w="50800">
            <a:solidFill>
              <a:srgbClr val="193B57"/>
            </a:solidFill>
            <a:prstDash val="solid"/>
          </a:ln>
        </p:spPr>
      </p:sp>
      <p:sp>
        <p:nvSpPr>
          <p:cNvPr id="21" name="Shape 19"/>
          <p:cNvSpPr/>
          <p:nvPr/>
        </p:nvSpPr>
        <p:spPr>
          <a:xfrm>
            <a:off x="5074920" y="4736592"/>
            <a:ext cx="1280160" cy="0"/>
          </a:xfrm>
          <a:prstGeom prst="line">
            <a:avLst/>
          </a:prstGeom>
          <a:noFill/>
          <a:ln w="76200">
            <a:solidFill>
              <a:srgbClr val="9B8CFF"/>
            </a:solidFill>
            <a:prstDash val="solid"/>
            <a:headEnd type="none"/>
            <a:tailEnd type="none"/>
          </a:ln>
        </p:spPr>
      </p:sp>
      <p:sp>
        <p:nvSpPr>
          <p:cNvPr id="22" name="Shape 20"/>
          <p:cNvSpPr/>
          <p:nvPr/>
        </p:nvSpPr>
        <p:spPr>
          <a:xfrm>
            <a:off x="7863840" y="1874520"/>
            <a:ext cx="3493008" cy="3822192"/>
          </a:xfrm>
          <a:prstGeom prst="roundRect">
            <a:avLst>
              <a:gd name="adj" fmla="val 2094"/>
            </a:avLst>
          </a:prstGeom>
          <a:solidFill>
            <a:srgbClr val="0B2741"/>
          </a:solidFill>
          <a:ln w="11430">
            <a:solidFill>
              <a:srgbClr val="193B57"/>
            </a:solidFill>
            <a:prstDash val="solid"/>
          </a:ln>
        </p:spPr>
      </p:sp>
      <p:sp>
        <p:nvSpPr>
          <p:cNvPr id="23" name="Text 21"/>
          <p:cNvSpPr/>
          <p:nvPr/>
        </p:nvSpPr>
        <p:spPr>
          <a:xfrm>
            <a:off x="8174736" y="2212848"/>
            <a:ext cx="2011680" cy="256032"/>
          </a:xfrm>
          <a:prstGeom prst="rect">
            <a:avLst/>
          </a:prstGeom>
          <a:noFill/>
          <a:ln/>
        </p:spPr>
        <p:txBody>
          <a:bodyPr wrap="square" lIns="254" tIns="254" rIns="254" bIns="254" rtlCol="0" anchor="ctr">
            <a:normAutofit/>
          </a:bodyPr>
          <a:lstStyle/>
          <a:p>
            <a:pPr algn="l" indent="0" marL="0">
              <a:buNone/>
            </a:pPr>
            <a:r>
              <a:rPr lang="en-US" sz="800" b="1" dirty="0">
                <a:solidFill>
                  <a:srgbClr val="35D0BA"/>
                </a:solidFill>
              </a:rPr>
              <a:t>DECISION RULE</a:t>
            </a:r>
            <a:endParaRPr lang="en-US" sz="800" dirty="0"/>
          </a:p>
        </p:txBody>
      </p:sp>
      <p:sp>
        <p:nvSpPr>
          <p:cNvPr id="24" name="Text 22"/>
          <p:cNvSpPr/>
          <p:nvPr/>
        </p:nvSpPr>
        <p:spPr>
          <a:xfrm>
            <a:off x="8174736" y="2761488"/>
            <a:ext cx="2578608" cy="960120"/>
          </a:xfrm>
          <a:prstGeom prst="rect">
            <a:avLst/>
          </a:prstGeom>
          <a:noFill/>
          <a:ln/>
        </p:spPr>
        <p:txBody>
          <a:bodyPr wrap="square" lIns="254" tIns="254" rIns="254" bIns="254" rtlCol="0" anchor="ctr">
            <a:normAutofit/>
          </a:bodyPr>
          <a:lstStyle/>
          <a:p>
            <a:pPr algn="l" indent="0" marL="0">
              <a:buNone/>
            </a:pPr>
            <a:r>
              <a:rPr lang="en-US" sz="1400" b="1" dirty="0">
                <a:solidFill>
                  <a:srgbClr val="FFFFFF"/>
                </a:solidFill>
              </a:rPr>
              <a:t>Keep the recommendation only if it stays near the top across plausible weight choices.</a:t>
            </a:r>
            <a:endParaRPr lang="en-US" sz="1400" dirty="0"/>
          </a:p>
        </p:txBody>
      </p:sp>
      <p:sp>
        <p:nvSpPr>
          <p:cNvPr id="25" name="Text 23"/>
          <p:cNvSpPr/>
          <p:nvPr/>
        </p:nvSpPr>
        <p:spPr>
          <a:xfrm>
            <a:off x="8174736" y="4078224"/>
            <a:ext cx="2578608" cy="685800"/>
          </a:xfrm>
          <a:prstGeom prst="rect">
            <a:avLst/>
          </a:prstGeom>
          <a:noFill/>
          <a:ln/>
        </p:spPr>
        <p:txBody>
          <a:bodyPr wrap="square" lIns="254" tIns="254" rIns="254" bIns="254" rtlCol="0" anchor="ctr">
            <a:normAutofit/>
          </a:bodyPr>
          <a:lstStyle/>
          <a:p>
            <a:pPr algn="l" indent="0" marL="0">
              <a:buNone/>
            </a:pPr>
            <a:r>
              <a:rPr lang="en-US" sz="1000" dirty="0">
                <a:solidFill>
                  <a:srgbClr val="A9BAC9"/>
                </a:solidFill>
              </a:rPr>
              <a:t>That protects the story from one arbitrary coefficient.</a:t>
            </a:r>
            <a:endParaRPr lang="en-US" sz="1000" dirty="0"/>
          </a:p>
        </p:txBody>
      </p:sp>
      <p:sp>
        <p:nvSpPr>
          <p:cNvPr id="26" name="Shape 24"/>
          <p:cNvSpPr/>
          <p:nvPr/>
        </p:nvSpPr>
        <p:spPr>
          <a:xfrm>
            <a:off x="8174736" y="5047488"/>
            <a:ext cx="1664208" cy="310896"/>
          </a:xfrm>
          <a:prstGeom prst="roundRect">
            <a:avLst>
              <a:gd name="adj" fmla="val 29412"/>
            </a:avLst>
          </a:prstGeom>
          <a:solidFill>
            <a:srgbClr val="35D0BA">
              <a:alpha val="18000"/>
            </a:srgbClr>
          </a:solidFill>
          <a:ln w="7620">
            <a:solidFill>
              <a:srgbClr val="35D0BA">
                <a:alpha val="65000"/>
              </a:srgbClr>
            </a:solidFill>
            <a:prstDash val="solid"/>
          </a:ln>
        </p:spPr>
      </p:sp>
      <p:sp>
        <p:nvSpPr>
          <p:cNvPr id="27" name="Text 25"/>
          <p:cNvSpPr/>
          <p:nvPr/>
        </p:nvSpPr>
        <p:spPr>
          <a:xfrm>
            <a:off x="8229600" y="5084064"/>
            <a:ext cx="1554480"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ROBUST &gt; PRECISE</a:t>
            </a:r>
            <a:endParaRPr lang="en-US" sz="7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PRODUCT</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The dashboard makes the model reusable—not just presentable.</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One screen for player search, comparison, weight sensitivity, and the opportunity map.</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10</a:t>
            </a:r>
            <a:endParaRPr lang="en-US" sz="580" dirty="0"/>
          </a:p>
        </p:txBody>
      </p:sp>
      <p:sp>
        <p:nvSpPr>
          <p:cNvPr id="8" name="Shape 6"/>
          <p:cNvSpPr/>
          <p:nvPr/>
        </p:nvSpPr>
        <p:spPr>
          <a:xfrm>
            <a:off x="713232" y="1810512"/>
            <a:ext cx="7818120" cy="4270248"/>
          </a:xfrm>
          <a:prstGeom prst="roundRect">
            <a:avLst>
              <a:gd name="adj" fmla="val 1713"/>
            </a:avLst>
          </a:prstGeom>
          <a:solidFill>
            <a:srgbClr val="071828"/>
          </a:solidFill>
          <a:ln w="11430">
            <a:solidFill>
              <a:srgbClr val="193B57"/>
            </a:solidFill>
            <a:prstDash val="solid"/>
          </a:ln>
        </p:spPr>
      </p:sp>
      <p:sp>
        <p:nvSpPr>
          <p:cNvPr id="9" name="Text 7"/>
          <p:cNvSpPr/>
          <p:nvPr/>
        </p:nvSpPr>
        <p:spPr>
          <a:xfrm>
            <a:off x="987552" y="2057400"/>
            <a:ext cx="384048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MAV METRICS / PLAYER EXPLORER</a:t>
            </a:r>
            <a:endParaRPr lang="en-US" sz="800" dirty="0"/>
          </a:p>
        </p:txBody>
      </p:sp>
      <p:sp>
        <p:nvSpPr>
          <p:cNvPr id="10" name="Shape 8"/>
          <p:cNvSpPr/>
          <p:nvPr/>
        </p:nvSpPr>
        <p:spPr>
          <a:xfrm>
            <a:off x="987552" y="2514600"/>
            <a:ext cx="2057400" cy="3081528"/>
          </a:xfrm>
          <a:prstGeom prst="roundRect">
            <a:avLst>
              <a:gd name="adj" fmla="val 3556"/>
            </a:avLst>
          </a:prstGeom>
          <a:solidFill>
            <a:srgbClr val="0B2741"/>
          </a:solidFill>
          <a:ln w="11430">
            <a:solidFill>
              <a:srgbClr val="193B57"/>
            </a:solidFill>
            <a:prstDash val="solid"/>
          </a:ln>
        </p:spPr>
      </p:sp>
      <p:sp>
        <p:nvSpPr>
          <p:cNvPr id="11" name="Text 9"/>
          <p:cNvSpPr/>
          <p:nvPr/>
        </p:nvSpPr>
        <p:spPr>
          <a:xfrm>
            <a:off x="1207008" y="2743200"/>
            <a:ext cx="731520" cy="201168"/>
          </a:xfrm>
          <a:prstGeom prst="rect">
            <a:avLst/>
          </a:prstGeom>
          <a:noFill/>
          <a:ln/>
        </p:spPr>
        <p:txBody>
          <a:bodyPr wrap="square" lIns="254" tIns="254" rIns="254" bIns="254" rtlCol="0" anchor="ctr">
            <a:normAutofit/>
          </a:bodyPr>
          <a:lstStyle/>
          <a:p>
            <a:pPr algn="l" indent="0" marL="0">
              <a:buNone/>
            </a:pPr>
            <a:r>
              <a:rPr lang="en-US" sz="700" b="1" dirty="0">
                <a:solidFill>
                  <a:srgbClr val="A9BAC9"/>
                </a:solidFill>
              </a:rPr>
              <a:t>FILTER</a:t>
            </a:r>
            <a:endParaRPr lang="en-US" sz="700" dirty="0"/>
          </a:p>
        </p:txBody>
      </p:sp>
      <p:sp>
        <p:nvSpPr>
          <p:cNvPr id="12" name="Shape 10"/>
          <p:cNvSpPr/>
          <p:nvPr/>
        </p:nvSpPr>
        <p:spPr>
          <a:xfrm>
            <a:off x="1207008" y="3163824"/>
            <a:ext cx="960120" cy="310896"/>
          </a:xfrm>
          <a:prstGeom prst="roundRect">
            <a:avLst>
              <a:gd name="adj" fmla="val 29412"/>
            </a:avLst>
          </a:prstGeom>
          <a:solidFill>
            <a:srgbClr val="00A3FF">
              <a:alpha val="18000"/>
            </a:srgbClr>
          </a:solidFill>
          <a:ln w="7620">
            <a:solidFill>
              <a:srgbClr val="00A3FF">
                <a:alpha val="65000"/>
              </a:srgbClr>
            </a:solidFill>
            <a:prstDash val="solid"/>
          </a:ln>
        </p:spPr>
      </p:sp>
      <p:sp>
        <p:nvSpPr>
          <p:cNvPr id="13" name="Text 11"/>
          <p:cNvSpPr/>
          <p:nvPr/>
        </p:nvSpPr>
        <p:spPr>
          <a:xfrm>
            <a:off x="1261872" y="3200400"/>
            <a:ext cx="850392"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AGE &lt; 25</a:t>
            </a:r>
            <a:endParaRPr lang="en-US" sz="730" dirty="0"/>
          </a:p>
        </p:txBody>
      </p:sp>
      <p:sp>
        <p:nvSpPr>
          <p:cNvPr id="14" name="Shape 12"/>
          <p:cNvSpPr/>
          <p:nvPr/>
        </p:nvSpPr>
        <p:spPr>
          <a:xfrm>
            <a:off x="1207008" y="3593592"/>
            <a:ext cx="1325880" cy="310896"/>
          </a:xfrm>
          <a:prstGeom prst="roundRect">
            <a:avLst>
              <a:gd name="adj" fmla="val 29412"/>
            </a:avLst>
          </a:prstGeom>
          <a:solidFill>
            <a:srgbClr val="35D0BA">
              <a:alpha val="18000"/>
            </a:srgbClr>
          </a:solidFill>
          <a:ln w="7620">
            <a:solidFill>
              <a:srgbClr val="35D0BA">
                <a:alpha val="65000"/>
              </a:srgbClr>
            </a:solidFill>
            <a:prstDash val="solid"/>
          </a:ln>
        </p:spPr>
      </p:sp>
      <p:sp>
        <p:nvSpPr>
          <p:cNvPr id="15" name="Text 13"/>
          <p:cNvSpPr/>
          <p:nvPr/>
        </p:nvSpPr>
        <p:spPr>
          <a:xfrm>
            <a:off x="1261872" y="3630168"/>
            <a:ext cx="1216152"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MOMENTUM &gt; 70</a:t>
            </a:r>
            <a:endParaRPr lang="en-US" sz="730" dirty="0"/>
          </a:p>
        </p:txBody>
      </p:sp>
      <p:sp>
        <p:nvSpPr>
          <p:cNvPr id="16" name="Shape 14"/>
          <p:cNvSpPr/>
          <p:nvPr/>
        </p:nvSpPr>
        <p:spPr>
          <a:xfrm>
            <a:off x="1207008" y="4023360"/>
            <a:ext cx="841248" cy="310896"/>
          </a:xfrm>
          <a:prstGeom prst="roundRect">
            <a:avLst>
              <a:gd name="adj" fmla="val 29412"/>
            </a:avLst>
          </a:prstGeom>
          <a:solidFill>
            <a:srgbClr val="F4C95D">
              <a:alpha val="18000"/>
            </a:srgbClr>
          </a:solidFill>
          <a:ln w="7620">
            <a:solidFill>
              <a:srgbClr val="F4C95D">
                <a:alpha val="65000"/>
              </a:srgbClr>
            </a:solidFill>
            <a:prstDash val="solid"/>
          </a:ln>
        </p:spPr>
      </p:sp>
      <p:sp>
        <p:nvSpPr>
          <p:cNvPr id="17" name="Text 15"/>
          <p:cNvSpPr/>
          <p:nvPr/>
        </p:nvSpPr>
        <p:spPr>
          <a:xfrm>
            <a:off x="1261872" y="4059936"/>
            <a:ext cx="731520"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GAP &lt; 0</a:t>
            </a:r>
            <a:endParaRPr lang="en-US" sz="730" dirty="0"/>
          </a:p>
        </p:txBody>
      </p:sp>
      <p:sp>
        <p:nvSpPr>
          <p:cNvPr id="18" name="Text 16"/>
          <p:cNvSpPr/>
          <p:nvPr/>
        </p:nvSpPr>
        <p:spPr>
          <a:xfrm>
            <a:off x="1207008" y="4672584"/>
            <a:ext cx="1143000" cy="201168"/>
          </a:xfrm>
          <a:prstGeom prst="rect">
            <a:avLst/>
          </a:prstGeom>
          <a:noFill/>
          <a:ln/>
        </p:spPr>
        <p:txBody>
          <a:bodyPr wrap="square" lIns="254" tIns="254" rIns="254" bIns="254" rtlCol="0" anchor="ctr">
            <a:normAutofit/>
          </a:bodyPr>
          <a:lstStyle/>
          <a:p>
            <a:pPr algn="l" indent="0" marL="0">
              <a:buNone/>
            </a:pPr>
            <a:r>
              <a:rPr lang="en-US" sz="800" b="1" dirty="0">
                <a:solidFill>
                  <a:srgbClr val="FFFFFF"/>
                </a:solidFill>
              </a:rPr>
              <a:t>Weight sliders</a:t>
            </a:r>
            <a:endParaRPr lang="en-US" sz="800" dirty="0"/>
          </a:p>
        </p:txBody>
      </p:sp>
      <p:sp>
        <p:nvSpPr>
          <p:cNvPr id="19" name="Shape 17"/>
          <p:cNvSpPr/>
          <p:nvPr/>
        </p:nvSpPr>
        <p:spPr>
          <a:xfrm>
            <a:off x="1207008" y="5010912"/>
            <a:ext cx="1335024" cy="0"/>
          </a:xfrm>
          <a:prstGeom prst="line">
            <a:avLst/>
          </a:prstGeom>
          <a:noFill/>
          <a:ln w="38100">
            <a:solidFill>
              <a:srgbClr val="193B57"/>
            </a:solidFill>
            <a:prstDash val="solid"/>
          </a:ln>
        </p:spPr>
      </p:sp>
      <p:sp>
        <p:nvSpPr>
          <p:cNvPr id="20" name="Shape 18"/>
          <p:cNvSpPr/>
          <p:nvPr/>
        </p:nvSpPr>
        <p:spPr>
          <a:xfrm>
            <a:off x="1865376" y="4956048"/>
            <a:ext cx="109728" cy="109728"/>
          </a:xfrm>
          <a:prstGeom prst="ellipse">
            <a:avLst/>
          </a:prstGeom>
          <a:solidFill>
            <a:srgbClr val="00A3FF"/>
          </a:solidFill>
          <a:ln w="12700">
            <a:solidFill>
              <a:srgbClr val="00A3FF">
                <a:alpha val="0"/>
              </a:srgbClr>
            </a:solidFill>
            <a:prstDash val="solid"/>
          </a:ln>
        </p:spPr>
      </p:sp>
      <p:sp>
        <p:nvSpPr>
          <p:cNvPr id="21" name="Shape 19"/>
          <p:cNvSpPr/>
          <p:nvPr/>
        </p:nvSpPr>
        <p:spPr>
          <a:xfrm>
            <a:off x="1207008" y="5239512"/>
            <a:ext cx="1335024" cy="0"/>
          </a:xfrm>
          <a:prstGeom prst="line">
            <a:avLst/>
          </a:prstGeom>
          <a:noFill/>
          <a:ln w="38100">
            <a:solidFill>
              <a:srgbClr val="193B57"/>
            </a:solidFill>
            <a:prstDash val="solid"/>
          </a:ln>
        </p:spPr>
      </p:sp>
      <p:sp>
        <p:nvSpPr>
          <p:cNvPr id="22" name="Shape 20"/>
          <p:cNvSpPr/>
          <p:nvPr/>
        </p:nvSpPr>
        <p:spPr>
          <a:xfrm>
            <a:off x="1975104" y="5184648"/>
            <a:ext cx="109728" cy="109728"/>
          </a:xfrm>
          <a:prstGeom prst="ellipse">
            <a:avLst/>
          </a:prstGeom>
          <a:solidFill>
            <a:srgbClr val="00A3FF"/>
          </a:solidFill>
          <a:ln w="12700">
            <a:solidFill>
              <a:srgbClr val="00A3FF">
                <a:alpha val="0"/>
              </a:srgbClr>
            </a:solidFill>
            <a:prstDash val="solid"/>
          </a:ln>
        </p:spPr>
      </p:sp>
      <p:sp>
        <p:nvSpPr>
          <p:cNvPr id="23" name="Shape 21"/>
          <p:cNvSpPr/>
          <p:nvPr/>
        </p:nvSpPr>
        <p:spPr>
          <a:xfrm>
            <a:off x="1207008" y="5468112"/>
            <a:ext cx="1335024" cy="0"/>
          </a:xfrm>
          <a:prstGeom prst="line">
            <a:avLst/>
          </a:prstGeom>
          <a:noFill/>
          <a:ln w="38100">
            <a:solidFill>
              <a:srgbClr val="193B57"/>
            </a:solidFill>
            <a:prstDash val="solid"/>
          </a:ln>
        </p:spPr>
      </p:sp>
      <p:sp>
        <p:nvSpPr>
          <p:cNvPr id="24" name="Shape 22"/>
          <p:cNvSpPr/>
          <p:nvPr/>
        </p:nvSpPr>
        <p:spPr>
          <a:xfrm>
            <a:off x="2084832" y="5413248"/>
            <a:ext cx="109728" cy="109728"/>
          </a:xfrm>
          <a:prstGeom prst="ellipse">
            <a:avLst/>
          </a:prstGeom>
          <a:solidFill>
            <a:srgbClr val="00A3FF"/>
          </a:solidFill>
          <a:ln w="12700">
            <a:solidFill>
              <a:srgbClr val="00A3FF">
                <a:alpha val="0"/>
              </a:srgbClr>
            </a:solidFill>
            <a:prstDash val="solid"/>
          </a:ln>
        </p:spPr>
      </p:sp>
      <p:sp>
        <p:nvSpPr>
          <p:cNvPr id="25" name="Shape 23"/>
          <p:cNvSpPr/>
          <p:nvPr/>
        </p:nvSpPr>
        <p:spPr>
          <a:xfrm>
            <a:off x="3310128" y="2514600"/>
            <a:ext cx="4892040" cy="3081528"/>
          </a:xfrm>
          <a:prstGeom prst="roundRect">
            <a:avLst>
              <a:gd name="adj" fmla="val 2374"/>
            </a:avLst>
          </a:prstGeom>
          <a:solidFill>
            <a:srgbClr val="061521"/>
          </a:solidFill>
          <a:ln w="11430">
            <a:solidFill>
              <a:srgbClr val="193B57"/>
            </a:solidFill>
            <a:prstDash val="solid"/>
          </a:ln>
        </p:spPr>
      </p:sp>
      <p:sp>
        <p:nvSpPr>
          <p:cNvPr id="26" name="Text 24"/>
          <p:cNvSpPr/>
          <p:nvPr/>
        </p:nvSpPr>
        <p:spPr>
          <a:xfrm>
            <a:off x="3584448" y="2743200"/>
            <a:ext cx="1600200" cy="201168"/>
          </a:xfrm>
          <a:prstGeom prst="rect">
            <a:avLst/>
          </a:prstGeom>
          <a:noFill/>
          <a:ln/>
        </p:spPr>
        <p:txBody>
          <a:bodyPr wrap="square" lIns="254" tIns="254" rIns="254" bIns="254" rtlCol="0" anchor="ctr">
            <a:normAutofit/>
          </a:bodyPr>
          <a:lstStyle/>
          <a:p>
            <a:pPr algn="l" indent="0" marL="0">
              <a:buNone/>
            </a:pPr>
            <a:r>
              <a:rPr lang="en-US" sz="700" b="1" dirty="0">
                <a:solidFill>
                  <a:srgbClr val="A9BAC9"/>
                </a:solidFill>
              </a:rPr>
              <a:t>OPPORTUNITY MAP</a:t>
            </a:r>
            <a:endParaRPr lang="en-US" sz="700" dirty="0"/>
          </a:p>
        </p:txBody>
      </p:sp>
      <p:sp>
        <p:nvSpPr>
          <p:cNvPr id="27" name="Shape 25"/>
          <p:cNvSpPr/>
          <p:nvPr/>
        </p:nvSpPr>
        <p:spPr>
          <a:xfrm>
            <a:off x="3675888" y="5193792"/>
            <a:ext cx="4069080" cy="0"/>
          </a:xfrm>
          <a:prstGeom prst="line">
            <a:avLst/>
          </a:prstGeom>
          <a:noFill/>
          <a:ln w="10160">
            <a:solidFill>
              <a:srgbClr val="5F778A"/>
            </a:solidFill>
            <a:prstDash val="solid"/>
          </a:ln>
        </p:spPr>
      </p:sp>
      <p:sp>
        <p:nvSpPr>
          <p:cNvPr id="28" name="Shape 26"/>
          <p:cNvSpPr/>
          <p:nvPr/>
        </p:nvSpPr>
        <p:spPr>
          <a:xfrm>
            <a:off x="3675888" y="5193792"/>
            <a:ext cx="0" cy="-1993392"/>
          </a:xfrm>
          <a:prstGeom prst="line">
            <a:avLst/>
          </a:prstGeom>
          <a:noFill/>
          <a:ln w="10160">
            <a:solidFill>
              <a:srgbClr val="5F778A"/>
            </a:solidFill>
            <a:prstDash val="solid"/>
          </a:ln>
        </p:spPr>
      </p:sp>
      <p:sp>
        <p:nvSpPr>
          <p:cNvPr id="29" name="Shape 27"/>
          <p:cNvSpPr/>
          <p:nvPr/>
        </p:nvSpPr>
        <p:spPr>
          <a:xfrm>
            <a:off x="4315968" y="4590288"/>
            <a:ext cx="146304" cy="146304"/>
          </a:xfrm>
          <a:prstGeom prst="ellipse">
            <a:avLst/>
          </a:prstGeom>
          <a:solidFill>
            <a:srgbClr val="66798B"/>
          </a:solidFill>
          <a:ln w="12700">
            <a:solidFill>
              <a:srgbClr val="66798B">
                <a:alpha val="0"/>
              </a:srgbClr>
            </a:solidFill>
            <a:prstDash val="solid"/>
          </a:ln>
        </p:spPr>
      </p:sp>
      <p:sp>
        <p:nvSpPr>
          <p:cNvPr id="30" name="Shape 28"/>
          <p:cNvSpPr/>
          <p:nvPr/>
        </p:nvSpPr>
        <p:spPr>
          <a:xfrm>
            <a:off x="5001768" y="4224528"/>
            <a:ext cx="146304" cy="146304"/>
          </a:xfrm>
          <a:prstGeom prst="ellipse">
            <a:avLst/>
          </a:prstGeom>
          <a:solidFill>
            <a:srgbClr val="00A3FF"/>
          </a:solidFill>
          <a:ln w="12700">
            <a:solidFill>
              <a:srgbClr val="00A3FF">
                <a:alpha val="0"/>
              </a:srgbClr>
            </a:solidFill>
            <a:prstDash val="solid"/>
          </a:ln>
        </p:spPr>
      </p:sp>
      <p:sp>
        <p:nvSpPr>
          <p:cNvPr id="31" name="Shape 29"/>
          <p:cNvSpPr/>
          <p:nvPr/>
        </p:nvSpPr>
        <p:spPr>
          <a:xfrm>
            <a:off x="5779008" y="4572000"/>
            <a:ext cx="146304" cy="146304"/>
          </a:xfrm>
          <a:prstGeom prst="ellipse">
            <a:avLst/>
          </a:prstGeom>
          <a:solidFill>
            <a:srgbClr val="F4C95D"/>
          </a:solidFill>
          <a:ln w="12700">
            <a:solidFill>
              <a:srgbClr val="F4C95D">
                <a:alpha val="0"/>
              </a:srgbClr>
            </a:solidFill>
            <a:prstDash val="solid"/>
          </a:ln>
        </p:spPr>
      </p:sp>
      <p:sp>
        <p:nvSpPr>
          <p:cNvPr id="32" name="Shape 30"/>
          <p:cNvSpPr/>
          <p:nvPr/>
        </p:nvSpPr>
        <p:spPr>
          <a:xfrm>
            <a:off x="6510528" y="3694176"/>
            <a:ext cx="146304" cy="146304"/>
          </a:xfrm>
          <a:prstGeom prst="ellipse">
            <a:avLst/>
          </a:prstGeom>
          <a:solidFill>
            <a:srgbClr val="35D0BA"/>
          </a:solidFill>
          <a:ln w="12700">
            <a:solidFill>
              <a:srgbClr val="35D0BA">
                <a:alpha val="0"/>
              </a:srgbClr>
            </a:solidFill>
            <a:prstDash val="solid"/>
          </a:ln>
        </p:spPr>
      </p:sp>
      <p:sp>
        <p:nvSpPr>
          <p:cNvPr id="33" name="Shape 31"/>
          <p:cNvSpPr/>
          <p:nvPr/>
        </p:nvSpPr>
        <p:spPr>
          <a:xfrm>
            <a:off x="7242048" y="3172968"/>
            <a:ext cx="146304" cy="146304"/>
          </a:xfrm>
          <a:prstGeom prst="ellipse">
            <a:avLst/>
          </a:prstGeom>
          <a:solidFill>
            <a:srgbClr val="00A3FF"/>
          </a:solidFill>
          <a:ln w="12700">
            <a:solidFill>
              <a:srgbClr val="00A3FF">
                <a:alpha val="0"/>
              </a:srgbClr>
            </a:solidFill>
            <a:prstDash val="solid"/>
          </a:ln>
        </p:spPr>
      </p:sp>
      <p:sp>
        <p:nvSpPr>
          <p:cNvPr id="34" name="Shape 32"/>
          <p:cNvSpPr/>
          <p:nvPr/>
        </p:nvSpPr>
        <p:spPr>
          <a:xfrm>
            <a:off x="8869680" y="1810512"/>
            <a:ext cx="2487168" cy="4270248"/>
          </a:xfrm>
          <a:prstGeom prst="roundRect">
            <a:avLst>
              <a:gd name="adj" fmla="val 2941"/>
            </a:avLst>
          </a:prstGeom>
          <a:solidFill>
            <a:srgbClr val="081D31"/>
          </a:solidFill>
          <a:ln w="11430">
            <a:solidFill>
              <a:srgbClr val="193B57"/>
            </a:solidFill>
            <a:prstDash val="solid"/>
          </a:ln>
        </p:spPr>
      </p:sp>
      <p:sp>
        <p:nvSpPr>
          <p:cNvPr id="35" name="Text 33"/>
          <p:cNvSpPr/>
          <p:nvPr/>
        </p:nvSpPr>
        <p:spPr>
          <a:xfrm>
            <a:off x="9144000" y="2084832"/>
            <a:ext cx="1371600" cy="201168"/>
          </a:xfrm>
          <a:prstGeom prst="rect">
            <a:avLst/>
          </a:prstGeom>
          <a:noFill/>
          <a:ln/>
        </p:spPr>
        <p:txBody>
          <a:bodyPr wrap="square" lIns="254" tIns="254" rIns="254" bIns="254" rtlCol="0" anchor="ctr">
            <a:normAutofit/>
          </a:bodyPr>
          <a:lstStyle/>
          <a:p>
            <a:pPr algn="l" indent="0" marL="0">
              <a:buNone/>
            </a:pPr>
            <a:r>
              <a:rPr lang="en-US" sz="700" b="1" dirty="0">
                <a:solidFill>
                  <a:srgbClr val="00A3FF"/>
                </a:solidFill>
              </a:rPr>
              <a:t>PLAYER CARD</a:t>
            </a:r>
            <a:endParaRPr lang="en-US" sz="700" dirty="0"/>
          </a:p>
        </p:txBody>
      </p:sp>
      <p:sp>
        <p:nvSpPr>
          <p:cNvPr id="36" name="Text 34"/>
          <p:cNvSpPr/>
          <p:nvPr/>
        </p:nvSpPr>
        <p:spPr>
          <a:xfrm>
            <a:off x="9144000" y="2615184"/>
            <a:ext cx="914400" cy="475488"/>
          </a:xfrm>
          <a:prstGeom prst="rect">
            <a:avLst/>
          </a:prstGeom>
          <a:noFill/>
          <a:ln/>
        </p:spPr>
        <p:txBody>
          <a:bodyPr wrap="square" lIns="254" tIns="254" rIns="254" bIns="254" rtlCol="0" anchor="ctr">
            <a:normAutofit/>
          </a:bodyPr>
          <a:lstStyle/>
          <a:p>
            <a:pPr algn="l" indent="0" marL="0">
              <a:buNone/>
            </a:pPr>
            <a:r>
              <a:rPr lang="en-US" sz="2600" b="1" dirty="0">
                <a:solidFill>
                  <a:srgbClr val="FFFFFF"/>
                </a:solidFill>
              </a:rPr>
              <a:t>78</a:t>
            </a:r>
            <a:endParaRPr lang="en-US" sz="2600" dirty="0"/>
          </a:p>
        </p:txBody>
      </p:sp>
      <p:sp>
        <p:nvSpPr>
          <p:cNvPr id="37" name="Text 35"/>
          <p:cNvSpPr/>
          <p:nvPr/>
        </p:nvSpPr>
        <p:spPr>
          <a:xfrm>
            <a:off x="9144000" y="3072384"/>
            <a:ext cx="1371600" cy="201168"/>
          </a:xfrm>
          <a:prstGeom prst="rect">
            <a:avLst/>
          </a:prstGeom>
          <a:noFill/>
          <a:ln/>
        </p:spPr>
        <p:txBody>
          <a:bodyPr wrap="square" lIns="254" tIns="254" rIns="254" bIns="254" rtlCol="0" anchor="ctr">
            <a:normAutofit/>
          </a:bodyPr>
          <a:lstStyle/>
          <a:p>
            <a:pPr algn="l" indent="0" marL="0">
              <a:buNone/>
            </a:pPr>
            <a:r>
              <a:rPr lang="en-US" sz="700" b="1" dirty="0">
                <a:solidFill>
                  <a:srgbClr val="A9BAC9"/>
                </a:solidFill>
              </a:rPr>
              <a:t>MARKETABILITY</a:t>
            </a:r>
            <a:endParaRPr lang="en-US" sz="700" dirty="0"/>
          </a:p>
        </p:txBody>
      </p:sp>
      <p:sp>
        <p:nvSpPr>
          <p:cNvPr id="38" name="Text 36"/>
          <p:cNvSpPr/>
          <p:nvPr/>
        </p:nvSpPr>
        <p:spPr>
          <a:xfrm>
            <a:off x="9144000" y="3566160"/>
            <a:ext cx="914400" cy="475488"/>
          </a:xfrm>
          <a:prstGeom prst="rect">
            <a:avLst/>
          </a:prstGeom>
          <a:noFill/>
          <a:ln/>
        </p:spPr>
        <p:txBody>
          <a:bodyPr wrap="square" lIns="254" tIns="254" rIns="254" bIns="254" rtlCol="0" anchor="ctr">
            <a:normAutofit/>
          </a:bodyPr>
          <a:lstStyle/>
          <a:p>
            <a:pPr algn="l" indent="0" marL="0">
              <a:buNone/>
            </a:pPr>
            <a:r>
              <a:rPr lang="en-US" sz="2600" b="1" dirty="0">
                <a:solidFill>
                  <a:srgbClr val="35D0BA"/>
                </a:solidFill>
              </a:rPr>
              <a:t>92</a:t>
            </a:r>
            <a:endParaRPr lang="en-US" sz="2600" dirty="0"/>
          </a:p>
        </p:txBody>
      </p:sp>
      <p:sp>
        <p:nvSpPr>
          <p:cNvPr id="39" name="Text 37"/>
          <p:cNvSpPr/>
          <p:nvPr/>
        </p:nvSpPr>
        <p:spPr>
          <a:xfrm>
            <a:off x="9144000" y="4014216"/>
            <a:ext cx="914400" cy="347472"/>
          </a:xfrm>
          <a:prstGeom prst="rect">
            <a:avLst/>
          </a:prstGeom>
          <a:noFill/>
          <a:ln/>
        </p:spPr>
        <p:txBody>
          <a:bodyPr wrap="square" lIns="254" tIns="254" rIns="254" bIns="254" rtlCol="0" anchor="ctr">
            <a:normAutofit/>
          </a:bodyPr>
          <a:lstStyle/>
          <a:p>
            <a:pPr algn="l" indent="0" marL="0">
              <a:buNone/>
            </a:pPr>
            <a:r>
              <a:rPr lang="en-US" sz="830" b="1" dirty="0">
                <a:solidFill>
                  <a:srgbClr val="A9BAC9"/>
                </a:solidFill>
              </a:rPr>
              <a:t>MOMENTUM</a:t>
            </a:r>
            <a:endParaRPr lang="en-US" sz="830" dirty="0"/>
          </a:p>
        </p:txBody>
      </p:sp>
      <p:sp>
        <p:nvSpPr>
          <p:cNvPr id="40" name="Text 38"/>
          <p:cNvSpPr/>
          <p:nvPr/>
        </p:nvSpPr>
        <p:spPr>
          <a:xfrm>
            <a:off x="10195560" y="3566160"/>
            <a:ext cx="914400" cy="475488"/>
          </a:xfrm>
          <a:prstGeom prst="rect">
            <a:avLst/>
          </a:prstGeom>
          <a:noFill/>
          <a:ln/>
        </p:spPr>
        <p:txBody>
          <a:bodyPr wrap="square" lIns="254" tIns="254" rIns="254" bIns="254" rtlCol="0" anchor="ctr">
            <a:normAutofit/>
          </a:bodyPr>
          <a:lstStyle/>
          <a:p>
            <a:pPr algn="l" indent="0" marL="0">
              <a:buNone/>
            </a:pPr>
            <a:r>
              <a:rPr lang="en-US" sz="2600" b="1" dirty="0">
                <a:solidFill>
                  <a:srgbClr val="F4C95D"/>
                </a:solidFill>
              </a:rPr>
              <a:t>−14</a:t>
            </a:r>
            <a:endParaRPr lang="en-US" sz="2600" dirty="0"/>
          </a:p>
        </p:txBody>
      </p:sp>
      <p:sp>
        <p:nvSpPr>
          <p:cNvPr id="41" name="Text 39"/>
          <p:cNvSpPr/>
          <p:nvPr/>
        </p:nvSpPr>
        <p:spPr>
          <a:xfrm>
            <a:off x="10195560" y="4014216"/>
            <a:ext cx="914400" cy="347472"/>
          </a:xfrm>
          <a:prstGeom prst="rect">
            <a:avLst/>
          </a:prstGeom>
          <a:noFill/>
          <a:ln/>
        </p:spPr>
        <p:txBody>
          <a:bodyPr wrap="square" lIns="254" tIns="254" rIns="254" bIns="254" rtlCol="0" anchor="ctr">
            <a:normAutofit/>
          </a:bodyPr>
          <a:lstStyle/>
          <a:p>
            <a:pPr algn="l" indent="0" marL="0">
              <a:buNone/>
            </a:pPr>
            <a:r>
              <a:rPr lang="en-US" sz="830" b="1" dirty="0">
                <a:solidFill>
                  <a:srgbClr val="A9BAC9"/>
                </a:solidFill>
              </a:rPr>
              <a:t>GAP</a:t>
            </a:r>
            <a:endParaRPr lang="en-US" sz="830" dirty="0"/>
          </a:p>
        </p:txBody>
      </p:sp>
      <p:sp>
        <p:nvSpPr>
          <p:cNvPr id="42" name="Text 40"/>
          <p:cNvSpPr/>
          <p:nvPr/>
        </p:nvSpPr>
        <p:spPr>
          <a:xfrm>
            <a:off x="9144000" y="4617720"/>
            <a:ext cx="1737360" cy="594360"/>
          </a:xfrm>
          <a:prstGeom prst="rect">
            <a:avLst/>
          </a:prstGeom>
          <a:noFill/>
          <a:ln/>
        </p:spPr>
        <p:txBody>
          <a:bodyPr wrap="square" lIns="254" tIns="254" rIns="254" bIns="254" rtlCol="0" anchor="ctr">
            <a:normAutofit/>
          </a:bodyPr>
          <a:lstStyle/>
          <a:p>
            <a:pPr algn="l" indent="0" marL="0">
              <a:buNone/>
            </a:pPr>
            <a:r>
              <a:rPr lang="en-US" sz="1000" b="1" dirty="0">
                <a:solidFill>
                  <a:srgbClr val="FFFFFF"/>
                </a:solidFill>
              </a:rPr>
              <a:t>Opportunity: underexposed high performer</a:t>
            </a:r>
            <a:endParaRPr lang="en-US" sz="1000" dirty="0"/>
          </a:p>
        </p:txBody>
      </p:sp>
      <p:sp>
        <p:nvSpPr>
          <p:cNvPr id="43" name="Shape 41"/>
          <p:cNvSpPr/>
          <p:nvPr/>
        </p:nvSpPr>
        <p:spPr>
          <a:xfrm>
            <a:off x="9144000" y="5303520"/>
            <a:ext cx="1261872" cy="310896"/>
          </a:xfrm>
          <a:prstGeom prst="roundRect">
            <a:avLst>
              <a:gd name="adj" fmla="val 29412"/>
            </a:avLst>
          </a:prstGeom>
          <a:solidFill>
            <a:srgbClr val="00A3FF">
              <a:alpha val="18000"/>
            </a:srgbClr>
          </a:solidFill>
          <a:ln w="7620">
            <a:solidFill>
              <a:srgbClr val="00A3FF">
                <a:alpha val="65000"/>
              </a:srgbClr>
            </a:solidFill>
            <a:prstDash val="solid"/>
          </a:ln>
        </p:spPr>
      </p:sp>
      <p:sp>
        <p:nvSpPr>
          <p:cNvPr id="44" name="Text 42"/>
          <p:cNvSpPr/>
          <p:nvPr/>
        </p:nvSpPr>
        <p:spPr>
          <a:xfrm>
            <a:off x="9198864" y="5340096"/>
            <a:ext cx="1152144"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NEXT ACTION</a:t>
            </a:r>
            <a:endParaRPr lang="en-US" sz="730" dirty="0"/>
          </a:p>
        </p:txBody>
      </p:sp>
      <p:sp>
        <p:nvSpPr>
          <p:cNvPr id="45" name="Text 43"/>
          <p:cNvSpPr/>
          <p:nvPr/>
        </p:nvSpPr>
        <p:spPr>
          <a:xfrm>
            <a:off x="713232" y="6117336"/>
            <a:ext cx="10241280" cy="201168"/>
          </a:xfrm>
          <a:prstGeom prst="rect">
            <a:avLst/>
          </a:prstGeom>
          <a:noFill/>
          <a:ln/>
        </p:spPr>
        <p:txBody>
          <a:bodyPr wrap="square" lIns="254" tIns="254" rIns="254" bIns="254" rtlCol="0" anchor="ctr">
            <a:normAutofit/>
          </a:bodyPr>
          <a:lstStyle/>
          <a:p>
            <a:pPr algn="l" indent="0" marL="0">
              <a:buNone/>
            </a:pPr>
            <a:r>
              <a:rPr lang="en-US" sz="560" dirty="0">
                <a:solidFill>
                  <a:srgbClr val="71879A"/>
                </a:solidFill>
              </a:rPr>
              <a:t>Product mockup built from the Mav Metrics workflow; values shown are illustrative until the final data pull.</a:t>
            </a:r>
            <a:endParaRPr lang="en-US" sz="5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DALLAS PROOF POINT</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Cooper Flagg shows why momentum deserves its own signal.</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In one season, elite rookie performance translated into measurable commercial demand.</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11</a:t>
            </a:r>
            <a:endParaRPr lang="en-US" sz="580" dirty="0"/>
          </a:p>
        </p:txBody>
      </p:sp>
      <p:sp>
        <p:nvSpPr>
          <p:cNvPr id="8" name="Text 6"/>
          <p:cNvSpPr/>
          <p:nvPr/>
        </p:nvSpPr>
        <p:spPr>
          <a:xfrm>
            <a:off x="2148840" y="6492240"/>
            <a:ext cx="9418320" cy="164592"/>
          </a:xfrm>
          <a:prstGeom prst="rect">
            <a:avLst/>
          </a:prstGeom>
          <a:noFill/>
          <a:ln/>
        </p:spPr>
        <p:txBody>
          <a:bodyPr wrap="square" lIns="0" tIns="0" rIns="0" bIns="0" rtlCol="0" anchor="ctr">
            <a:normAutofit/>
          </a:bodyPr>
          <a:lstStyle/>
          <a:p>
            <a:pPr algn="r" indent="0" marL="0">
              <a:buNone/>
            </a:pPr>
            <a:r>
              <a:rPr lang="en-US" sz="520" dirty="0">
                <a:solidFill>
                  <a:srgbClr val="63798B"/>
                </a:solidFill>
              </a:rPr>
              <a:t>NBA / NBPA jersey releases + NBA Rookie of the Year release, 2026</a:t>
            </a:r>
            <a:endParaRPr lang="en-US" sz="520" dirty="0"/>
          </a:p>
        </p:txBody>
      </p:sp>
      <p:sp>
        <p:nvSpPr>
          <p:cNvPr id="9" name="Shape 7"/>
          <p:cNvSpPr/>
          <p:nvPr/>
        </p:nvSpPr>
        <p:spPr>
          <a:xfrm>
            <a:off x="713232" y="1737360"/>
            <a:ext cx="3154680" cy="4370832"/>
          </a:xfrm>
          <a:prstGeom prst="roundRect">
            <a:avLst>
              <a:gd name="adj" fmla="val 1449"/>
            </a:avLst>
          </a:prstGeom>
          <a:solidFill>
            <a:srgbClr val="071B2D"/>
          </a:solidFill>
          <a:ln w="11430">
            <a:solidFill>
              <a:srgbClr val="193B57"/>
            </a:solidFill>
            <a:prstDash val="solid"/>
          </a:ln>
        </p:spPr>
      </p:sp>
      <p:sp>
        <p:nvSpPr>
          <p:cNvPr id="10" name="Shape 8"/>
          <p:cNvSpPr/>
          <p:nvPr/>
        </p:nvSpPr>
        <p:spPr>
          <a:xfrm>
            <a:off x="1848917" y="2048256"/>
            <a:ext cx="883310" cy="883310"/>
          </a:xfrm>
          <a:prstGeom prst="ellipse">
            <a:avLst/>
          </a:prstGeom>
          <a:solidFill>
            <a:srgbClr val="39566D"/>
          </a:solidFill>
          <a:ln w="12700">
            <a:solidFill>
              <a:srgbClr val="39566D"/>
            </a:solidFill>
            <a:prstDash val="solid"/>
          </a:ln>
        </p:spPr>
      </p:sp>
      <p:sp>
        <p:nvSpPr>
          <p:cNvPr id="11" name="Shape 9"/>
          <p:cNvSpPr/>
          <p:nvPr/>
        </p:nvSpPr>
        <p:spPr>
          <a:xfrm>
            <a:off x="1470355" y="2514600"/>
            <a:ext cx="1640434" cy="1640434"/>
          </a:xfrm>
          <a:prstGeom prst="ellipse">
            <a:avLst/>
          </a:prstGeom>
          <a:solidFill>
            <a:srgbClr val="29465D"/>
          </a:solidFill>
          <a:ln w="12700">
            <a:solidFill>
              <a:srgbClr val="29465D"/>
            </a:solidFill>
            <a:prstDash val="solid"/>
          </a:ln>
        </p:spPr>
      </p:sp>
      <p:sp>
        <p:nvSpPr>
          <p:cNvPr id="12" name="Shape 10"/>
          <p:cNvSpPr/>
          <p:nvPr/>
        </p:nvSpPr>
        <p:spPr>
          <a:xfrm>
            <a:off x="740664" y="5715000"/>
            <a:ext cx="3099816" cy="365760"/>
          </a:xfrm>
          <a:prstGeom prst="rect">
            <a:avLst/>
          </a:prstGeom>
          <a:solidFill>
            <a:srgbClr val="04111F">
              <a:alpha val="95000"/>
            </a:srgbClr>
          </a:solidFill>
          <a:ln w="12700">
            <a:solidFill>
              <a:srgbClr val="04111F">
                <a:alpha val="0"/>
              </a:srgbClr>
            </a:solidFill>
            <a:prstDash val="solid"/>
          </a:ln>
        </p:spPr>
      </p:sp>
      <p:sp>
        <p:nvSpPr>
          <p:cNvPr id="13" name="Text 11"/>
          <p:cNvSpPr/>
          <p:nvPr/>
        </p:nvSpPr>
        <p:spPr>
          <a:xfrm>
            <a:off x="822960" y="5779008"/>
            <a:ext cx="2935224" cy="201168"/>
          </a:xfrm>
          <a:prstGeom prst="rect">
            <a:avLst/>
          </a:prstGeom>
          <a:noFill/>
          <a:ln/>
        </p:spPr>
        <p:txBody>
          <a:bodyPr wrap="square" lIns="254" tIns="254" rIns="254" bIns="254" rtlCol="0" anchor="ctr">
            <a:normAutofit/>
          </a:bodyPr>
          <a:lstStyle/>
          <a:p>
            <a:pPr algn="ctr" indent="0" marL="0">
              <a:buNone/>
            </a:pPr>
            <a:r>
              <a:rPr lang="en-US" sz="780" b="1" dirty="0">
                <a:solidFill>
                  <a:srgbClr val="FFFFFF"/>
                </a:solidFill>
              </a:rPr>
              <a:t>COOPER FLAGG  •  DALLAS</a:t>
            </a:r>
            <a:endParaRPr lang="en-US" sz="780" dirty="0"/>
          </a:p>
        </p:txBody>
      </p:sp>
      <p:sp>
        <p:nvSpPr>
          <p:cNvPr id="14" name="Shape 12"/>
          <p:cNvSpPr/>
          <p:nvPr/>
        </p:nvSpPr>
        <p:spPr>
          <a:xfrm>
            <a:off x="4526280" y="3730752"/>
            <a:ext cx="6144768" cy="0"/>
          </a:xfrm>
          <a:prstGeom prst="line">
            <a:avLst/>
          </a:prstGeom>
          <a:noFill/>
          <a:ln w="25400">
            <a:solidFill>
              <a:srgbClr val="193B57"/>
            </a:solidFill>
            <a:prstDash val="solid"/>
          </a:ln>
        </p:spPr>
      </p:sp>
      <p:sp>
        <p:nvSpPr>
          <p:cNvPr id="15" name="Shape 13"/>
          <p:cNvSpPr/>
          <p:nvPr/>
        </p:nvSpPr>
        <p:spPr>
          <a:xfrm>
            <a:off x="4517136" y="3630168"/>
            <a:ext cx="201168" cy="201168"/>
          </a:xfrm>
          <a:prstGeom prst="ellipse">
            <a:avLst/>
          </a:prstGeom>
          <a:solidFill>
            <a:srgbClr val="00A3FF"/>
          </a:solidFill>
          <a:ln w="12700">
            <a:solidFill>
              <a:srgbClr val="00A3FF">
                <a:alpha val="0"/>
              </a:srgbClr>
            </a:solidFill>
            <a:prstDash val="solid"/>
          </a:ln>
        </p:spPr>
      </p:sp>
      <p:sp>
        <p:nvSpPr>
          <p:cNvPr id="16" name="Text 14"/>
          <p:cNvSpPr/>
          <p:nvPr/>
        </p:nvSpPr>
        <p:spPr>
          <a:xfrm>
            <a:off x="4114800" y="2980944"/>
            <a:ext cx="1005840" cy="228600"/>
          </a:xfrm>
          <a:prstGeom prst="rect">
            <a:avLst/>
          </a:prstGeom>
          <a:noFill/>
          <a:ln/>
        </p:spPr>
        <p:txBody>
          <a:bodyPr wrap="square" lIns="254" tIns="254" rIns="254" bIns="254" rtlCol="0" anchor="ctr">
            <a:normAutofit/>
          </a:bodyPr>
          <a:lstStyle/>
          <a:p>
            <a:pPr algn="ctr" indent="0" marL="0">
              <a:buNone/>
            </a:pPr>
            <a:r>
              <a:rPr lang="en-US" sz="800" b="1" dirty="0">
                <a:solidFill>
                  <a:srgbClr val="00A3FF"/>
                </a:solidFill>
              </a:rPr>
              <a:t>JAN 20</a:t>
            </a:r>
            <a:endParaRPr lang="en-US" sz="800" dirty="0"/>
          </a:p>
        </p:txBody>
      </p:sp>
      <p:sp>
        <p:nvSpPr>
          <p:cNvPr id="17" name="Text 15"/>
          <p:cNvSpPr/>
          <p:nvPr/>
        </p:nvSpPr>
        <p:spPr>
          <a:xfrm>
            <a:off x="3977640" y="4078224"/>
            <a:ext cx="1280160" cy="384048"/>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rPr>
              <a:t>#11</a:t>
            </a:r>
            <a:endParaRPr lang="en-US" sz="2100" dirty="0"/>
          </a:p>
        </p:txBody>
      </p:sp>
      <p:sp>
        <p:nvSpPr>
          <p:cNvPr id="18" name="Text 16"/>
          <p:cNvSpPr/>
          <p:nvPr/>
        </p:nvSpPr>
        <p:spPr>
          <a:xfrm>
            <a:off x="3703320" y="4590288"/>
            <a:ext cx="1828800" cy="640080"/>
          </a:xfrm>
          <a:prstGeom prst="rect">
            <a:avLst/>
          </a:prstGeom>
          <a:noFill/>
          <a:ln/>
        </p:spPr>
        <p:txBody>
          <a:bodyPr wrap="square" lIns="254" tIns="254" rIns="254" bIns="254" rtlCol="0" anchor="ctr">
            <a:normAutofit/>
          </a:bodyPr>
          <a:lstStyle/>
          <a:p>
            <a:pPr algn="ctr" indent="0" marL="0">
              <a:buNone/>
            </a:pPr>
            <a:r>
              <a:rPr lang="en-US" sz="900" b="1" dirty="0">
                <a:solidFill>
                  <a:srgbClr val="A9BAC9"/>
                </a:solidFill>
              </a:rPr>
              <a:t>Jersey-sales debut</a:t>
            </a:r>
            <a:endParaRPr lang="en-US" sz="900" dirty="0"/>
          </a:p>
        </p:txBody>
      </p:sp>
      <p:sp>
        <p:nvSpPr>
          <p:cNvPr id="19" name="Shape 17"/>
          <p:cNvSpPr/>
          <p:nvPr/>
        </p:nvSpPr>
        <p:spPr>
          <a:xfrm>
            <a:off x="7168896" y="3630168"/>
            <a:ext cx="201168" cy="201168"/>
          </a:xfrm>
          <a:prstGeom prst="ellipse">
            <a:avLst/>
          </a:prstGeom>
          <a:solidFill>
            <a:srgbClr val="35D0BA"/>
          </a:solidFill>
          <a:ln w="12700">
            <a:solidFill>
              <a:srgbClr val="35D0BA">
                <a:alpha val="0"/>
              </a:srgbClr>
            </a:solidFill>
            <a:prstDash val="solid"/>
          </a:ln>
        </p:spPr>
      </p:sp>
      <p:sp>
        <p:nvSpPr>
          <p:cNvPr id="20" name="Text 18"/>
          <p:cNvSpPr/>
          <p:nvPr/>
        </p:nvSpPr>
        <p:spPr>
          <a:xfrm>
            <a:off x="6766560" y="2980944"/>
            <a:ext cx="1005840" cy="228600"/>
          </a:xfrm>
          <a:prstGeom prst="rect">
            <a:avLst/>
          </a:prstGeom>
          <a:noFill/>
          <a:ln/>
        </p:spPr>
        <p:txBody>
          <a:bodyPr wrap="square" lIns="254" tIns="254" rIns="254" bIns="254" rtlCol="0" anchor="ctr">
            <a:normAutofit/>
          </a:bodyPr>
          <a:lstStyle/>
          <a:p>
            <a:pPr algn="ctr" indent="0" marL="0">
              <a:buNone/>
            </a:pPr>
            <a:r>
              <a:rPr lang="en-US" sz="800" b="1" dirty="0">
                <a:solidFill>
                  <a:srgbClr val="35D0BA"/>
                </a:solidFill>
              </a:rPr>
              <a:t>APR 13</a:t>
            </a:r>
            <a:endParaRPr lang="en-US" sz="800" dirty="0"/>
          </a:p>
        </p:txBody>
      </p:sp>
      <p:sp>
        <p:nvSpPr>
          <p:cNvPr id="21" name="Text 19"/>
          <p:cNvSpPr/>
          <p:nvPr/>
        </p:nvSpPr>
        <p:spPr>
          <a:xfrm>
            <a:off x="6629400" y="4078224"/>
            <a:ext cx="1280160" cy="384048"/>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rPr>
              <a:t>#9</a:t>
            </a:r>
            <a:endParaRPr lang="en-US" sz="2100" dirty="0"/>
          </a:p>
        </p:txBody>
      </p:sp>
      <p:sp>
        <p:nvSpPr>
          <p:cNvPr id="22" name="Text 20"/>
          <p:cNvSpPr/>
          <p:nvPr/>
        </p:nvSpPr>
        <p:spPr>
          <a:xfrm>
            <a:off x="6355080" y="4590288"/>
            <a:ext cx="1828800" cy="640080"/>
          </a:xfrm>
          <a:prstGeom prst="rect">
            <a:avLst/>
          </a:prstGeom>
          <a:noFill/>
          <a:ln/>
        </p:spPr>
        <p:txBody>
          <a:bodyPr wrap="square" lIns="254" tIns="254" rIns="254" bIns="254" rtlCol="0" anchor="ctr">
            <a:normAutofit/>
          </a:bodyPr>
          <a:lstStyle/>
          <a:p>
            <a:pPr algn="ctr" indent="0" marL="0">
              <a:buNone/>
            </a:pPr>
            <a:r>
              <a:rPr lang="en-US" sz="900" b="1" dirty="0">
                <a:solidFill>
                  <a:srgbClr val="A9BAC9"/>
                </a:solidFill>
              </a:rPr>
              <a:t>Only rookie in final Top 15</a:t>
            </a:r>
            <a:endParaRPr lang="en-US" sz="900" dirty="0"/>
          </a:p>
        </p:txBody>
      </p:sp>
      <p:sp>
        <p:nvSpPr>
          <p:cNvPr id="23" name="Shape 21"/>
          <p:cNvSpPr/>
          <p:nvPr/>
        </p:nvSpPr>
        <p:spPr>
          <a:xfrm>
            <a:off x="9774936" y="3630168"/>
            <a:ext cx="201168" cy="201168"/>
          </a:xfrm>
          <a:prstGeom prst="ellipse">
            <a:avLst/>
          </a:prstGeom>
          <a:solidFill>
            <a:srgbClr val="F4C95D"/>
          </a:solidFill>
          <a:ln w="12700">
            <a:solidFill>
              <a:srgbClr val="F4C95D">
                <a:alpha val="0"/>
              </a:srgbClr>
            </a:solidFill>
            <a:prstDash val="solid"/>
          </a:ln>
        </p:spPr>
      </p:sp>
      <p:sp>
        <p:nvSpPr>
          <p:cNvPr id="24" name="Text 22"/>
          <p:cNvSpPr/>
          <p:nvPr/>
        </p:nvSpPr>
        <p:spPr>
          <a:xfrm>
            <a:off x="9372600" y="2980944"/>
            <a:ext cx="1005840" cy="228600"/>
          </a:xfrm>
          <a:prstGeom prst="rect">
            <a:avLst/>
          </a:prstGeom>
          <a:noFill/>
          <a:ln/>
        </p:spPr>
        <p:txBody>
          <a:bodyPr wrap="square" lIns="254" tIns="254" rIns="254" bIns="254" rtlCol="0" anchor="ctr">
            <a:normAutofit/>
          </a:bodyPr>
          <a:lstStyle/>
          <a:p>
            <a:pPr algn="ctr" indent="0" marL="0">
              <a:buNone/>
            </a:pPr>
            <a:r>
              <a:rPr lang="en-US" sz="800" b="1" dirty="0">
                <a:solidFill>
                  <a:srgbClr val="F4C95D"/>
                </a:solidFill>
              </a:rPr>
              <a:t>APR 27</a:t>
            </a:r>
            <a:endParaRPr lang="en-US" sz="800" dirty="0"/>
          </a:p>
        </p:txBody>
      </p:sp>
      <p:sp>
        <p:nvSpPr>
          <p:cNvPr id="25" name="Text 23"/>
          <p:cNvSpPr/>
          <p:nvPr/>
        </p:nvSpPr>
        <p:spPr>
          <a:xfrm>
            <a:off x="9235440" y="4078224"/>
            <a:ext cx="1280160" cy="384048"/>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rPr>
              <a:t>ROY</a:t>
            </a:r>
            <a:endParaRPr lang="en-US" sz="2100" dirty="0"/>
          </a:p>
        </p:txBody>
      </p:sp>
      <p:sp>
        <p:nvSpPr>
          <p:cNvPr id="26" name="Text 24"/>
          <p:cNvSpPr/>
          <p:nvPr/>
        </p:nvSpPr>
        <p:spPr>
          <a:xfrm>
            <a:off x="8961120" y="4590288"/>
            <a:ext cx="1828800" cy="640080"/>
          </a:xfrm>
          <a:prstGeom prst="rect">
            <a:avLst/>
          </a:prstGeom>
          <a:noFill/>
          <a:ln/>
        </p:spPr>
        <p:txBody>
          <a:bodyPr wrap="square" lIns="254" tIns="254" rIns="254" bIns="254" rtlCol="0" anchor="ctr">
            <a:normAutofit/>
          </a:bodyPr>
          <a:lstStyle/>
          <a:p>
            <a:pPr algn="ctr" indent="0" marL="0">
              <a:buNone/>
            </a:pPr>
            <a:r>
              <a:rPr lang="en-US" sz="900" b="1" dirty="0">
                <a:solidFill>
                  <a:srgbClr val="A9BAC9"/>
                </a:solidFill>
              </a:rPr>
              <a:t>21.0 PPG • 6.7 RPG • 4.5 APG</a:t>
            </a:r>
            <a:endParaRPr lang="en-US" sz="900" dirty="0"/>
          </a:p>
        </p:txBody>
      </p:sp>
      <p:sp>
        <p:nvSpPr>
          <p:cNvPr id="27" name="Text 25"/>
          <p:cNvSpPr/>
          <p:nvPr/>
        </p:nvSpPr>
        <p:spPr>
          <a:xfrm>
            <a:off x="4526280" y="1847088"/>
            <a:ext cx="5989320" cy="777240"/>
          </a:xfrm>
          <a:prstGeom prst="rect">
            <a:avLst/>
          </a:prstGeom>
          <a:noFill/>
          <a:ln/>
        </p:spPr>
        <p:txBody>
          <a:bodyPr wrap="square" lIns="254" tIns="254" rIns="254" bIns="254" rtlCol="0" anchor="ctr">
            <a:normAutofit/>
          </a:bodyPr>
          <a:lstStyle/>
          <a:p>
            <a:pPr algn="l" indent="0" marL="0">
              <a:buNone/>
            </a:pPr>
            <a:r>
              <a:rPr lang="en-US" sz="1600" b="1" dirty="0">
                <a:solidFill>
                  <a:srgbClr val="FFFFFF"/>
                </a:solidFill>
              </a:rPr>
              <a:t>The lesson is not “Flagg is marketable.” The lesson is that growth can be observed early—and tracked.</a:t>
            </a:r>
            <a:endParaRPr lang="en-US" sz="1600" dirty="0"/>
          </a:p>
        </p:txBody>
      </p:sp>
      <p:sp>
        <p:nvSpPr>
          <p:cNvPr id="28" name="Shape 26"/>
          <p:cNvSpPr/>
          <p:nvPr/>
        </p:nvSpPr>
        <p:spPr>
          <a:xfrm>
            <a:off x="4526280" y="5596128"/>
            <a:ext cx="2971800" cy="310896"/>
          </a:xfrm>
          <a:prstGeom prst="roundRect">
            <a:avLst>
              <a:gd name="adj" fmla="val 29412"/>
            </a:avLst>
          </a:prstGeom>
          <a:solidFill>
            <a:srgbClr val="F4C95D">
              <a:alpha val="18000"/>
            </a:srgbClr>
          </a:solidFill>
          <a:ln w="7620">
            <a:solidFill>
              <a:srgbClr val="F4C95D">
                <a:alpha val="65000"/>
              </a:srgbClr>
            </a:solidFill>
            <a:prstDash val="solid"/>
          </a:ln>
        </p:spPr>
      </p:sp>
      <p:sp>
        <p:nvSpPr>
          <p:cNvPr id="29" name="Text 27"/>
          <p:cNvSpPr/>
          <p:nvPr/>
        </p:nvSpPr>
        <p:spPr>
          <a:xfrm>
            <a:off x="4581144" y="5632704"/>
            <a:ext cx="2862072"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MOMENTUM CAN LEAD COMMERCIAL PROOF</a:t>
            </a:r>
            <a:endParaRPr lang="en-US" sz="7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RECOMMENDATION</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Make marketability a quarterly scouting process.</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The value is not a one-time score. It is detecting change before the market fully reacts.</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12</a:t>
            </a:r>
            <a:endParaRPr lang="en-US" sz="580" dirty="0"/>
          </a:p>
        </p:txBody>
      </p:sp>
      <p:sp>
        <p:nvSpPr>
          <p:cNvPr id="8" name="Text 6"/>
          <p:cNvSpPr/>
          <p:nvPr/>
        </p:nvSpPr>
        <p:spPr>
          <a:xfrm>
            <a:off x="777240" y="1883664"/>
            <a:ext cx="438912" cy="320040"/>
          </a:xfrm>
          <a:prstGeom prst="rect">
            <a:avLst/>
          </a:prstGeom>
          <a:noFill/>
          <a:ln/>
        </p:spPr>
        <p:txBody>
          <a:bodyPr wrap="square" lIns="254" tIns="254" rIns="254" bIns="254" rtlCol="0" anchor="ctr">
            <a:normAutofit/>
          </a:bodyPr>
          <a:lstStyle/>
          <a:p>
            <a:pPr algn="l" indent="0" marL="0">
              <a:buNone/>
            </a:pPr>
            <a:r>
              <a:rPr lang="en-US" sz="1300" b="1" dirty="0">
                <a:solidFill>
                  <a:srgbClr val="00A3FF"/>
                </a:solidFill>
              </a:rPr>
              <a:t>01</a:t>
            </a:r>
            <a:endParaRPr lang="en-US" sz="1300" dirty="0"/>
          </a:p>
        </p:txBody>
      </p:sp>
      <p:sp>
        <p:nvSpPr>
          <p:cNvPr id="9" name="Text 7"/>
          <p:cNvSpPr/>
          <p:nvPr/>
        </p:nvSpPr>
        <p:spPr>
          <a:xfrm>
            <a:off x="1353312" y="1883664"/>
            <a:ext cx="1234440" cy="320040"/>
          </a:xfrm>
          <a:prstGeom prst="rect">
            <a:avLst/>
          </a:prstGeom>
          <a:noFill/>
          <a:ln/>
        </p:spPr>
        <p:txBody>
          <a:bodyPr wrap="square" lIns="254" tIns="254" rIns="254" bIns="254" rtlCol="0" anchor="ctr">
            <a:normAutofit/>
          </a:bodyPr>
          <a:lstStyle/>
          <a:p>
            <a:pPr algn="l" indent="0" marL="0">
              <a:buNone/>
            </a:pPr>
            <a:r>
              <a:rPr lang="en-US" sz="900" b="1" dirty="0">
                <a:solidFill>
                  <a:srgbClr val="00A3FF"/>
                </a:solidFill>
              </a:rPr>
              <a:t>MEASURE</a:t>
            </a:r>
            <a:endParaRPr lang="en-US" sz="900" dirty="0"/>
          </a:p>
        </p:txBody>
      </p:sp>
      <p:sp>
        <p:nvSpPr>
          <p:cNvPr id="10" name="Text 8"/>
          <p:cNvSpPr/>
          <p:nvPr/>
        </p:nvSpPr>
        <p:spPr>
          <a:xfrm>
            <a:off x="2606040" y="1883664"/>
            <a:ext cx="4645152" cy="347472"/>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Refresh public data on a fixed date each quarter.</a:t>
            </a:r>
            <a:endParaRPr lang="en-US" sz="1100" dirty="0"/>
          </a:p>
        </p:txBody>
      </p:sp>
      <p:sp>
        <p:nvSpPr>
          <p:cNvPr id="11" name="Shape 9"/>
          <p:cNvSpPr/>
          <p:nvPr/>
        </p:nvSpPr>
        <p:spPr>
          <a:xfrm>
            <a:off x="978408" y="2295144"/>
            <a:ext cx="0" cy="329184"/>
          </a:xfrm>
          <a:prstGeom prst="line">
            <a:avLst/>
          </a:prstGeom>
          <a:noFill/>
          <a:ln w="15240">
            <a:solidFill>
              <a:srgbClr val="193B57"/>
            </a:solidFill>
            <a:prstDash val="solid"/>
          </a:ln>
        </p:spPr>
      </p:sp>
      <p:sp>
        <p:nvSpPr>
          <p:cNvPr id="12" name="Text 10"/>
          <p:cNvSpPr/>
          <p:nvPr/>
        </p:nvSpPr>
        <p:spPr>
          <a:xfrm>
            <a:off x="777240" y="2642616"/>
            <a:ext cx="438912" cy="320040"/>
          </a:xfrm>
          <a:prstGeom prst="rect">
            <a:avLst/>
          </a:prstGeom>
          <a:noFill/>
          <a:ln/>
        </p:spPr>
        <p:txBody>
          <a:bodyPr wrap="square" lIns="254" tIns="254" rIns="254" bIns="254" rtlCol="0" anchor="ctr">
            <a:normAutofit/>
          </a:bodyPr>
          <a:lstStyle/>
          <a:p>
            <a:pPr algn="l" indent="0" marL="0">
              <a:buNone/>
            </a:pPr>
            <a:r>
              <a:rPr lang="en-US" sz="1300" b="1" dirty="0">
                <a:solidFill>
                  <a:srgbClr val="35D0BA"/>
                </a:solidFill>
              </a:rPr>
              <a:t>02</a:t>
            </a:r>
            <a:endParaRPr lang="en-US" sz="1300" dirty="0"/>
          </a:p>
        </p:txBody>
      </p:sp>
      <p:sp>
        <p:nvSpPr>
          <p:cNvPr id="13" name="Text 11"/>
          <p:cNvSpPr/>
          <p:nvPr/>
        </p:nvSpPr>
        <p:spPr>
          <a:xfrm>
            <a:off x="1353312" y="2642616"/>
            <a:ext cx="1234440" cy="320040"/>
          </a:xfrm>
          <a:prstGeom prst="rect">
            <a:avLst/>
          </a:prstGeom>
          <a:noFill/>
          <a:ln/>
        </p:spPr>
        <p:txBody>
          <a:bodyPr wrap="square" lIns="254" tIns="254" rIns="254" bIns="254" rtlCol="0" anchor="ctr">
            <a:normAutofit/>
          </a:bodyPr>
          <a:lstStyle/>
          <a:p>
            <a:pPr algn="l" indent="0" marL="0">
              <a:buNone/>
            </a:pPr>
            <a:r>
              <a:rPr lang="en-US" sz="900" b="1" dirty="0">
                <a:solidFill>
                  <a:srgbClr val="35D0BA"/>
                </a:solidFill>
              </a:rPr>
              <a:t>VALIDATE</a:t>
            </a:r>
            <a:endParaRPr lang="en-US" sz="900" dirty="0"/>
          </a:p>
        </p:txBody>
      </p:sp>
      <p:sp>
        <p:nvSpPr>
          <p:cNvPr id="14" name="Text 12"/>
          <p:cNvSpPr/>
          <p:nvPr/>
        </p:nvSpPr>
        <p:spPr>
          <a:xfrm>
            <a:off x="2606040" y="2642616"/>
            <a:ext cx="4645152" cy="347472"/>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Compare predictions with views, merchandise, and partnership outcomes.</a:t>
            </a:r>
            <a:endParaRPr lang="en-US" sz="1100" dirty="0"/>
          </a:p>
        </p:txBody>
      </p:sp>
      <p:sp>
        <p:nvSpPr>
          <p:cNvPr id="15" name="Shape 13"/>
          <p:cNvSpPr/>
          <p:nvPr/>
        </p:nvSpPr>
        <p:spPr>
          <a:xfrm>
            <a:off x="978408" y="3054096"/>
            <a:ext cx="0" cy="329184"/>
          </a:xfrm>
          <a:prstGeom prst="line">
            <a:avLst/>
          </a:prstGeom>
          <a:noFill/>
          <a:ln w="15240">
            <a:solidFill>
              <a:srgbClr val="193B57"/>
            </a:solidFill>
            <a:prstDash val="solid"/>
          </a:ln>
        </p:spPr>
      </p:sp>
      <p:sp>
        <p:nvSpPr>
          <p:cNvPr id="16" name="Text 14"/>
          <p:cNvSpPr/>
          <p:nvPr/>
        </p:nvSpPr>
        <p:spPr>
          <a:xfrm>
            <a:off x="777240" y="3401568"/>
            <a:ext cx="438912" cy="320040"/>
          </a:xfrm>
          <a:prstGeom prst="rect">
            <a:avLst/>
          </a:prstGeom>
          <a:noFill/>
          <a:ln/>
        </p:spPr>
        <p:txBody>
          <a:bodyPr wrap="square" lIns="254" tIns="254" rIns="254" bIns="254" rtlCol="0" anchor="ctr">
            <a:normAutofit/>
          </a:bodyPr>
          <a:lstStyle/>
          <a:p>
            <a:pPr algn="l" indent="0" marL="0">
              <a:buNone/>
            </a:pPr>
            <a:r>
              <a:rPr lang="en-US" sz="1300" b="1" dirty="0">
                <a:solidFill>
                  <a:srgbClr val="F4C95D"/>
                </a:solidFill>
              </a:rPr>
              <a:t>03</a:t>
            </a:r>
            <a:endParaRPr lang="en-US" sz="1300" dirty="0"/>
          </a:p>
        </p:txBody>
      </p:sp>
      <p:sp>
        <p:nvSpPr>
          <p:cNvPr id="17" name="Text 15"/>
          <p:cNvSpPr/>
          <p:nvPr/>
        </p:nvSpPr>
        <p:spPr>
          <a:xfrm>
            <a:off x="1353312" y="3401568"/>
            <a:ext cx="1234440" cy="320040"/>
          </a:xfrm>
          <a:prstGeom prst="rect">
            <a:avLst/>
          </a:prstGeom>
          <a:noFill/>
          <a:ln/>
        </p:spPr>
        <p:txBody>
          <a:bodyPr wrap="square" lIns="254" tIns="254" rIns="254" bIns="254" rtlCol="0" anchor="ctr">
            <a:normAutofit/>
          </a:bodyPr>
          <a:lstStyle/>
          <a:p>
            <a:pPr algn="l" indent="0" marL="0">
              <a:buNone/>
            </a:pPr>
            <a:r>
              <a:rPr lang="en-US" sz="900" b="1" dirty="0">
                <a:solidFill>
                  <a:srgbClr val="F4C95D"/>
                </a:solidFill>
              </a:rPr>
              <a:t>WATCH</a:t>
            </a:r>
            <a:endParaRPr lang="en-US" sz="900" dirty="0"/>
          </a:p>
        </p:txBody>
      </p:sp>
      <p:sp>
        <p:nvSpPr>
          <p:cNvPr id="18" name="Text 16"/>
          <p:cNvSpPr/>
          <p:nvPr/>
        </p:nvSpPr>
        <p:spPr>
          <a:xfrm>
            <a:off x="2606040" y="3401568"/>
            <a:ext cx="4645152" cy="347472"/>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Flag high performance + high momentum + negative gap.</a:t>
            </a:r>
            <a:endParaRPr lang="en-US" sz="1100" dirty="0"/>
          </a:p>
        </p:txBody>
      </p:sp>
      <p:sp>
        <p:nvSpPr>
          <p:cNvPr id="19" name="Shape 17"/>
          <p:cNvSpPr/>
          <p:nvPr/>
        </p:nvSpPr>
        <p:spPr>
          <a:xfrm>
            <a:off x="978408" y="3813048"/>
            <a:ext cx="0" cy="329184"/>
          </a:xfrm>
          <a:prstGeom prst="line">
            <a:avLst/>
          </a:prstGeom>
          <a:noFill/>
          <a:ln w="15240">
            <a:solidFill>
              <a:srgbClr val="193B57"/>
            </a:solidFill>
            <a:prstDash val="solid"/>
          </a:ln>
        </p:spPr>
      </p:sp>
      <p:sp>
        <p:nvSpPr>
          <p:cNvPr id="20" name="Text 18"/>
          <p:cNvSpPr/>
          <p:nvPr/>
        </p:nvSpPr>
        <p:spPr>
          <a:xfrm>
            <a:off x="777240" y="4160520"/>
            <a:ext cx="438912" cy="320040"/>
          </a:xfrm>
          <a:prstGeom prst="rect">
            <a:avLst/>
          </a:prstGeom>
          <a:noFill/>
          <a:ln/>
        </p:spPr>
        <p:txBody>
          <a:bodyPr wrap="square" lIns="254" tIns="254" rIns="254" bIns="254" rtlCol="0" anchor="ctr">
            <a:normAutofit/>
          </a:bodyPr>
          <a:lstStyle/>
          <a:p>
            <a:pPr algn="l" indent="0" marL="0">
              <a:buNone/>
            </a:pPr>
            <a:r>
              <a:rPr lang="en-US" sz="1300" b="1" dirty="0">
                <a:solidFill>
                  <a:srgbClr val="2477FF"/>
                </a:solidFill>
              </a:rPr>
              <a:t>04</a:t>
            </a:r>
            <a:endParaRPr lang="en-US" sz="1300" dirty="0"/>
          </a:p>
        </p:txBody>
      </p:sp>
      <p:sp>
        <p:nvSpPr>
          <p:cNvPr id="21" name="Text 19"/>
          <p:cNvSpPr/>
          <p:nvPr/>
        </p:nvSpPr>
        <p:spPr>
          <a:xfrm>
            <a:off x="1353312" y="4160520"/>
            <a:ext cx="1234440" cy="320040"/>
          </a:xfrm>
          <a:prstGeom prst="rect">
            <a:avLst/>
          </a:prstGeom>
          <a:noFill/>
          <a:ln/>
        </p:spPr>
        <p:txBody>
          <a:bodyPr wrap="square" lIns="254" tIns="254" rIns="254" bIns="254" rtlCol="0" anchor="ctr">
            <a:normAutofit/>
          </a:bodyPr>
          <a:lstStyle/>
          <a:p>
            <a:pPr algn="l" indent="0" marL="0">
              <a:buNone/>
            </a:pPr>
            <a:r>
              <a:rPr lang="en-US" sz="900" b="1" dirty="0">
                <a:solidFill>
                  <a:srgbClr val="2477FF"/>
                </a:solidFill>
              </a:rPr>
              <a:t>ACTIVATE</a:t>
            </a:r>
            <a:endParaRPr lang="en-US" sz="900" dirty="0"/>
          </a:p>
        </p:txBody>
      </p:sp>
      <p:sp>
        <p:nvSpPr>
          <p:cNvPr id="22" name="Text 20"/>
          <p:cNvSpPr/>
          <p:nvPr/>
        </p:nvSpPr>
        <p:spPr>
          <a:xfrm>
            <a:off x="2606040" y="4160520"/>
            <a:ext cx="4645152" cy="347472"/>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Choose a content, sponsor, or player-brand experiment.</a:t>
            </a:r>
            <a:endParaRPr lang="en-US" sz="1100" dirty="0"/>
          </a:p>
        </p:txBody>
      </p:sp>
      <p:sp>
        <p:nvSpPr>
          <p:cNvPr id="23" name="Shape 21"/>
          <p:cNvSpPr/>
          <p:nvPr/>
        </p:nvSpPr>
        <p:spPr>
          <a:xfrm>
            <a:off x="978408" y="4572000"/>
            <a:ext cx="0" cy="329184"/>
          </a:xfrm>
          <a:prstGeom prst="line">
            <a:avLst/>
          </a:prstGeom>
          <a:noFill/>
          <a:ln w="15240">
            <a:solidFill>
              <a:srgbClr val="193B57"/>
            </a:solidFill>
            <a:prstDash val="solid"/>
          </a:ln>
        </p:spPr>
      </p:sp>
      <p:sp>
        <p:nvSpPr>
          <p:cNvPr id="24" name="Text 22"/>
          <p:cNvSpPr/>
          <p:nvPr/>
        </p:nvSpPr>
        <p:spPr>
          <a:xfrm>
            <a:off x="777240" y="4919472"/>
            <a:ext cx="438912" cy="320040"/>
          </a:xfrm>
          <a:prstGeom prst="rect">
            <a:avLst/>
          </a:prstGeom>
          <a:noFill/>
          <a:ln/>
        </p:spPr>
        <p:txBody>
          <a:bodyPr wrap="square" lIns="254" tIns="254" rIns="254" bIns="254" rtlCol="0" anchor="ctr">
            <a:normAutofit/>
          </a:bodyPr>
          <a:lstStyle/>
          <a:p>
            <a:pPr algn="l" indent="0" marL="0">
              <a:buNone/>
            </a:pPr>
            <a:r>
              <a:rPr lang="en-US" sz="1300" b="1" dirty="0">
                <a:solidFill>
                  <a:srgbClr val="9B8CFF"/>
                </a:solidFill>
              </a:rPr>
              <a:t>05</a:t>
            </a:r>
            <a:endParaRPr lang="en-US" sz="1300" dirty="0"/>
          </a:p>
        </p:txBody>
      </p:sp>
      <p:sp>
        <p:nvSpPr>
          <p:cNvPr id="25" name="Text 23"/>
          <p:cNvSpPr/>
          <p:nvPr/>
        </p:nvSpPr>
        <p:spPr>
          <a:xfrm>
            <a:off x="1353312" y="4919472"/>
            <a:ext cx="1234440" cy="320040"/>
          </a:xfrm>
          <a:prstGeom prst="rect">
            <a:avLst/>
          </a:prstGeom>
          <a:noFill/>
          <a:ln/>
        </p:spPr>
        <p:txBody>
          <a:bodyPr wrap="square" lIns="254" tIns="254" rIns="254" bIns="254" rtlCol="0" anchor="ctr">
            <a:normAutofit/>
          </a:bodyPr>
          <a:lstStyle/>
          <a:p>
            <a:pPr algn="l" indent="0" marL="0">
              <a:buNone/>
            </a:pPr>
            <a:r>
              <a:rPr lang="en-US" sz="900" b="1" dirty="0">
                <a:solidFill>
                  <a:srgbClr val="9B8CFF"/>
                </a:solidFill>
              </a:rPr>
              <a:t>LEARN</a:t>
            </a:r>
            <a:endParaRPr lang="en-US" sz="900" dirty="0"/>
          </a:p>
        </p:txBody>
      </p:sp>
      <p:sp>
        <p:nvSpPr>
          <p:cNvPr id="26" name="Text 24"/>
          <p:cNvSpPr/>
          <p:nvPr/>
        </p:nvSpPr>
        <p:spPr>
          <a:xfrm>
            <a:off x="2606040" y="4919472"/>
            <a:ext cx="4645152" cy="347472"/>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Track lift and feed the outcome back into the model.</a:t>
            </a:r>
            <a:endParaRPr lang="en-US" sz="1100" dirty="0"/>
          </a:p>
        </p:txBody>
      </p:sp>
      <p:sp>
        <p:nvSpPr>
          <p:cNvPr id="27" name="Shape 25"/>
          <p:cNvSpPr/>
          <p:nvPr/>
        </p:nvSpPr>
        <p:spPr>
          <a:xfrm>
            <a:off x="7818120" y="1874520"/>
            <a:ext cx="3493008" cy="3886200"/>
          </a:xfrm>
          <a:prstGeom prst="roundRect">
            <a:avLst>
              <a:gd name="adj" fmla="val 2094"/>
            </a:avLst>
          </a:prstGeom>
          <a:solidFill>
            <a:srgbClr val="081D31"/>
          </a:solidFill>
          <a:ln w="11430">
            <a:solidFill>
              <a:srgbClr val="193B57"/>
            </a:solidFill>
            <a:prstDash val="solid"/>
          </a:ln>
        </p:spPr>
      </p:sp>
      <p:sp>
        <p:nvSpPr>
          <p:cNvPr id="28" name="Text 26"/>
          <p:cNvSpPr/>
          <p:nvPr/>
        </p:nvSpPr>
        <p:spPr>
          <a:xfrm>
            <a:off x="8119872" y="2212848"/>
            <a:ext cx="146304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FIRST PILOT</a:t>
            </a:r>
            <a:endParaRPr lang="en-US" sz="800" dirty="0"/>
          </a:p>
        </p:txBody>
      </p:sp>
      <p:sp>
        <p:nvSpPr>
          <p:cNvPr id="29" name="Text 27"/>
          <p:cNvSpPr/>
          <p:nvPr/>
        </p:nvSpPr>
        <p:spPr>
          <a:xfrm>
            <a:off x="8119872" y="2743200"/>
            <a:ext cx="2103120" cy="384048"/>
          </a:xfrm>
          <a:prstGeom prst="rect">
            <a:avLst/>
          </a:prstGeom>
          <a:noFill/>
          <a:ln/>
        </p:spPr>
        <p:txBody>
          <a:bodyPr wrap="square" lIns="254" tIns="254" rIns="254" bIns="254" rtlCol="0" anchor="ctr">
            <a:normAutofit/>
          </a:bodyPr>
          <a:lstStyle/>
          <a:p>
            <a:pPr algn="l" indent="0" marL="0">
              <a:buNone/>
            </a:pPr>
            <a:r>
              <a:rPr lang="en-US" sz="2100" b="1" dirty="0">
                <a:solidFill>
                  <a:srgbClr val="FFFFFF"/>
                </a:solidFill>
              </a:rPr>
              <a:t>10–20 players</a:t>
            </a:r>
            <a:endParaRPr lang="en-US" sz="2100" dirty="0"/>
          </a:p>
        </p:txBody>
      </p:sp>
      <p:sp>
        <p:nvSpPr>
          <p:cNvPr id="30" name="Text 28"/>
          <p:cNvSpPr/>
          <p:nvPr/>
        </p:nvSpPr>
        <p:spPr>
          <a:xfrm>
            <a:off x="8119872" y="3310128"/>
            <a:ext cx="2240280" cy="310896"/>
          </a:xfrm>
          <a:prstGeom prst="rect">
            <a:avLst/>
          </a:prstGeom>
          <a:noFill/>
          <a:ln/>
        </p:spPr>
        <p:txBody>
          <a:bodyPr wrap="square" lIns="254" tIns="254" rIns="254" bIns="254" rtlCol="0" anchor="ctr">
            <a:normAutofit/>
          </a:bodyPr>
          <a:lstStyle/>
          <a:p>
            <a:pPr algn="l" indent="0" marL="0">
              <a:buNone/>
            </a:pPr>
            <a:r>
              <a:rPr lang="en-US" sz="1200" b="1" dirty="0">
                <a:solidFill>
                  <a:srgbClr val="35D0BA"/>
                </a:solidFill>
              </a:rPr>
              <a:t>Quarterly refresh</a:t>
            </a:r>
            <a:endParaRPr lang="en-US" sz="1200" dirty="0"/>
          </a:p>
        </p:txBody>
      </p:sp>
      <p:sp>
        <p:nvSpPr>
          <p:cNvPr id="31" name="Text 29"/>
          <p:cNvSpPr/>
          <p:nvPr/>
        </p:nvSpPr>
        <p:spPr>
          <a:xfrm>
            <a:off x="8119872" y="3858768"/>
            <a:ext cx="2514600" cy="960120"/>
          </a:xfrm>
          <a:prstGeom prst="rect">
            <a:avLst/>
          </a:prstGeom>
          <a:noFill/>
          <a:ln/>
        </p:spPr>
        <p:txBody>
          <a:bodyPr wrap="square" lIns="254" tIns="254" rIns="254" bIns="254" rtlCol="0" anchor="ctr">
            <a:normAutofit/>
          </a:bodyPr>
          <a:lstStyle/>
          <a:p>
            <a:pPr algn="l" indent="0" marL="0">
              <a:buNone/>
            </a:pPr>
            <a:r>
              <a:rPr lang="en-US" sz="1100" dirty="0">
                <a:solidFill>
                  <a:srgbClr val="A9BAC9"/>
                </a:solidFill>
              </a:rPr>
              <a:t>One content or sponsor test for the top underexposed opportunity.</a:t>
            </a:r>
            <a:endParaRPr lang="en-US" sz="1100" dirty="0"/>
          </a:p>
        </p:txBody>
      </p:sp>
      <p:sp>
        <p:nvSpPr>
          <p:cNvPr id="32" name="Shape 30"/>
          <p:cNvSpPr/>
          <p:nvPr/>
        </p:nvSpPr>
        <p:spPr>
          <a:xfrm>
            <a:off x="8119872" y="5120640"/>
            <a:ext cx="2331720" cy="310896"/>
          </a:xfrm>
          <a:prstGeom prst="roundRect">
            <a:avLst>
              <a:gd name="adj" fmla="val 29412"/>
            </a:avLst>
          </a:prstGeom>
          <a:solidFill>
            <a:srgbClr val="00A3FF">
              <a:alpha val="18000"/>
            </a:srgbClr>
          </a:solidFill>
          <a:ln w="7620">
            <a:solidFill>
              <a:srgbClr val="00A3FF">
                <a:alpha val="65000"/>
              </a:srgbClr>
            </a:solidFill>
            <a:prstDash val="solid"/>
          </a:ln>
        </p:spPr>
      </p:sp>
      <p:sp>
        <p:nvSpPr>
          <p:cNvPr id="33" name="Text 31"/>
          <p:cNvSpPr/>
          <p:nvPr/>
        </p:nvSpPr>
        <p:spPr>
          <a:xfrm>
            <a:off x="8174736" y="5157216"/>
            <a:ext cx="2221992"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SMALL TEST → MEASURABLE LIFT</a:t>
            </a:r>
            <a:endParaRPr lang="en-US" sz="7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111F"/>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3FF"/>
          </a:solidFill>
          <a:ln w="12700">
            <a:solidFill>
              <a:srgbClr val="00A3FF">
                <a:alpha val="0"/>
              </a:srgbClr>
            </a:solidFill>
            <a:prstDash val="solid"/>
          </a:ln>
        </p:spPr>
      </p:sp>
      <p:sp>
        <p:nvSpPr>
          <p:cNvPr id="3" name="Text 1"/>
          <p:cNvSpPr/>
          <p:nvPr/>
        </p:nvSpPr>
        <p:spPr>
          <a:xfrm>
            <a:off x="621792" y="320040"/>
            <a:ext cx="3474720" cy="201168"/>
          </a:xfrm>
          <a:prstGeom prst="rect">
            <a:avLst/>
          </a:prstGeom>
          <a:noFill/>
          <a:ln/>
        </p:spPr>
        <p:txBody>
          <a:bodyPr wrap="square" lIns="0" tIns="0" rIns="0" bIns="0" rtlCol="0" anchor="ctr"/>
          <a:lstStyle/>
          <a:p>
            <a:pPr indent="0" marL="0">
              <a:buNone/>
            </a:pPr>
            <a:r>
              <a:rPr lang="en-US" sz="850" b="1" spc="110" kern="0" dirty="0">
                <a:solidFill>
                  <a:srgbClr val="00A3FF"/>
                </a:solidFill>
              </a:rPr>
              <a:t>GUARDRAILS</a:t>
            </a:r>
            <a:endParaRPr lang="en-US" sz="850" dirty="0"/>
          </a:p>
        </p:txBody>
      </p:sp>
      <p:sp>
        <p:nvSpPr>
          <p:cNvPr id="4" name="Text 2"/>
          <p:cNvSpPr/>
          <p:nvPr/>
        </p:nvSpPr>
        <p:spPr>
          <a:xfrm>
            <a:off x="621792" y="612648"/>
            <a:ext cx="10789920" cy="548640"/>
          </a:xfrm>
          <a:prstGeom prst="rect">
            <a:avLst/>
          </a:prstGeom>
          <a:noFill/>
          <a:ln/>
        </p:spPr>
        <p:txBody>
          <a:bodyPr wrap="square" lIns="0" tIns="0" rIns="0" bIns="0" rtlCol="0" anchor="ctr">
            <a:normAutofit/>
          </a:bodyPr>
          <a:lstStyle/>
          <a:p>
            <a:pPr indent="0" marL="0">
              <a:buNone/>
            </a:pPr>
            <a:r>
              <a:rPr lang="en-US" sz="2700" b="1" dirty="0">
                <a:solidFill>
                  <a:srgbClr val="F7FAFC"/>
                </a:solidFill>
              </a:rPr>
              <a:t>What this model can say—and what it cannot.</a:t>
            </a:r>
            <a:endParaRPr lang="en-US" sz="2700" dirty="0"/>
          </a:p>
        </p:txBody>
      </p:sp>
      <p:sp>
        <p:nvSpPr>
          <p:cNvPr id="5" name="Text 3"/>
          <p:cNvSpPr/>
          <p:nvPr/>
        </p:nvSpPr>
        <p:spPr>
          <a:xfrm>
            <a:off x="630936" y="1225296"/>
            <a:ext cx="10698480" cy="420624"/>
          </a:xfrm>
          <a:prstGeom prst="rect">
            <a:avLst/>
          </a:prstGeom>
          <a:noFill/>
          <a:ln/>
        </p:spPr>
        <p:txBody>
          <a:bodyPr wrap="square" lIns="0" tIns="0" rIns="0" bIns="0" rtlCol="0" anchor="ctr">
            <a:normAutofit/>
          </a:bodyPr>
          <a:lstStyle/>
          <a:p>
            <a:pPr indent="0" marL="0">
              <a:buNone/>
            </a:pPr>
            <a:r>
              <a:rPr lang="en-US" sz="1250" dirty="0">
                <a:solidFill>
                  <a:srgbClr val="A9BAC9"/>
                </a:solidFill>
              </a:rPr>
              <a:t>The fastest way to lose trust is to turn public proxies into false precision.</a:t>
            </a:r>
            <a:endParaRPr lang="en-US" sz="1250" dirty="0"/>
          </a:p>
        </p:txBody>
      </p:sp>
      <p:sp>
        <p:nvSpPr>
          <p:cNvPr id="6" name="Shape 4"/>
          <p:cNvSpPr/>
          <p:nvPr/>
        </p:nvSpPr>
        <p:spPr>
          <a:xfrm>
            <a:off x="566928" y="6455664"/>
            <a:ext cx="11064240" cy="0"/>
          </a:xfrm>
          <a:prstGeom prst="line">
            <a:avLst/>
          </a:prstGeom>
          <a:noFill/>
          <a:ln w="8890">
            <a:solidFill>
              <a:srgbClr val="193B57"/>
            </a:solidFill>
            <a:prstDash val="solid"/>
          </a:ln>
        </p:spPr>
      </p:sp>
      <p:sp>
        <p:nvSpPr>
          <p:cNvPr id="7" name="Text 5"/>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13</a:t>
            </a:r>
            <a:endParaRPr lang="en-US" sz="580" dirty="0"/>
          </a:p>
        </p:txBody>
      </p:sp>
      <p:sp>
        <p:nvSpPr>
          <p:cNvPr id="8" name="Text 6"/>
          <p:cNvSpPr/>
          <p:nvPr/>
        </p:nvSpPr>
        <p:spPr>
          <a:xfrm>
            <a:off x="749808" y="1874520"/>
            <a:ext cx="2286000" cy="256032"/>
          </a:xfrm>
          <a:prstGeom prst="rect">
            <a:avLst/>
          </a:prstGeom>
          <a:noFill/>
          <a:ln/>
        </p:spPr>
        <p:txBody>
          <a:bodyPr wrap="square" lIns="254" tIns="254" rIns="254" bIns="254" rtlCol="0" anchor="ctr">
            <a:normAutofit/>
          </a:bodyPr>
          <a:lstStyle/>
          <a:p>
            <a:pPr algn="l" indent="0" marL="0">
              <a:buNone/>
            </a:pPr>
            <a:r>
              <a:rPr lang="en-US" sz="800" b="1" dirty="0">
                <a:solidFill>
                  <a:srgbClr val="35D0BA"/>
                </a:solidFill>
              </a:rPr>
              <a:t>WHAT IT CAN DO</a:t>
            </a:r>
            <a:endParaRPr lang="en-US" sz="800" dirty="0"/>
          </a:p>
        </p:txBody>
      </p:sp>
      <p:sp>
        <p:nvSpPr>
          <p:cNvPr id="9" name="Text 7"/>
          <p:cNvSpPr/>
          <p:nvPr/>
        </p:nvSpPr>
        <p:spPr>
          <a:xfrm>
            <a:off x="6355080" y="1874520"/>
            <a:ext cx="2560320" cy="256032"/>
          </a:xfrm>
          <a:prstGeom prst="rect">
            <a:avLst/>
          </a:prstGeom>
          <a:noFill/>
          <a:ln/>
        </p:spPr>
        <p:txBody>
          <a:bodyPr wrap="square" lIns="254" tIns="254" rIns="254" bIns="254" rtlCol="0" anchor="ctr">
            <a:normAutofit/>
          </a:bodyPr>
          <a:lstStyle/>
          <a:p>
            <a:pPr algn="l" indent="0" marL="0">
              <a:buNone/>
            </a:pPr>
            <a:r>
              <a:rPr lang="en-US" sz="800" b="1" dirty="0">
                <a:solidFill>
                  <a:srgbClr val="F4C95D"/>
                </a:solidFill>
              </a:rPr>
              <a:t>WHAT IT CANNOT DO</a:t>
            </a:r>
            <a:endParaRPr lang="en-US" sz="800" dirty="0"/>
          </a:p>
        </p:txBody>
      </p:sp>
      <p:sp>
        <p:nvSpPr>
          <p:cNvPr id="10" name="Shape 8"/>
          <p:cNvSpPr/>
          <p:nvPr/>
        </p:nvSpPr>
        <p:spPr>
          <a:xfrm>
            <a:off x="868680" y="2450592"/>
            <a:ext cx="128016" cy="128016"/>
          </a:xfrm>
          <a:prstGeom prst="ellipse">
            <a:avLst/>
          </a:prstGeom>
          <a:solidFill>
            <a:srgbClr val="35D0BA"/>
          </a:solidFill>
          <a:ln w="12700">
            <a:solidFill>
              <a:srgbClr val="35D0BA">
                <a:alpha val="0"/>
              </a:srgbClr>
            </a:solidFill>
            <a:prstDash val="solid"/>
          </a:ln>
        </p:spPr>
      </p:sp>
      <p:sp>
        <p:nvSpPr>
          <p:cNvPr id="11" name="Text 9"/>
          <p:cNvSpPr/>
          <p:nvPr/>
        </p:nvSpPr>
        <p:spPr>
          <a:xfrm>
            <a:off x="1170432" y="2395728"/>
            <a:ext cx="434340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Prioritize players for deeper review</a:t>
            </a:r>
            <a:endParaRPr lang="en-US" sz="1100" dirty="0"/>
          </a:p>
        </p:txBody>
      </p:sp>
      <p:sp>
        <p:nvSpPr>
          <p:cNvPr id="12" name="Shape 10"/>
          <p:cNvSpPr/>
          <p:nvPr/>
        </p:nvSpPr>
        <p:spPr>
          <a:xfrm>
            <a:off x="868680" y="3154680"/>
            <a:ext cx="128016" cy="128016"/>
          </a:xfrm>
          <a:prstGeom prst="ellipse">
            <a:avLst/>
          </a:prstGeom>
          <a:solidFill>
            <a:srgbClr val="35D0BA"/>
          </a:solidFill>
          <a:ln w="12700">
            <a:solidFill>
              <a:srgbClr val="35D0BA">
                <a:alpha val="0"/>
              </a:srgbClr>
            </a:solidFill>
            <a:prstDash val="solid"/>
          </a:ln>
        </p:spPr>
      </p:sp>
      <p:sp>
        <p:nvSpPr>
          <p:cNvPr id="13" name="Text 11"/>
          <p:cNvSpPr/>
          <p:nvPr/>
        </p:nvSpPr>
        <p:spPr>
          <a:xfrm>
            <a:off x="1170432" y="3099816"/>
            <a:ext cx="434340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Track public attention and momentum</a:t>
            </a:r>
            <a:endParaRPr lang="en-US" sz="1100" dirty="0"/>
          </a:p>
        </p:txBody>
      </p:sp>
      <p:sp>
        <p:nvSpPr>
          <p:cNvPr id="14" name="Shape 12"/>
          <p:cNvSpPr/>
          <p:nvPr/>
        </p:nvSpPr>
        <p:spPr>
          <a:xfrm>
            <a:off x="868680" y="3858768"/>
            <a:ext cx="128016" cy="128016"/>
          </a:xfrm>
          <a:prstGeom prst="ellipse">
            <a:avLst/>
          </a:prstGeom>
          <a:solidFill>
            <a:srgbClr val="35D0BA"/>
          </a:solidFill>
          <a:ln w="12700">
            <a:solidFill>
              <a:srgbClr val="35D0BA">
                <a:alpha val="0"/>
              </a:srgbClr>
            </a:solidFill>
            <a:prstDash val="solid"/>
          </a:ln>
        </p:spPr>
      </p:sp>
      <p:sp>
        <p:nvSpPr>
          <p:cNvPr id="15" name="Text 13"/>
          <p:cNvSpPr/>
          <p:nvPr/>
        </p:nvSpPr>
        <p:spPr>
          <a:xfrm>
            <a:off x="1170432" y="3803904"/>
            <a:ext cx="434340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Compare results under different assumptions</a:t>
            </a:r>
            <a:endParaRPr lang="en-US" sz="1100" dirty="0"/>
          </a:p>
        </p:txBody>
      </p:sp>
      <p:sp>
        <p:nvSpPr>
          <p:cNvPr id="16" name="Shape 14"/>
          <p:cNvSpPr/>
          <p:nvPr/>
        </p:nvSpPr>
        <p:spPr>
          <a:xfrm>
            <a:off x="868680" y="4562856"/>
            <a:ext cx="128016" cy="128016"/>
          </a:xfrm>
          <a:prstGeom prst="ellipse">
            <a:avLst/>
          </a:prstGeom>
          <a:solidFill>
            <a:srgbClr val="35D0BA"/>
          </a:solidFill>
          <a:ln w="12700">
            <a:solidFill>
              <a:srgbClr val="35D0BA">
                <a:alpha val="0"/>
              </a:srgbClr>
            </a:solidFill>
            <a:prstDash val="solid"/>
          </a:ln>
        </p:spPr>
      </p:sp>
      <p:sp>
        <p:nvSpPr>
          <p:cNvPr id="17" name="Text 15"/>
          <p:cNvSpPr/>
          <p:nvPr/>
        </p:nvSpPr>
        <p:spPr>
          <a:xfrm>
            <a:off x="1170432" y="4507992"/>
            <a:ext cx="434340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Generate testable commercial hypotheses</a:t>
            </a:r>
            <a:endParaRPr lang="en-US" sz="1100" dirty="0"/>
          </a:p>
        </p:txBody>
      </p:sp>
      <p:sp>
        <p:nvSpPr>
          <p:cNvPr id="18" name="Shape 16"/>
          <p:cNvSpPr/>
          <p:nvPr/>
        </p:nvSpPr>
        <p:spPr>
          <a:xfrm>
            <a:off x="6473952" y="2450592"/>
            <a:ext cx="128016" cy="128016"/>
          </a:xfrm>
          <a:prstGeom prst="ellipse">
            <a:avLst/>
          </a:prstGeom>
          <a:solidFill>
            <a:srgbClr val="F4C95D"/>
          </a:solidFill>
          <a:ln w="12700">
            <a:solidFill>
              <a:srgbClr val="F4C95D">
                <a:alpha val="0"/>
              </a:srgbClr>
            </a:solidFill>
            <a:prstDash val="solid"/>
          </a:ln>
        </p:spPr>
      </p:sp>
      <p:sp>
        <p:nvSpPr>
          <p:cNvPr id="19" name="Text 17"/>
          <p:cNvSpPr/>
          <p:nvPr/>
        </p:nvSpPr>
        <p:spPr>
          <a:xfrm>
            <a:off x="6775704" y="2395728"/>
            <a:ext cx="438912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Know private endorsement economics</a:t>
            </a:r>
            <a:endParaRPr lang="en-US" sz="1100" dirty="0"/>
          </a:p>
        </p:txBody>
      </p:sp>
      <p:sp>
        <p:nvSpPr>
          <p:cNvPr id="20" name="Shape 18"/>
          <p:cNvSpPr/>
          <p:nvPr/>
        </p:nvSpPr>
        <p:spPr>
          <a:xfrm>
            <a:off x="6473952" y="3154680"/>
            <a:ext cx="128016" cy="128016"/>
          </a:xfrm>
          <a:prstGeom prst="ellipse">
            <a:avLst/>
          </a:prstGeom>
          <a:solidFill>
            <a:srgbClr val="F4C95D"/>
          </a:solidFill>
          <a:ln w="12700">
            <a:solidFill>
              <a:srgbClr val="F4C95D">
                <a:alpha val="0"/>
              </a:srgbClr>
            </a:solidFill>
            <a:prstDash val="solid"/>
          </a:ln>
        </p:spPr>
      </p:sp>
      <p:sp>
        <p:nvSpPr>
          <p:cNvPr id="21" name="Text 19"/>
          <p:cNvSpPr/>
          <p:nvPr/>
        </p:nvSpPr>
        <p:spPr>
          <a:xfrm>
            <a:off x="6775704" y="3099816"/>
            <a:ext cx="438912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Measure exact sponsor ROI from public data</a:t>
            </a:r>
            <a:endParaRPr lang="en-US" sz="1100" dirty="0"/>
          </a:p>
        </p:txBody>
      </p:sp>
      <p:sp>
        <p:nvSpPr>
          <p:cNvPr id="22" name="Shape 20"/>
          <p:cNvSpPr/>
          <p:nvPr/>
        </p:nvSpPr>
        <p:spPr>
          <a:xfrm>
            <a:off x="6473952" y="3858768"/>
            <a:ext cx="128016" cy="128016"/>
          </a:xfrm>
          <a:prstGeom prst="ellipse">
            <a:avLst/>
          </a:prstGeom>
          <a:solidFill>
            <a:srgbClr val="F4C95D"/>
          </a:solidFill>
          <a:ln w="12700">
            <a:solidFill>
              <a:srgbClr val="F4C95D">
                <a:alpha val="0"/>
              </a:srgbClr>
            </a:solidFill>
            <a:prstDash val="solid"/>
          </a:ln>
        </p:spPr>
      </p:sp>
      <p:sp>
        <p:nvSpPr>
          <p:cNvPr id="23" name="Text 21"/>
          <p:cNvSpPr/>
          <p:nvPr/>
        </p:nvSpPr>
        <p:spPr>
          <a:xfrm>
            <a:off x="6775704" y="3803904"/>
            <a:ext cx="438912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Replace brand-safety or human judgment</a:t>
            </a:r>
            <a:endParaRPr lang="en-US" sz="1100" dirty="0"/>
          </a:p>
        </p:txBody>
      </p:sp>
      <p:sp>
        <p:nvSpPr>
          <p:cNvPr id="24" name="Shape 22"/>
          <p:cNvSpPr/>
          <p:nvPr/>
        </p:nvSpPr>
        <p:spPr>
          <a:xfrm>
            <a:off x="6473952" y="4562856"/>
            <a:ext cx="128016" cy="128016"/>
          </a:xfrm>
          <a:prstGeom prst="ellipse">
            <a:avLst/>
          </a:prstGeom>
          <a:solidFill>
            <a:srgbClr val="F4C95D"/>
          </a:solidFill>
          <a:ln w="12700">
            <a:solidFill>
              <a:srgbClr val="F4C95D">
                <a:alpha val="0"/>
              </a:srgbClr>
            </a:solidFill>
            <a:prstDash val="solid"/>
          </a:ln>
        </p:spPr>
      </p:sp>
      <p:sp>
        <p:nvSpPr>
          <p:cNvPr id="25" name="Text 23"/>
          <p:cNvSpPr/>
          <p:nvPr/>
        </p:nvSpPr>
        <p:spPr>
          <a:xfrm>
            <a:off x="6775704" y="4507992"/>
            <a:ext cx="4389120" cy="329184"/>
          </a:xfrm>
          <a:prstGeom prst="rect">
            <a:avLst/>
          </a:prstGeom>
          <a:noFill/>
          <a:ln/>
        </p:spPr>
        <p:txBody>
          <a:bodyPr wrap="square" lIns="254" tIns="254" rIns="254" bIns="254" rtlCol="0" anchor="ctr">
            <a:normAutofit/>
          </a:bodyPr>
          <a:lstStyle/>
          <a:p>
            <a:pPr algn="l" indent="0" marL="0">
              <a:buNone/>
            </a:pPr>
            <a:r>
              <a:rPr lang="en-US" sz="1100" b="1" dirty="0">
                <a:solidFill>
                  <a:srgbClr val="FFFFFF"/>
                </a:solidFill>
              </a:rPr>
              <a:t>Claim causality from correlation alone</a:t>
            </a:r>
            <a:endParaRPr lang="en-US" sz="1100" dirty="0"/>
          </a:p>
        </p:txBody>
      </p:sp>
      <p:sp>
        <p:nvSpPr>
          <p:cNvPr id="26" name="Shape 24"/>
          <p:cNvSpPr/>
          <p:nvPr/>
        </p:nvSpPr>
        <p:spPr>
          <a:xfrm>
            <a:off x="749808" y="5440680"/>
            <a:ext cx="10424160" cy="530352"/>
          </a:xfrm>
          <a:prstGeom prst="roundRect">
            <a:avLst>
              <a:gd name="adj" fmla="val 13793"/>
            </a:avLst>
          </a:prstGeom>
          <a:solidFill>
            <a:srgbClr val="0B2741"/>
          </a:solidFill>
          <a:ln w="11430">
            <a:solidFill>
              <a:srgbClr val="193B57"/>
            </a:solidFill>
            <a:prstDash val="solid"/>
          </a:ln>
        </p:spPr>
      </p:sp>
      <p:sp>
        <p:nvSpPr>
          <p:cNvPr id="27" name="Text 25"/>
          <p:cNvSpPr/>
          <p:nvPr/>
        </p:nvSpPr>
        <p:spPr>
          <a:xfrm>
            <a:off x="1005840" y="5577840"/>
            <a:ext cx="9921240" cy="256032"/>
          </a:xfrm>
          <a:prstGeom prst="rect">
            <a:avLst/>
          </a:prstGeom>
          <a:noFill/>
          <a:ln/>
        </p:spPr>
        <p:txBody>
          <a:bodyPr wrap="square" lIns="254" tIns="254" rIns="254" bIns="254" rtlCol="0" anchor="ctr">
            <a:normAutofit/>
          </a:bodyPr>
          <a:lstStyle/>
          <a:p>
            <a:pPr algn="ctr" indent="0" marL="0">
              <a:buNone/>
            </a:pPr>
            <a:r>
              <a:rPr lang="en-US" sz="1100" b="1" dirty="0">
                <a:solidFill>
                  <a:srgbClr val="FFFFFF"/>
                </a:solidFill>
              </a:rPr>
              <a:t>Design principle: use the model to decide where to investigate—not to pretend public data knows everything.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A13"/>
        </a:solidFill>
      </p:bgPr>
    </p:bg>
    <p:spTree>
      <p:nvGrpSpPr>
        <p:cNvPr id="1" name=""/>
        <p:cNvGrpSpPr/>
        <p:nvPr/>
      </p:nvGrpSpPr>
      <p:grpSpPr>
        <a:xfrm>
          <a:off x="0" y="0"/>
          <a:ext cx="0" cy="0"/>
          <a:chOff x="0" y="0"/>
          <a:chExt cx="0" cy="0"/>
        </a:xfrm>
      </p:grpSpPr>
      <p:sp>
        <p:nvSpPr>
          <p:cNvPr id="2" name="Text 0"/>
          <p:cNvSpPr/>
          <p:nvPr/>
        </p:nvSpPr>
        <p:spPr>
          <a:xfrm>
            <a:off x="658368" y="640080"/>
            <a:ext cx="2651760" cy="274320"/>
          </a:xfrm>
          <a:prstGeom prst="rect">
            <a:avLst/>
          </a:prstGeom>
          <a:noFill/>
          <a:ln/>
        </p:spPr>
        <p:txBody>
          <a:bodyPr wrap="square" lIns="254" tIns="254" rIns="254" bIns="254" rtlCol="0" anchor="ctr">
            <a:normAutofit/>
          </a:bodyPr>
          <a:lstStyle/>
          <a:p>
            <a:pPr algn="l" indent="0" marL="0">
              <a:buNone/>
            </a:pPr>
            <a:r>
              <a:rPr lang="en-US" sz="900" b="1" dirty="0">
                <a:solidFill>
                  <a:srgbClr val="00A3FF"/>
                </a:solidFill>
              </a:rPr>
              <a:t>MAV METRICS</a:t>
            </a:r>
            <a:endParaRPr lang="en-US" sz="900" dirty="0"/>
          </a:p>
        </p:txBody>
      </p:sp>
      <p:sp>
        <p:nvSpPr>
          <p:cNvPr id="3" name="Text 1"/>
          <p:cNvSpPr/>
          <p:nvPr/>
        </p:nvSpPr>
        <p:spPr>
          <a:xfrm>
            <a:off x="658368" y="1261872"/>
            <a:ext cx="7086600" cy="2148840"/>
          </a:xfrm>
          <a:prstGeom prst="rect">
            <a:avLst/>
          </a:prstGeom>
          <a:noFill/>
          <a:ln/>
        </p:spPr>
        <p:txBody>
          <a:bodyPr wrap="square" lIns="254" tIns="254" rIns="254" bIns="254" rtlCol="0" anchor="ctr">
            <a:normAutofit/>
          </a:bodyPr>
          <a:lstStyle/>
          <a:p>
            <a:pPr algn="l" indent="0" marL="0">
              <a:buNone/>
            </a:pPr>
            <a:r>
              <a:rPr lang="en-US" sz="3100" b="1" dirty="0">
                <a:solidFill>
                  <a:srgbClr val="FFFFFF"/>
                </a:solidFill>
              </a:rPr>
              <a:t>Find the gap.</a:t>
            </a:r>
            <a:endParaRPr lang="en-US" sz="3100" dirty="0"/>
          </a:p>
          <a:p>
            <a:pPr algn="l" indent="0" marL="0">
              <a:buNone/>
            </a:pPr>
            <a:r>
              <a:rPr lang="en-US" sz="3100" b="1" dirty="0">
                <a:solidFill>
                  <a:srgbClr val="FFFFFF"/>
                </a:solidFill>
              </a:rPr>
              <a:t>Track the momentum.</a:t>
            </a:r>
            <a:endParaRPr lang="en-US" sz="3100" dirty="0"/>
          </a:p>
          <a:p>
            <a:pPr algn="l" indent="0" marL="0">
              <a:buNone/>
            </a:pPr>
            <a:r>
              <a:rPr lang="en-US" sz="3100" b="1" dirty="0">
                <a:solidFill>
                  <a:srgbClr val="FFFFFF"/>
                </a:solidFill>
              </a:rPr>
              <a:t>Act before the market.</a:t>
            </a:r>
            <a:endParaRPr lang="en-US" sz="3100" dirty="0"/>
          </a:p>
        </p:txBody>
      </p:sp>
      <p:sp>
        <p:nvSpPr>
          <p:cNvPr id="4" name="Text 2"/>
          <p:cNvSpPr/>
          <p:nvPr/>
        </p:nvSpPr>
        <p:spPr>
          <a:xfrm>
            <a:off x="676656" y="3794760"/>
            <a:ext cx="5669280" cy="530352"/>
          </a:xfrm>
          <a:prstGeom prst="rect">
            <a:avLst/>
          </a:prstGeom>
          <a:noFill/>
          <a:ln/>
        </p:spPr>
        <p:txBody>
          <a:bodyPr wrap="square" lIns="254" tIns="254" rIns="254" bIns="254" rtlCol="0" anchor="ctr">
            <a:normAutofit/>
          </a:bodyPr>
          <a:lstStyle/>
          <a:p>
            <a:pPr algn="l" indent="0" marL="0">
              <a:buNone/>
            </a:pPr>
            <a:r>
              <a:rPr lang="en-US" sz="1300" dirty="0">
                <a:solidFill>
                  <a:srgbClr val="A9BAC9"/>
                </a:solidFill>
              </a:rPr>
              <a:t>An explainable public-data system for spotting underexposed player value.</a:t>
            </a:r>
            <a:endParaRPr lang="en-US" sz="1300" dirty="0"/>
          </a:p>
        </p:txBody>
      </p:sp>
      <p:sp>
        <p:nvSpPr>
          <p:cNvPr id="5" name="Shape 3"/>
          <p:cNvSpPr/>
          <p:nvPr/>
        </p:nvSpPr>
        <p:spPr>
          <a:xfrm>
            <a:off x="7863840" y="1234440"/>
            <a:ext cx="3337560" cy="3611880"/>
          </a:xfrm>
          <a:prstGeom prst="roundRect">
            <a:avLst>
              <a:gd name="adj" fmla="val 2192"/>
            </a:avLst>
          </a:prstGeom>
          <a:solidFill>
            <a:srgbClr val="081D31"/>
          </a:solidFill>
          <a:ln w="11430">
            <a:solidFill>
              <a:srgbClr val="193B57"/>
            </a:solidFill>
            <a:prstDash val="solid"/>
          </a:ln>
        </p:spPr>
      </p:sp>
      <p:sp>
        <p:nvSpPr>
          <p:cNvPr id="6" name="Text 4"/>
          <p:cNvSpPr/>
          <p:nvPr/>
        </p:nvSpPr>
        <p:spPr>
          <a:xfrm>
            <a:off x="8183880" y="1600200"/>
            <a:ext cx="2011680" cy="256032"/>
          </a:xfrm>
          <a:prstGeom prst="rect">
            <a:avLst/>
          </a:prstGeom>
          <a:noFill/>
          <a:ln/>
        </p:spPr>
        <p:txBody>
          <a:bodyPr wrap="square" lIns="254" tIns="254" rIns="254" bIns="254" rtlCol="0" anchor="ctr">
            <a:normAutofit/>
          </a:bodyPr>
          <a:lstStyle/>
          <a:p>
            <a:pPr algn="l" indent="0" marL="0">
              <a:buNone/>
            </a:pPr>
            <a:r>
              <a:rPr lang="en-US" sz="800" b="1" dirty="0">
                <a:solidFill>
                  <a:srgbClr val="00A3FF"/>
                </a:solidFill>
              </a:rPr>
              <a:t>THE TAKEAWAY</a:t>
            </a:r>
            <a:endParaRPr lang="en-US" sz="800" dirty="0"/>
          </a:p>
        </p:txBody>
      </p:sp>
      <p:sp>
        <p:nvSpPr>
          <p:cNvPr id="7" name="Text 5"/>
          <p:cNvSpPr/>
          <p:nvPr/>
        </p:nvSpPr>
        <p:spPr>
          <a:xfrm>
            <a:off x="8183880" y="2212848"/>
            <a:ext cx="2514600" cy="713232"/>
          </a:xfrm>
          <a:prstGeom prst="rect">
            <a:avLst/>
          </a:prstGeom>
          <a:noFill/>
          <a:ln/>
        </p:spPr>
        <p:txBody>
          <a:bodyPr wrap="square" lIns="254" tIns="254" rIns="254" bIns="254" rtlCol="0" anchor="ctr">
            <a:normAutofit/>
          </a:bodyPr>
          <a:lstStyle/>
          <a:p>
            <a:pPr algn="l" indent="0" marL="0">
              <a:buNone/>
            </a:pPr>
            <a:r>
              <a:rPr lang="en-US" sz="1600" b="1" dirty="0">
                <a:solidFill>
                  <a:srgbClr val="FFFFFF"/>
                </a:solidFill>
              </a:rPr>
              <a:t>Marketability is not a popularity contest.</a:t>
            </a:r>
            <a:endParaRPr lang="en-US" sz="1600" dirty="0"/>
          </a:p>
        </p:txBody>
      </p:sp>
      <p:sp>
        <p:nvSpPr>
          <p:cNvPr id="8" name="Text 6"/>
          <p:cNvSpPr/>
          <p:nvPr/>
        </p:nvSpPr>
        <p:spPr>
          <a:xfrm>
            <a:off x="8183880" y="3182112"/>
            <a:ext cx="2514600" cy="1005840"/>
          </a:xfrm>
          <a:prstGeom prst="rect">
            <a:avLst/>
          </a:prstGeom>
          <a:noFill/>
          <a:ln/>
        </p:spPr>
        <p:txBody>
          <a:bodyPr wrap="square" lIns="254" tIns="254" rIns="254" bIns="254" rtlCol="0" anchor="ctr">
            <a:normAutofit/>
          </a:bodyPr>
          <a:lstStyle/>
          <a:p>
            <a:pPr algn="l" indent="0" marL="0">
              <a:buNone/>
            </a:pPr>
            <a:r>
              <a:rPr lang="en-US" sz="1100" dirty="0">
                <a:solidFill>
                  <a:srgbClr val="A9BAC9"/>
                </a:solidFill>
              </a:rPr>
              <a:t>It is a moving relationship between performance, attention, audience quality, and commercial proof.</a:t>
            </a:r>
            <a:endParaRPr lang="en-US" sz="1100" dirty="0"/>
          </a:p>
        </p:txBody>
      </p:sp>
      <p:sp>
        <p:nvSpPr>
          <p:cNvPr id="9" name="Shape 7"/>
          <p:cNvSpPr/>
          <p:nvPr/>
        </p:nvSpPr>
        <p:spPr>
          <a:xfrm>
            <a:off x="8183880" y="4343400"/>
            <a:ext cx="1243584" cy="310896"/>
          </a:xfrm>
          <a:prstGeom prst="roundRect">
            <a:avLst>
              <a:gd name="adj" fmla="val 29412"/>
            </a:avLst>
          </a:prstGeom>
          <a:solidFill>
            <a:srgbClr val="35D0BA">
              <a:alpha val="18000"/>
            </a:srgbClr>
          </a:solidFill>
          <a:ln w="7620">
            <a:solidFill>
              <a:srgbClr val="35D0BA">
                <a:alpha val="65000"/>
              </a:srgbClr>
            </a:solidFill>
            <a:prstDash val="solid"/>
          </a:ln>
        </p:spPr>
      </p:sp>
      <p:sp>
        <p:nvSpPr>
          <p:cNvPr id="10" name="Text 8"/>
          <p:cNvSpPr/>
          <p:nvPr/>
        </p:nvSpPr>
        <p:spPr>
          <a:xfrm>
            <a:off x="8238744" y="4379976"/>
            <a:ext cx="1133856" cy="219456"/>
          </a:xfrm>
          <a:prstGeom prst="rect">
            <a:avLst/>
          </a:prstGeom>
          <a:noFill/>
          <a:ln/>
        </p:spPr>
        <p:txBody>
          <a:bodyPr wrap="square" lIns="254" tIns="254" rIns="254" bIns="254" rtlCol="0" anchor="ctr">
            <a:normAutofit/>
          </a:bodyPr>
          <a:lstStyle/>
          <a:p>
            <a:pPr algn="ctr" indent="0" marL="0">
              <a:buNone/>
            </a:pPr>
            <a:r>
              <a:rPr lang="en-US" sz="730" b="1" dirty="0">
                <a:solidFill>
                  <a:srgbClr val="F7FAFC"/>
                </a:solidFill>
              </a:rPr>
              <a:t>QUESTIONS?</a:t>
            </a:r>
            <a:endParaRPr lang="en-US" sz="730" dirty="0"/>
          </a:p>
        </p:txBody>
      </p:sp>
      <p:sp>
        <p:nvSpPr>
          <p:cNvPr id="11" name="Text 9"/>
          <p:cNvSpPr/>
          <p:nvPr/>
        </p:nvSpPr>
        <p:spPr>
          <a:xfrm>
            <a:off x="676656" y="5687568"/>
            <a:ext cx="4480560" cy="292608"/>
          </a:xfrm>
          <a:prstGeom prst="rect">
            <a:avLst/>
          </a:prstGeom>
          <a:noFill/>
          <a:ln/>
        </p:spPr>
        <p:txBody>
          <a:bodyPr wrap="square" lIns="254" tIns="254" rIns="254" bIns="254" rtlCol="0" anchor="ctr">
            <a:normAutofit/>
          </a:bodyPr>
          <a:lstStyle/>
          <a:p>
            <a:pPr algn="l" indent="0" marL="0">
              <a:buNone/>
            </a:pPr>
            <a:r>
              <a:rPr lang="en-US" sz="1000" b="1" dirty="0">
                <a:solidFill>
                  <a:srgbClr val="40D9FF"/>
                </a:solidFill>
              </a:rPr>
              <a:t>github.com/joshmzamora/mav-metrics</a:t>
            </a:r>
            <a:endParaRPr lang="en-US" sz="1000" dirty="0"/>
          </a:p>
        </p:txBody>
      </p:sp>
      <p:sp>
        <p:nvSpPr>
          <p:cNvPr id="12" name="Text 10"/>
          <p:cNvSpPr/>
          <p:nvPr/>
        </p:nvSpPr>
        <p:spPr>
          <a:xfrm>
            <a:off x="676656" y="6080760"/>
            <a:ext cx="4389120" cy="256032"/>
          </a:xfrm>
          <a:prstGeom prst="rect">
            <a:avLst/>
          </a:prstGeom>
          <a:noFill/>
          <a:ln/>
        </p:spPr>
        <p:txBody>
          <a:bodyPr wrap="square" lIns="254" tIns="254" rIns="254" bIns="254" rtlCol="0" anchor="ctr">
            <a:normAutofit/>
          </a:bodyPr>
          <a:lstStyle/>
          <a:p>
            <a:pPr algn="l" indent="0" marL="0">
              <a:buNone/>
            </a:pPr>
            <a:r>
              <a:rPr lang="en-US" sz="800" b="1" dirty="0">
                <a:solidFill>
                  <a:srgbClr val="7E93A5"/>
                </a:solidFill>
              </a:rPr>
              <a:t>Joshua  •  Shresta  •  Veer  •  Sejal</a:t>
            </a:r>
            <a:endParaRPr lang="en-US" sz="800" dirty="0"/>
          </a:p>
        </p:txBody>
      </p:sp>
      <p:sp>
        <p:nvSpPr>
          <p:cNvPr id="13" name="Shape 11"/>
          <p:cNvSpPr/>
          <p:nvPr/>
        </p:nvSpPr>
        <p:spPr>
          <a:xfrm>
            <a:off x="566928" y="6455664"/>
            <a:ext cx="11064240" cy="0"/>
          </a:xfrm>
          <a:prstGeom prst="line">
            <a:avLst/>
          </a:prstGeom>
          <a:noFill/>
          <a:ln w="8890">
            <a:solidFill>
              <a:srgbClr val="193B57"/>
            </a:solidFill>
            <a:prstDash val="solid"/>
          </a:ln>
        </p:spPr>
      </p:sp>
      <p:sp>
        <p:nvSpPr>
          <p:cNvPr id="14" name="Text 12"/>
          <p:cNvSpPr/>
          <p:nvPr/>
        </p:nvSpPr>
        <p:spPr>
          <a:xfrm>
            <a:off x="594360" y="6510528"/>
            <a:ext cx="1737360" cy="146304"/>
          </a:xfrm>
          <a:prstGeom prst="rect">
            <a:avLst/>
          </a:prstGeom>
          <a:noFill/>
          <a:ln/>
        </p:spPr>
        <p:txBody>
          <a:bodyPr wrap="square" lIns="0" tIns="0" rIns="0" bIns="0" rtlCol="0" anchor="ctr"/>
          <a:lstStyle/>
          <a:p>
            <a:pPr indent="0" marL="0">
              <a:buNone/>
            </a:pPr>
            <a:r>
              <a:rPr lang="en-US" sz="580" b="1" spc="70" kern="0" dirty="0">
                <a:solidFill>
                  <a:srgbClr val="6F879A"/>
                </a:solidFill>
              </a:rPr>
              <a:t>MAV METRICS  •  14</a:t>
            </a:r>
            <a:endParaRPr lang="en-US" sz="5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2026 Sports Analytics Case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 Metrics — Player Marketability Model</dc:title>
  <dc:subject>Player Marketability Model</dc:subject>
  <dc:creator>Mav Metrics</dc:creator>
  <cp:lastModifiedBy>Mav Metrics</cp:lastModifiedBy>
  <cp:revision>1</cp:revision>
  <dcterms:created xsi:type="dcterms:W3CDTF">2026-10-06T04:43:04Z</dcterms:created>
  <dcterms:modified xsi:type="dcterms:W3CDTF">2026-10-06T04:43:04Z</dcterms:modified>
</cp:coreProperties>
</file>