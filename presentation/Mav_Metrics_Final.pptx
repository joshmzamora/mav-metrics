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a:t>
            </a:r>
            <a:br/>
            <a:r>
              <a:t>TIME: ~35 sec</a:t>
            </a:r>
            <a:br/>
            <a:br/>
            <a:r>
              <a:t>SAY:</a:t>
            </a:r>
            <a:br/>
            <a:r>
              <a:t>Most marketability models answer the easy question: who is already famous? We wanted to answer the more useful question: who is about to become commercially valuable before everyone else sees it? Mav Metrics combines performance, reach, attention, engagement, momentum, and brand signals into one explainable system. The output is not just a ranking—it is a decision tool.</a:t>
            </a:r>
            <a:br/>
            <a:br/>
            <a:r>
              <a:t>HANDOFF: I’ll start with the opportunity signal that makes the model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a:t>
            </a:r>
            <a:br/>
            <a:r>
              <a:t>TIME: ~35 sec</a:t>
            </a:r>
            <a:br/>
            <a:br/>
            <a:r>
              <a:t>SAY:</a:t>
            </a:r>
            <a:br/>
            <a:r>
              <a:t>The centerpiece is the marketability gap. We estimate how marketable a player should be from basketball performance, then compare that benchmark with the marketability signals we actually observe. A negative gap does not mean a player is bad at marketing. It means performance may be ahead of commercial attention, which is exactly where a team, agent, or sponsor can act early.</a:t>
            </a:r>
            <a:br/>
            <a:br/>
            <a:r>
              <a:t>HANDOFF: Shresta will show who uses this and what goes into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a:t>
            </a:r>
            <a:br/>
            <a:r>
              <a:t>TIME: ~30 sec</a:t>
            </a:r>
            <a:br/>
            <a:br/>
            <a:r>
              <a:t>SAY:</a:t>
            </a:r>
            <a:br/>
            <a:r>
              <a:t>We designed the output around decisions, not math for its own sake. A team can use it to decide where to spend content resources. An agent can support a player’s commercial story with evidence. A sponsor can identify rising talent before pricing fully catches up. That is why every score needs both an explanation and a next action.</a:t>
            </a:r>
            <a:br/>
            <a:br/>
            <a:r>
              <a:t>TRANSITION: To make those decisions defensible, the model uses six public-data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a:t>
            </a:r>
            <a:br/>
            <a:r>
              <a:t>TIME: ~35 sec</a:t>
            </a:r>
            <a:br/>
            <a:br/>
            <a:r>
              <a:t>SAY:</a:t>
            </a:r>
            <a:br/>
            <a:r>
              <a:t>The six pillars are performance, reach, attention, engagement, momentum, and brand. Performance creates credibility. Reach measures distribution. Attention captures demand beyond a player’s own accounts. Engagement shows audience quality. Momentum measures change. Brand captures commercial proof and fit. We put unlike variables on the same 0-to-100 percentile scale before weighting them.</a:t>
            </a:r>
            <a:br/>
            <a:br/>
            <a:r>
              <a:t>HANDOFF: Veer will show exactly how those six pillars turn into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~40 sec</a:t>
            </a:r>
            <a:br/>
            <a:br/>
            <a:r>
              <a:t>SAY:</a:t>
            </a:r>
            <a:br/>
            <a:r>
              <a:t>The pipeline has three transparent steps. First, we normalize large count variables with a log transform and convert features to percentiles. Second, we combine the six pillars using the disclosed weights. Third, we estimate expected marketability from basketball performance and subtract it from the observed score. That residual is the marketability gap. Negative gap plus strong momentum is where we scout first.</a:t>
            </a:r>
            <a:br/>
            <a:br/>
            <a:r>
              <a:t>TRANSITION: Then we test the framework against outcomes we did not invent.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~35 sec</a:t>
            </a:r>
            <a:br/>
            <a:br/>
            <a:r>
              <a:t>SAY:</a:t>
            </a:r>
            <a:br/>
            <a:r>
              <a:t>NBA Communications gives us an outside measure of real fan attention. In the 2024–25 regular season, LeBron James generated 3.23 billion NBA social and digital views, Stephen Curry 2.56 billion, and Luka Dončić 1.82 billion. These are observed outcomes, not our score. A useful model should explain or anticipate behavior like this rather than simply reproduce an internal ranking.</a:t>
            </a:r>
            <a:br/>
            <a:br/>
            <a:r>
              <a:t>SOURCE: NBA Communications, Apr. 14,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~35 sec</a:t>
            </a:r>
            <a:br/>
            <a:br/>
            <a:r>
              <a:t>SAY:</a:t>
            </a:r>
            <a:br/>
            <a:r>
              <a:t>The second outside check is merchandise. For the 2025–26 regular season, Curry ranked first in jersey sales, Luka second, Brunson third, Wembanyama fourth, LeBron fifth, and Dallas rookie Cooper Flagg ninth. We keep jersey sales out of the score and use them as an independent commercial outcome. With enough history, we would evaluate rank correlation, top-K hit rate, and the biggest misses.</a:t>
            </a:r>
            <a:br/>
            <a:br/>
            <a:r>
              <a:t>TRANSITION: We also test whether our answer survives reasonable changes to the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~30 sec</a:t>
            </a:r>
            <a:br/>
            <a:br/>
            <a:r>
              <a:t>SAY:</a:t>
            </a:r>
            <a:br/>
            <a:r>
              <a:t>Instead of arguing that one exact set of weights is perfect, we stress-test the decision. We move each pillar by up to ten points, renormalize, and rerank the players. Our governance rule is simple: keep a recommendation only if it stays in the top opportunity set in at least 80 percent of plausible scenarios. The threshold can change; the important part is defining it before seeing the winner.</a:t>
            </a:r>
            <a:br/>
            <a:br/>
            <a:r>
              <a:t>HANDOFF: Sejal will show how this becomes a reusable product rather than a one-time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a:t>
            </a:r>
            <a:br/>
            <a:r>
              <a:t>TIME: ~30 sec</a:t>
            </a:r>
            <a:br/>
            <a:br/>
            <a:r>
              <a:t>SAY:</a:t>
            </a:r>
            <a:br/>
            <a:r>
              <a:t>The dashboard is deliberately one screen. We can search players, compare them, change assumptions, and see the opportunity map without rebuilding the analysis. The point is not to replace the presentation with software. It is to prove the framework is reusable after the case ends. If we demo it live, we would show only one weight change and one player filter—about thirty seconds total.</a:t>
            </a:r>
            <a:br/>
            <a:br/>
            <a:r>
              <a:t>TRANSITION: Dallas already gives us a strong example of why momentum belongs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a:t>
            </a:r>
            <a:br/>
            <a:r>
              <a:t>TIME: ~35 sec</a:t>
            </a:r>
            <a:br/>
            <a:br/>
            <a:r>
              <a:t>SAY:</a:t>
            </a:r>
            <a:br/>
            <a:r>
              <a:t>Cooper Flagg shows the sequence we want the momentum signal to capture. He debuted at number eleven in the midseason jersey rankings, finished ninth for the full 2025–26 regular season as the only rookie in the top fifteen, and then won Rookie of the Year after leading rookies at 21 points per game. The lesson is not that our model discovered Flagg. It is that attention growth can become measurable commercial proof—and we want to detect that pattern earlier in less obvious players.</a:t>
            </a:r>
            <a:br/>
            <a:br/>
            <a:r>
              <a:t>TRANSITION: That leads to how Dallas could operationalize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a:t>
            </a:r>
            <a:br/>
            <a:r>
              <a:t>TIME: ~30 sec</a:t>
            </a:r>
            <a:br/>
            <a:br/>
            <a:r>
              <a:t>SAY:</a:t>
            </a:r>
            <a:br/>
            <a:r>
              <a:t>Our recommendation is a quarterly scouting process, not a one-time score. Refresh the same public signals on a fixed date, validate against observable outcomes, create a watchlist, run one small content or sponsor activation, and measure the lift. Start with 10 to 20 players so the team can learn quickly before scaling or adding internal Mavericks data.</a:t>
            </a:r>
            <a:br/>
            <a:br/>
            <a:r>
              <a:t>HANDOFF: Shresta will close the model section with what we would—and would not—claim from public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a:t>
            </a:r>
            <a:br/>
            <a:r>
              <a:t>TIME: ~30 sec</a:t>
            </a:r>
            <a:br/>
            <a:br/>
            <a:r>
              <a:t>SAY:</a:t>
            </a:r>
            <a:br/>
            <a:r>
              <a:t>There are important limits. Public data cannot reveal the exact economics of private endorsement deals, and correlation does not prove causation. We would use Mav Metrics to prioritize where humans should investigate, not to automate decisions. Every recommendation still needs brand-safety review, business judgment, and internal data where available.</a:t>
            </a:r>
            <a:br/>
            <a:br/>
            <a:r>
              <a:t>HANDOFF: Joshua will close with the one idea we want you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a:t>
            </a:r>
            <a:br/>
            <a:r>
              <a:t>TIME: ~20 sec</a:t>
            </a:r>
            <a:br/>
            <a:br/>
            <a:r>
              <a:t>SAY:</a:t>
            </a:r>
            <a:br/>
            <a:r>
              <a:t>Mav Metrics is built around one idea: commercial opportunity lives in the gap between what a player is doing on the court and how much value the market has captured off it. We measure the gap, track momentum, validate against real fan behavior, and turn the result into an action. Thank you—we’re happy to take questions.</a:t>
            </a:r>
            <a:br/>
            <a:br/>
            <a:r>
              <a:t>Q&amp;A ROUTING: Veer = model, weights, validation. Shresta = market logic and limitations. Sejal = dashboard and operating process. Joshua = strategy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20A13"/>
          </a:solidFill>
          <a:ln w="12700">
            <a:solidFill>
              <a:srgbClr val="020A13"/>
            </a:solidFill>
            <a:prstDash val="solid"/>
          </a:ln>
        </p:spPr>
        <p:txBody>
          <a:bodyPr/>
          <a:p/>
        </p:txBody>
      </p:sp>
      <p:sp>
        <p:nvSpPr>
          <p:cNvPr id="3" name="Shape 1"/>
          <p:cNvSpPr/>
          <p:nvPr/>
        </p:nvSpPr>
        <p:spPr>
          <a:xfrm>
            <a:off x="0" y="0"/>
            <a:ext cx="6126480" cy="6858000"/>
          </a:xfrm>
          <a:prstGeom prst="rect">
            <a:avLst/>
          </a:prstGeom>
          <a:solidFill>
            <a:srgbClr val="04111F"/>
          </a:solidFill>
          <a:ln w="12700">
            <a:solidFill>
              <a:srgbClr val="04111F">
                <a:alpha val="0"/>
              </a:srgbClr>
            </a:solidFill>
            <a:prstDash val="solid"/>
          </a:ln>
        </p:spPr>
        <p:txBody>
          <a:bodyPr/>
          <a:p/>
        </p:txBody>
      </p:sp>
      <p:sp>
        <p:nvSpPr>
          <p:cNvPr id="4" name="Text 2"/>
          <p:cNvSpPr/>
          <p:nvPr/>
        </p:nvSpPr>
        <p:spPr>
          <a:xfrm>
            <a:off x="640080" y="502920"/>
            <a:ext cx="4114800" cy="320040"/>
          </a:xfrm>
          <a:prstGeom prst="rect">
            <a:avLst/>
          </a:prstGeom>
          <a:noFill/>
          <a:ln/>
        </p:spPr>
        <p:txBody>
          <a:bodyPr wrap="square" lIns="254" tIns="254" rIns="254" bIns="254" rtlCol="0" anchor="ctr">
            <a:normAutofit/>
          </a:bodyPr>
          <a:lstStyle/>
          <a:p>
            <a:pPr algn="l" indent="0" marL="0">
              <a:buNone/>
            </a:pPr>
            <a:r>
              <a:rPr lang="en-US" sz="1000" b="1" dirty="0">
                <a:solidFill>
                  <a:srgbClr val="00A3FF"/>
                </a:solidFill>
              </a:rPr>
              <a:t>MAV METRICS</a:t>
            </a:r>
            <a:endParaRPr lang="en-US" sz="1000" dirty="0"/>
          </a:p>
        </p:txBody>
      </p:sp>
      <p:sp>
        <p:nvSpPr>
          <p:cNvPr id="5" name="Text 3"/>
          <p:cNvSpPr/>
          <p:nvPr/>
        </p:nvSpPr>
        <p:spPr>
          <a:xfrm>
            <a:off x="640080" y="1143000"/>
            <a:ext cx="5303520" cy="224028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player</a:t>
            </a:r>
            <a:endParaRPr lang="en-US" sz="3100" dirty="0"/>
          </a:p>
          <a:p>
            <a:pPr algn="l" indent="0" marL="0">
              <a:buNone/>
            </a:pPr>
            <a:r>
              <a:rPr lang="en-US" sz="3100" b="1" dirty="0">
                <a:solidFill>
                  <a:srgbClr val="FFFFFF"/>
                </a:solidFill>
              </a:rPr>
              <a:t>whose brand is about</a:t>
            </a:r>
            <a:endParaRPr lang="en-US" sz="3100" dirty="0"/>
          </a:p>
          <a:p>
            <a:pPr algn="l" indent="0" marL="0">
              <a:buNone/>
            </a:pPr>
            <a:r>
              <a:rPr lang="en-US" sz="3100" b="1" dirty="0">
                <a:solidFill>
                  <a:srgbClr val="FFFFFF"/>
                </a:solidFill>
              </a:rPr>
              <a:t>to catch up.</a:t>
            </a:r>
            <a:endParaRPr lang="en-US" sz="3100" dirty="0"/>
          </a:p>
        </p:txBody>
      </p:sp>
      <p:sp>
        <p:nvSpPr>
          <p:cNvPr id="6" name="Text 4"/>
          <p:cNvSpPr/>
          <p:nvPr/>
        </p:nvSpPr>
        <p:spPr>
          <a:xfrm>
            <a:off x="658368" y="3767328"/>
            <a:ext cx="4800600" cy="841248"/>
          </a:xfrm>
          <a:prstGeom prst="rect">
            <a:avLst/>
          </a:prstGeom>
          <a:noFill/>
          <a:ln/>
        </p:spPr>
        <p:txBody>
          <a:bodyPr wrap="square" lIns="254" tIns="254" rIns="254" bIns="254" rtlCol="0" anchor="ctr">
            <a:normAutofit/>
          </a:bodyPr>
          <a:lstStyle/>
          <a:p>
            <a:pPr algn="l" indent="0" marL="0">
              <a:buNone/>
            </a:pPr>
            <a:r>
              <a:rPr lang="en-US" sz="1400" dirty="0">
                <a:solidFill>
                  <a:srgbClr val="A9BAC9"/>
                </a:solidFill>
              </a:rPr>
              <a:t>A public-data framework for player marketability, momentum, and untapped commercial value.</a:t>
            </a:r>
            <a:endParaRPr lang="en-US" sz="1400" dirty="0"/>
          </a:p>
        </p:txBody>
      </p:sp>
      <p:sp>
        <p:nvSpPr>
          <p:cNvPr id="7" name="Shape 5"/>
          <p:cNvSpPr/>
          <p:nvPr/>
        </p:nvSpPr>
        <p:spPr>
          <a:xfrm>
            <a:off x="658368" y="4892040"/>
            <a:ext cx="224028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8" name="Text 6"/>
          <p:cNvSpPr/>
          <p:nvPr/>
        </p:nvSpPr>
        <p:spPr>
          <a:xfrm>
            <a:off x="713232" y="4928616"/>
            <a:ext cx="21305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2026 SPORTS ANALYTICS CASE</a:t>
            </a:r>
            <a:endParaRPr lang="en-US" sz="730" dirty="0"/>
          </a:p>
        </p:txBody>
      </p:sp>
      <p:sp>
        <p:nvSpPr>
          <p:cNvPr id="9" name="Text 7"/>
          <p:cNvSpPr/>
          <p:nvPr/>
        </p:nvSpPr>
        <p:spPr>
          <a:xfrm>
            <a:off x="658368" y="5596128"/>
            <a:ext cx="5394960" cy="320040"/>
          </a:xfrm>
          <a:prstGeom prst="rect">
            <a:avLst/>
          </a:prstGeom>
          <a:noFill/>
          <a:ln/>
        </p:spPr>
        <p:txBody>
          <a:bodyPr wrap="square" lIns="254" tIns="254" rIns="254" bIns="254" rtlCol="0" anchor="ctr">
            <a:normAutofit/>
          </a:bodyPr>
          <a:lstStyle/>
          <a:p>
            <a:pPr algn="l" indent="0" marL="0">
              <a:buNone/>
            </a:pPr>
            <a:r>
              <a:rPr lang="en-US" sz="850" b="1" dirty="0">
                <a:solidFill>
                  <a:srgbClr val="8195A6"/>
                </a:solidFill>
              </a:rPr>
              <a:t>Joshua Zamora  •  Shresta Yasarapu  •  Veer Singh  •  Sejal Jangal</a:t>
            </a:r>
            <a:endParaRPr lang="en-US" sz="850" dirty="0"/>
          </a:p>
        </p:txBody>
      </p:sp>
      <p:sp>
        <p:nvSpPr>
          <p:cNvPr id="10" name="Shape 8"/>
          <p:cNvSpPr/>
          <p:nvPr/>
        </p:nvSpPr>
        <p:spPr>
          <a:xfrm>
            <a:off x="649224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1" name="Image 0" descr="/home/runner/work/mav-metrics/mav-metrics/presentation/assets/cooper.png">    </p:cNvPr>
          <p:cNvPicPr>
            <a:picLocks noChangeAspect="1"/>
          </p:cNvPicPr>
          <p:nvPr/>
        </p:nvPicPr>
        <p:blipFill>
          <a:blip r:embed="rId1"/>
          <a:stretch>
            <a:fillRect/>
          </a:stretch>
        </p:blipFill>
        <p:spPr>
          <a:xfrm>
            <a:off x="6519672" y="667512"/>
            <a:ext cx="1636776" cy="2093976"/>
          </a:xfrm>
          <a:prstGeom prst="rect">
            <a:avLst/>
          </a:prstGeom>
        </p:spPr>
      </p:pic>
      <p:sp>
        <p:nvSpPr>
          <p:cNvPr id="12" name="Shape 9"/>
          <p:cNvSpPr/>
          <p:nvPr/>
        </p:nvSpPr>
        <p:spPr>
          <a:xfrm>
            <a:off x="651967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13" name="Text 10"/>
          <p:cNvSpPr/>
          <p:nvPr/>
        </p:nvSpPr>
        <p:spPr>
          <a:xfrm>
            <a:off x="660196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a:t>
            </a:r>
            <a:endParaRPr lang="en-US" sz="780" dirty="0"/>
          </a:p>
        </p:txBody>
      </p:sp>
      <p:sp>
        <p:nvSpPr>
          <p:cNvPr id="14" name="Shape 11"/>
          <p:cNvSpPr/>
          <p:nvPr/>
        </p:nvSpPr>
        <p:spPr>
          <a:xfrm>
            <a:off x="822960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5" name="Image 1" descr="/home/runner/work/mav-metrics/mav-metrics/presentation/assets/curry.png">    </p:cNvPr>
          <p:cNvPicPr>
            <a:picLocks noChangeAspect="1"/>
          </p:cNvPicPr>
          <p:nvPr/>
        </p:nvPicPr>
        <p:blipFill>
          <a:blip r:embed="rId2"/>
          <a:stretch>
            <a:fillRect/>
          </a:stretch>
        </p:blipFill>
        <p:spPr>
          <a:xfrm>
            <a:off x="8257032" y="667512"/>
            <a:ext cx="1636776" cy="2093976"/>
          </a:xfrm>
          <a:prstGeom prst="rect">
            <a:avLst/>
          </a:prstGeom>
        </p:spPr>
      </p:pic>
      <p:sp>
        <p:nvSpPr>
          <p:cNvPr id="16" name="Shape 12"/>
          <p:cNvSpPr/>
          <p:nvPr/>
        </p:nvSpPr>
        <p:spPr>
          <a:xfrm>
            <a:off x="825703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17" name="Text 13"/>
          <p:cNvSpPr/>
          <p:nvPr/>
        </p:nvSpPr>
        <p:spPr>
          <a:xfrm>
            <a:off x="833932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STEPH CURRY</a:t>
            </a:r>
            <a:endParaRPr lang="en-US" sz="780" dirty="0"/>
          </a:p>
        </p:txBody>
      </p:sp>
      <p:sp>
        <p:nvSpPr>
          <p:cNvPr id="18" name="Shape 14"/>
          <p:cNvSpPr/>
          <p:nvPr/>
        </p:nvSpPr>
        <p:spPr>
          <a:xfrm>
            <a:off x="996696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9" name="Image 2" descr="/home/runner/work/mav-metrics/mav-metrics/presentation/assets/luka.png">    </p:cNvPr>
          <p:cNvPicPr>
            <a:picLocks noChangeAspect="1"/>
          </p:cNvPicPr>
          <p:nvPr/>
        </p:nvPicPr>
        <p:blipFill>
          <a:blip r:embed="rId3"/>
          <a:stretch>
            <a:fillRect/>
          </a:stretch>
        </p:blipFill>
        <p:spPr>
          <a:xfrm>
            <a:off x="9994392" y="667512"/>
            <a:ext cx="1636776" cy="2093976"/>
          </a:xfrm>
          <a:prstGeom prst="rect">
            <a:avLst/>
          </a:prstGeom>
        </p:spPr>
      </p:pic>
      <p:sp>
        <p:nvSpPr>
          <p:cNvPr id="20" name="Shape 15"/>
          <p:cNvSpPr/>
          <p:nvPr/>
        </p:nvSpPr>
        <p:spPr>
          <a:xfrm>
            <a:off x="999439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21" name="Text 16"/>
          <p:cNvSpPr/>
          <p:nvPr/>
        </p:nvSpPr>
        <p:spPr>
          <a:xfrm>
            <a:off x="1007668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LUKA DONČIĆ</a:t>
            </a:r>
            <a:endParaRPr lang="en-US" sz="780" dirty="0"/>
          </a:p>
        </p:txBody>
      </p:sp>
      <p:sp>
        <p:nvSpPr>
          <p:cNvPr id="22" name="Shape 17"/>
          <p:cNvSpPr/>
          <p:nvPr/>
        </p:nvSpPr>
        <p:spPr>
          <a:xfrm>
            <a:off x="6492240" y="3063240"/>
            <a:ext cx="5166360" cy="2514600"/>
          </a:xfrm>
          <a:prstGeom prst="roundRect">
            <a:avLst>
              <a:gd name="adj" fmla="val 2909"/>
            </a:avLst>
          </a:prstGeom>
          <a:solidFill>
            <a:srgbClr val="081D31"/>
          </a:solidFill>
          <a:ln w="11430">
            <a:solidFill>
              <a:srgbClr val="193B57"/>
            </a:solidFill>
            <a:prstDash val="solid"/>
          </a:ln>
        </p:spPr>
        <p:txBody>
          <a:bodyPr/>
          <a:p/>
        </p:txBody>
      </p:sp>
      <p:sp>
        <p:nvSpPr>
          <p:cNvPr id="23" name="Text 18"/>
          <p:cNvSpPr/>
          <p:nvPr/>
        </p:nvSpPr>
        <p:spPr>
          <a:xfrm>
            <a:off x="6812280" y="3401568"/>
            <a:ext cx="2011680"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WHY THIS MATTERS</a:t>
            </a:r>
            <a:endParaRPr lang="en-US" sz="800" dirty="0"/>
          </a:p>
        </p:txBody>
      </p:sp>
      <p:sp>
        <p:nvSpPr>
          <p:cNvPr id="24" name="Text 19"/>
          <p:cNvSpPr/>
          <p:nvPr/>
        </p:nvSpPr>
        <p:spPr>
          <a:xfrm>
            <a:off x="6812280" y="3803904"/>
            <a:ext cx="4434840" cy="960120"/>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Performance creates attention.</a:t>
            </a:r>
            <a:endParaRPr lang="en-US" sz="1700" dirty="0"/>
          </a:p>
          <a:p>
            <a:pPr algn="l" indent="0" marL="0">
              <a:buNone/>
            </a:pPr>
            <a:r>
              <a:rPr lang="en-US" sz="1700" b="1" dirty="0">
                <a:solidFill>
                  <a:srgbClr val="FFFFFF"/>
                </a:solidFill>
              </a:rPr>
              <a:t>Attention does not automatically create commercial value.</a:t>
            </a:r>
            <a:endParaRPr lang="en-US" sz="1700" dirty="0"/>
          </a:p>
        </p:txBody>
      </p:sp>
      <p:sp>
        <p:nvSpPr>
          <p:cNvPr id="25" name="Text 20"/>
          <p:cNvSpPr/>
          <p:nvPr/>
        </p:nvSpPr>
        <p:spPr>
          <a:xfrm>
            <a:off x="6812280" y="5084064"/>
            <a:ext cx="4343400" cy="347472"/>
          </a:xfrm>
          <a:prstGeom prst="rect">
            <a:avLst/>
          </a:prstGeom>
          <a:noFill/>
          <a:ln/>
        </p:spPr>
        <p:txBody>
          <a:bodyPr wrap="square" lIns="254" tIns="254" rIns="254" bIns="254" rtlCol="0" anchor="ctr">
            <a:normAutofit/>
          </a:bodyPr>
          <a:lstStyle/>
          <a:p>
            <a:pPr algn="l" indent="0" marL="0">
              <a:buNone/>
            </a:pPr>
            <a:r>
              <a:rPr lang="en-US" sz="1100" b="1" dirty="0">
                <a:solidFill>
                  <a:srgbClr val="35D0BA"/>
                </a:solidFill>
              </a:rPr>
              <a:t>Mav Metrics isolates the gap between the two.</a:t>
            </a:r>
            <a:endParaRPr lang="en-US" sz="1100" dirty="0"/>
          </a:p>
        </p:txBody>
      </p:sp>
      <p:sp>
        <p:nvSpPr>
          <p:cNvPr id="26" name="Shape 21"/>
          <p:cNvSpPr/>
          <p:nvPr/>
        </p:nvSpPr>
        <p:spPr>
          <a:xfrm>
            <a:off x="566928" y="6455664"/>
            <a:ext cx="11064240" cy="0"/>
          </a:xfrm>
          <a:prstGeom prst="line">
            <a:avLst/>
          </a:prstGeom>
          <a:noFill/>
          <a:ln w="8890">
            <a:solidFill>
              <a:srgbClr val="193B57"/>
            </a:solidFill>
            <a:prstDash val="solid"/>
          </a:ln>
        </p:spPr>
        <p:txBody>
          <a:bodyPr/>
          <a:p/>
        </p:txBody>
      </p:sp>
      <p:sp>
        <p:nvSpPr>
          <p:cNvPr id="27" name="Text 2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01</a:t>
            </a:r>
            <a:endParaRPr lang="en-US" sz="580" dirty="0"/>
          </a:p>
        </p:txBody>
      </p:sp>
      <p:sp>
        <p:nvSpPr>
          <p:cNvPr id="28" name="Text 23"/>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Real photos: Wikimedia Commons (Flagg: Hameltion CC0; Curry: Keith Allison; Doncic: Erik Drost CC BY 2.0)</a:t>
            </a:r>
            <a:endParaRPr lang="en-US" sz="5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THE OPPORTUNITY</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A ranking tells you who won. A model should tell you who is next.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useful signal is the mismatch between basketball value and commercial attention.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02</a:t>
            </a:r>
            <a:endParaRPr lang="en-US" sz="580" dirty="0"/>
          </a:p>
        </p:txBody>
      </p:sp>
      <p:sp>
        <p:nvSpPr>
          <p:cNvPr id="8" name="Shape 6"/>
          <p:cNvSpPr/>
          <p:nvPr/>
        </p:nvSpPr>
        <p:spPr>
          <a:xfrm>
            <a:off x="685800" y="1883664"/>
            <a:ext cx="5074920" cy="3611880"/>
          </a:xfrm>
          <a:prstGeom prst="roundRect">
            <a:avLst>
              <a:gd name="adj" fmla="val 2025"/>
            </a:avLst>
          </a:prstGeom>
          <a:solidFill>
            <a:srgbClr val="081D31"/>
          </a:solidFill>
          <a:ln w="11430">
            <a:solidFill>
              <a:srgbClr val="193B57"/>
            </a:solidFill>
            <a:prstDash val="solid"/>
          </a:ln>
        </p:spPr>
        <p:txBody>
          <a:bodyPr/>
          <a:p/>
        </p:txBody>
      </p:sp>
      <p:sp>
        <p:nvSpPr>
          <p:cNvPr id="9" name="Text 7"/>
          <p:cNvSpPr/>
          <p:nvPr/>
        </p:nvSpPr>
        <p:spPr>
          <a:xfrm>
            <a:off x="969264" y="2176272"/>
            <a:ext cx="210312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MARKETABILITY GAP</a:t>
            </a:r>
            <a:endParaRPr lang="en-US" sz="800" dirty="0"/>
          </a:p>
        </p:txBody>
      </p:sp>
      <p:sp>
        <p:nvSpPr>
          <p:cNvPr id="10" name="Text 8"/>
          <p:cNvSpPr/>
          <p:nvPr/>
        </p:nvSpPr>
        <p:spPr>
          <a:xfrm>
            <a:off x="969264" y="2761488"/>
            <a:ext cx="2057400" cy="310896"/>
          </a:xfrm>
          <a:prstGeom prst="rect">
            <a:avLst/>
          </a:prstGeom>
          <a:noFill/>
          <a:ln/>
        </p:spPr>
        <p:txBody>
          <a:bodyPr wrap="square" lIns="254" tIns="254" rIns="254" bIns="254" rtlCol="0" anchor="ctr">
            <a:normAutofit/>
          </a:bodyPr>
          <a:lstStyle/>
          <a:p>
            <a:pPr algn="l" indent="0" marL="0">
              <a:buNone/>
            </a:pPr>
            <a:r>
              <a:rPr lang="en-US" sz="1500" b="1" dirty="0">
                <a:solidFill>
                  <a:srgbClr val="FFFFFF"/>
                </a:solidFill>
              </a:rPr>
              <a:t>Actual marketability</a:t>
            </a:r>
            <a:endParaRPr lang="en-US" sz="1500" dirty="0"/>
          </a:p>
        </p:txBody>
      </p:sp>
      <p:sp>
        <p:nvSpPr>
          <p:cNvPr id="11" name="Text 9"/>
          <p:cNvSpPr/>
          <p:nvPr/>
        </p:nvSpPr>
        <p:spPr>
          <a:xfrm>
            <a:off x="3172968" y="2706624"/>
            <a:ext cx="411480" cy="384048"/>
          </a:xfrm>
          <a:prstGeom prst="rect">
            <a:avLst/>
          </a:prstGeom>
          <a:noFill/>
          <a:ln/>
        </p:spPr>
        <p:txBody>
          <a:bodyPr wrap="square" lIns="254" tIns="254" rIns="254" bIns="254" rtlCol="0" anchor="ctr">
            <a:normAutofit/>
          </a:bodyPr>
          <a:lstStyle/>
          <a:p>
            <a:pPr algn="ctr" indent="0" marL="0">
              <a:buNone/>
            </a:pPr>
            <a:r>
              <a:rPr lang="en-US" sz="2100" b="1" dirty="0">
                <a:solidFill>
                  <a:srgbClr val="A9BAC9"/>
                </a:solidFill>
              </a:rPr>
              <a:t>−</a:t>
            </a:r>
            <a:endParaRPr lang="en-US" sz="2100" dirty="0"/>
          </a:p>
        </p:txBody>
      </p:sp>
      <p:sp>
        <p:nvSpPr>
          <p:cNvPr id="12" name="Text 10"/>
          <p:cNvSpPr/>
          <p:nvPr/>
        </p:nvSpPr>
        <p:spPr>
          <a:xfrm>
            <a:off x="3675888" y="2761488"/>
            <a:ext cx="1783080" cy="310896"/>
          </a:xfrm>
          <a:prstGeom prst="rect">
            <a:avLst/>
          </a:prstGeom>
          <a:noFill/>
          <a:ln/>
        </p:spPr>
        <p:txBody>
          <a:bodyPr wrap="square" lIns="254" tIns="254" rIns="254" bIns="254" rtlCol="0" anchor="ctr">
            <a:normAutofit/>
          </a:bodyPr>
          <a:lstStyle/>
          <a:p>
            <a:pPr algn="ctr" indent="0" marL="0">
              <a:buNone/>
            </a:pPr>
            <a:r>
              <a:rPr lang="en-US" sz="1500" b="1" dirty="0">
                <a:solidFill>
                  <a:srgbClr val="FFFFFF"/>
                </a:solidFill>
              </a:rPr>
              <a:t>Expected marketability</a:t>
            </a:r>
            <a:endParaRPr lang="en-US" sz="1500" dirty="0"/>
          </a:p>
        </p:txBody>
      </p:sp>
      <p:sp>
        <p:nvSpPr>
          <p:cNvPr id="13" name="Shape 11"/>
          <p:cNvSpPr/>
          <p:nvPr/>
        </p:nvSpPr>
        <p:spPr>
          <a:xfrm>
            <a:off x="914400" y="3310128"/>
            <a:ext cx="4526280" cy="0"/>
          </a:xfrm>
          <a:prstGeom prst="line">
            <a:avLst/>
          </a:prstGeom>
          <a:noFill/>
          <a:ln w="16510">
            <a:solidFill>
              <a:srgbClr val="00A3FF"/>
            </a:solidFill>
            <a:prstDash val="solid"/>
          </a:ln>
        </p:spPr>
        <p:txBody>
          <a:bodyPr/>
          <a:p/>
        </p:txBody>
      </p:sp>
      <p:sp>
        <p:nvSpPr>
          <p:cNvPr id="14" name="Text 12"/>
          <p:cNvSpPr/>
          <p:nvPr/>
        </p:nvSpPr>
        <p:spPr>
          <a:xfrm>
            <a:off x="960120" y="3675888"/>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F4C95D"/>
                </a:solidFill>
              </a:rPr>
              <a:t>&lt; 0</a:t>
            </a:r>
            <a:endParaRPr lang="en-US" sz="2200" dirty="0"/>
          </a:p>
        </p:txBody>
      </p:sp>
      <p:sp>
        <p:nvSpPr>
          <p:cNvPr id="15" name="Text 13"/>
          <p:cNvSpPr/>
          <p:nvPr/>
        </p:nvSpPr>
        <p:spPr>
          <a:xfrm>
            <a:off x="1691640" y="3694176"/>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Underexposed relative to performance</a:t>
            </a:r>
            <a:endParaRPr lang="en-US" sz="1100" dirty="0"/>
          </a:p>
        </p:txBody>
      </p:sp>
      <p:sp>
        <p:nvSpPr>
          <p:cNvPr id="16" name="Text 14"/>
          <p:cNvSpPr/>
          <p:nvPr/>
        </p:nvSpPr>
        <p:spPr>
          <a:xfrm>
            <a:off x="960120" y="4343400"/>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35D0BA"/>
                </a:solidFill>
              </a:rPr>
              <a:t>&gt; 0</a:t>
            </a:r>
            <a:endParaRPr lang="en-US" sz="2200" dirty="0"/>
          </a:p>
        </p:txBody>
      </p:sp>
      <p:sp>
        <p:nvSpPr>
          <p:cNvPr id="17" name="Text 15"/>
          <p:cNvSpPr/>
          <p:nvPr/>
        </p:nvSpPr>
        <p:spPr>
          <a:xfrm>
            <a:off x="1691640" y="4370832"/>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Brand is outperforming basketball baseline</a:t>
            </a:r>
            <a:endParaRPr lang="en-US" sz="1100" dirty="0"/>
          </a:p>
        </p:txBody>
      </p:sp>
      <p:sp>
        <p:nvSpPr>
          <p:cNvPr id="18" name="Shape 16"/>
          <p:cNvSpPr/>
          <p:nvPr/>
        </p:nvSpPr>
        <p:spPr>
          <a:xfrm>
            <a:off x="6172200" y="1883664"/>
            <a:ext cx="5321808" cy="3611880"/>
          </a:xfrm>
          <a:prstGeom prst="roundRect">
            <a:avLst>
              <a:gd name="adj" fmla="val 2025"/>
            </a:avLst>
          </a:prstGeom>
          <a:solidFill>
            <a:srgbClr val="0B2741"/>
          </a:solidFill>
          <a:ln w="11430">
            <a:solidFill>
              <a:srgbClr val="193B57"/>
            </a:solidFill>
            <a:prstDash val="solid"/>
          </a:ln>
        </p:spPr>
        <p:txBody>
          <a:bodyPr/>
          <a:p/>
        </p:txBody>
      </p:sp>
      <p:sp>
        <p:nvSpPr>
          <p:cNvPr id="19" name="Text 17"/>
          <p:cNvSpPr/>
          <p:nvPr/>
        </p:nvSpPr>
        <p:spPr>
          <a:xfrm>
            <a:off x="6473952" y="2176272"/>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40D9FF"/>
                </a:solidFill>
              </a:rPr>
              <a:t>WHY IT IS ACTIONABLE</a:t>
            </a:r>
            <a:endParaRPr lang="en-US" sz="800" dirty="0"/>
          </a:p>
        </p:txBody>
      </p:sp>
      <p:sp>
        <p:nvSpPr>
          <p:cNvPr id="20" name="Shape 18"/>
          <p:cNvSpPr/>
          <p:nvPr/>
        </p:nvSpPr>
        <p:spPr>
          <a:xfrm>
            <a:off x="6473952" y="2743200"/>
            <a:ext cx="841248"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21" name="Text 19"/>
          <p:cNvSpPr/>
          <p:nvPr/>
        </p:nvSpPr>
        <p:spPr>
          <a:xfrm>
            <a:off x="6528816" y="277977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TEAM</a:t>
            </a:r>
            <a:endParaRPr lang="en-US" sz="730" dirty="0"/>
          </a:p>
        </p:txBody>
      </p:sp>
      <p:sp>
        <p:nvSpPr>
          <p:cNvPr id="22" name="Text 20"/>
          <p:cNvSpPr/>
          <p:nvPr/>
        </p:nvSpPr>
        <p:spPr>
          <a:xfrm>
            <a:off x="7498080" y="2734056"/>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deserves more content + sponsor support?</a:t>
            </a:r>
            <a:endParaRPr lang="en-US" sz="1050" dirty="0"/>
          </a:p>
        </p:txBody>
      </p:sp>
      <p:sp>
        <p:nvSpPr>
          <p:cNvPr id="23" name="Shape 21"/>
          <p:cNvSpPr/>
          <p:nvPr/>
        </p:nvSpPr>
        <p:spPr>
          <a:xfrm>
            <a:off x="6473952" y="3493008"/>
            <a:ext cx="841248"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24" name="Text 22"/>
          <p:cNvSpPr/>
          <p:nvPr/>
        </p:nvSpPr>
        <p:spPr>
          <a:xfrm>
            <a:off x="6528816" y="3529584"/>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AGENT</a:t>
            </a:r>
            <a:endParaRPr lang="en-US" sz="730" dirty="0"/>
          </a:p>
        </p:txBody>
      </p:sp>
      <p:sp>
        <p:nvSpPr>
          <p:cNvPr id="25" name="Text 23"/>
          <p:cNvSpPr/>
          <p:nvPr/>
        </p:nvSpPr>
        <p:spPr>
          <a:xfrm>
            <a:off x="7498080" y="3483864"/>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Whose commercial story is ahead of the market?</a:t>
            </a:r>
            <a:endParaRPr lang="en-US" sz="1050" dirty="0"/>
          </a:p>
        </p:txBody>
      </p:sp>
      <p:sp>
        <p:nvSpPr>
          <p:cNvPr id="26" name="Shape 24"/>
          <p:cNvSpPr/>
          <p:nvPr/>
        </p:nvSpPr>
        <p:spPr>
          <a:xfrm>
            <a:off x="6473952" y="4242816"/>
            <a:ext cx="841248"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27" name="Text 25"/>
          <p:cNvSpPr/>
          <p:nvPr/>
        </p:nvSpPr>
        <p:spPr>
          <a:xfrm>
            <a:off x="6528816" y="4279392"/>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BRAND</a:t>
            </a:r>
            <a:endParaRPr lang="en-US" sz="730" dirty="0"/>
          </a:p>
        </p:txBody>
      </p:sp>
      <p:sp>
        <p:nvSpPr>
          <p:cNvPr id="28" name="Text 26"/>
          <p:cNvSpPr/>
          <p:nvPr/>
        </p:nvSpPr>
        <p:spPr>
          <a:xfrm>
            <a:off x="7498080" y="4233672"/>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can be signed before the price catches up?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DECISION SYSTEM</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One model, three decisions.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same player-level data creates different actions depending on who is using it.</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03</a:t>
            </a:r>
            <a:endParaRPr lang="en-US" sz="580" dirty="0"/>
          </a:p>
        </p:txBody>
      </p:sp>
      <p:sp>
        <p:nvSpPr>
          <p:cNvPr id="8" name="Shape 6"/>
          <p:cNvSpPr/>
          <p:nvPr/>
        </p:nvSpPr>
        <p:spPr>
          <a:xfrm>
            <a:off x="685800"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9" name="Text 7"/>
          <p:cNvSpPr/>
          <p:nvPr/>
        </p:nvSpPr>
        <p:spPr>
          <a:xfrm>
            <a:off x="932688"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00A3FF"/>
                </a:solidFill>
              </a:rPr>
              <a:t>01</a:t>
            </a:r>
            <a:endParaRPr lang="en-US" sz="2500" dirty="0"/>
          </a:p>
        </p:txBody>
      </p:sp>
      <p:sp>
        <p:nvSpPr>
          <p:cNvPr id="10" name="Text 8"/>
          <p:cNvSpPr/>
          <p:nvPr/>
        </p:nvSpPr>
        <p:spPr>
          <a:xfrm>
            <a:off x="932688"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TEAM MARKETING</a:t>
            </a:r>
            <a:endParaRPr lang="en-US" sz="900" dirty="0"/>
          </a:p>
        </p:txBody>
      </p:sp>
      <p:sp>
        <p:nvSpPr>
          <p:cNvPr id="11" name="Text 9"/>
          <p:cNvSpPr/>
          <p:nvPr/>
        </p:nvSpPr>
        <p:spPr>
          <a:xfrm>
            <a:off x="932688"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Allocate content and sponsor inventory</a:t>
            </a:r>
            <a:endParaRPr lang="en-US" sz="1700" dirty="0"/>
          </a:p>
        </p:txBody>
      </p:sp>
      <p:sp>
        <p:nvSpPr>
          <p:cNvPr id="12" name="Text 10"/>
          <p:cNvSpPr/>
          <p:nvPr/>
        </p:nvSpPr>
        <p:spPr>
          <a:xfrm>
            <a:off x="932688"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Find players whose performance is ahead of their public profile.</a:t>
            </a:r>
            <a:endParaRPr lang="en-US" sz="950" dirty="0"/>
          </a:p>
        </p:txBody>
      </p:sp>
      <p:sp>
        <p:nvSpPr>
          <p:cNvPr id="13" name="Shape 11"/>
          <p:cNvSpPr/>
          <p:nvPr/>
        </p:nvSpPr>
        <p:spPr>
          <a:xfrm>
            <a:off x="4462272"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14" name="Text 12"/>
          <p:cNvSpPr/>
          <p:nvPr/>
        </p:nvSpPr>
        <p:spPr>
          <a:xfrm>
            <a:off x="4709160"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35D0BA"/>
                </a:solidFill>
              </a:rPr>
              <a:t>02</a:t>
            </a:r>
            <a:endParaRPr lang="en-US" sz="2500" dirty="0"/>
          </a:p>
        </p:txBody>
      </p:sp>
      <p:sp>
        <p:nvSpPr>
          <p:cNvPr id="15" name="Text 13"/>
          <p:cNvSpPr/>
          <p:nvPr/>
        </p:nvSpPr>
        <p:spPr>
          <a:xfrm>
            <a:off x="4709160"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AGENTS + PLAYERS</a:t>
            </a:r>
            <a:endParaRPr lang="en-US" sz="900" dirty="0"/>
          </a:p>
        </p:txBody>
      </p:sp>
      <p:sp>
        <p:nvSpPr>
          <p:cNvPr id="16" name="Text 14"/>
          <p:cNvSpPr/>
          <p:nvPr/>
        </p:nvSpPr>
        <p:spPr>
          <a:xfrm>
            <a:off x="4709160"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Build a stronger commercial narrative</a:t>
            </a:r>
            <a:endParaRPr lang="en-US" sz="1700" dirty="0"/>
          </a:p>
        </p:txBody>
      </p:sp>
      <p:sp>
        <p:nvSpPr>
          <p:cNvPr id="17" name="Text 15"/>
          <p:cNvSpPr/>
          <p:nvPr/>
        </p:nvSpPr>
        <p:spPr>
          <a:xfrm>
            <a:off x="4709160"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Show momentum, audience quality, and commercial upside with evidence.</a:t>
            </a:r>
            <a:endParaRPr lang="en-US" sz="950" dirty="0"/>
          </a:p>
        </p:txBody>
      </p:sp>
      <p:sp>
        <p:nvSpPr>
          <p:cNvPr id="18" name="Shape 16"/>
          <p:cNvSpPr/>
          <p:nvPr/>
        </p:nvSpPr>
        <p:spPr>
          <a:xfrm>
            <a:off x="8238744"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19" name="Text 17"/>
          <p:cNvSpPr/>
          <p:nvPr/>
        </p:nvSpPr>
        <p:spPr>
          <a:xfrm>
            <a:off x="8485632"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F4C95D"/>
                </a:solidFill>
              </a:rPr>
              <a:t>03</a:t>
            </a:r>
            <a:endParaRPr lang="en-US" sz="2500" dirty="0"/>
          </a:p>
        </p:txBody>
      </p:sp>
      <p:sp>
        <p:nvSpPr>
          <p:cNvPr id="20" name="Text 18"/>
          <p:cNvSpPr/>
          <p:nvPr/>
        </p:nvSpPr>
        <p:spPr>
          <a:xfrm>
            <a:off x="8485632"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SPONSORS</a:t>
            </a:r>
            <a:endParaRPr lang="en-US" sz="900" dirty="0"/>
          </a:p>
        </p:txBody>
      </p:sp>
      <p:sp>
        <p:nvSpPr>
          <p:cNvPr id="21" name="Text 19"/>
          <p:cNvSpPr/>
          <p:nvPr/>
        </p:nvSpPr>
        <p:spPr>
          <a:xfrm>
            <a:off x="8485632"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Discover rising talent earlier</a:t>
            </a:r>
            <a:endParaRPr lang="en-US" sz="1700" dirty="0"/>
          </a:p>
        </p:txBody>
      </p:sp>
      <p:sp>
        <p:nvSpPr>
          <p:cNvPr id="22" name="Text 20"/>
          <p:cNvSpPr/>
          <p:nvPr/>
        </p:nvSpPr>
        <p:spPr>
          <a:xfrm>
            <a:off x="8485632"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Prioritize fast-growing players before endorsement pricing fully adjusts.</a:t>
            </a:r>
            <a:endParaRPr lang="en-US" sz="950" dirty="0"/>
          </a:p>
        </p:txBody>
      </p:sp>
      <p:sp>
        <p:nvSpPr>
          <p:cNvPr id="23" name="Text 21"/>
          <p:cNvSpPr/>
          <p:nvPr/>
        </p:nvSpPr>
        <p:spPr>
          <a:xfrm>
            <a:off x="704088" y="5715000"/>
            <a:ext cx="10789920" cy="347472"/>
          </a:xfrm>
          <a:prstGeom prst="rect">
            <a:avLst/>
          </a:prstGeom>
          <a:noFill/>
          <a:ln/>
        </p:spPr>
        <p:txBody>
          <a:bodyPr wrap="square" lIns="254" tIns="254" rIns="254" bIns="254" rtlCol="0" anchor="ctr">
            <a:normAutofit/>
          </a:bodyPr>
          <a:lstStyle/>
          <a:p>
            <a:pPr algn="l" indent="0" marL="0">
              <a:buNone/>
            </a:pPr>
            <a:r>
              <a:rPr lang="en-US" sz="1300" b="1" dirty="0">
                <a:solidFill>
                  <a:srgbClr val="FFFFFF"/>
                </a:solidFill>
              </a:rPr>
              <a:t>A strong model does not end with “Player X = 84.” It ends with a next action.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INPUTS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Six pillars. Every one has a reason to exist.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Public sources keep the framework reproducible; percentiles put different units on the same scale.</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04</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Examples: NBA.com stats, social platforms, Google Trends / Wikipedia, public sponsorship announcements</a:t>
            </a:r>
            <a:endParaRPr lang="en-US" sz="520" dirty="0"/>
          </a:p>
        </p:txBody>
      </p:sp>
      <p:sp>
        <p:nvSpPr>
          <p:cNvPr id="9" name="Shape 7"/>
          <p:cNvSpPr/>
          <p:nvPr/>
        </p:nvSpPr>
        <p:spPr>
          <a:xfrm>
            <a:off x="658368"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0" name="Text 8"/>
          <p:cNvSpPr/>
          <p:nvPr/>
        </p:nvSpPr>
        <p:spPr>
          <a:xfrm>
            <a:off x="3172968"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00A3FF"/>
                </a:solidFill>
              </a:rPr>
              <a:t>25%</a:t>
            </a:r>
            <a:endParaRPr lang="en-US" sz="1800" dirty="0"/>
          </a:p>
        </p:txBody>
      </p:sp>
      <p:sp>
        <p:nvSpPr>
          <p:cNvPr id="11" name="Text 9"/>
          <p:cNvSpPr/>
          <p:nvPr/>
        </p:nvSpPr>
        <p:spPr>
          <a:xfrm>
            <a:off x="914400"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PERFORMANCE</a:t>
            </a:r>
            <a:endParaRPr lang="en-US" sz="900" dirty="0"/>
          </a:p>
        </p:txBody>
      </p:sp>
      <p:sp>
        <p:nvSpPr>
          <p:cNvPr id="12" name="Text 10"/>
          <p:cNvSpPr/>
          <p:nvPr/>
        </p:nvSpPr>
        <p:spPr>
          <a:xfrm>
            <a:off x="914400"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NBA stats, minutes, awards, playoff exposure</a:t>
            </a:r>
            <a:endParaRPr lang="en-US" sz="930" dirty="0"/>
          </a:p>
        </p:txBody>
      </p:sp>
      <p:sp>
        <p:nvSpPr>
          <p:cNvPr id="13" name="Shape 11"/>
          <p:cNvSpPr/>
          <p:nvPr/>
        </p:nvSpPr>
        <p:spPr>
          <a:xfrm>
            <a:off x="4462272"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4" name="Text 12"/>
          <p:cNvSpPr/>
          <p:nvPr/>
        </p:nvSpPr>
        <p:spPr>
          <a:xfrm>
            <a:off x="6976872"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40D9FF"/>
                </a:solidFill>
              </a:rPr>
              <a:t>20%</a:t>
            </a:r>
            <a:endParaRPr lang="en-US" sz="1800" dirty="0"/>
          </a:p>
        </p:txBody>
      </p:sp>
      <p:sp>
        <p:nvSpPr>
          <p:cNvPr id="15" name="Text 13"/>
          <p:cNvSpPr/>
          <p:nvPr/>
        </p:nvSpPr>
        <p:spPr>
          <a:xfrm>
            <a:off x="4718304"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40D9FF"/>
                </a:solidFill>
              </a:rPr>
              <a:t>REACH</a:t>
            </a:r>
            <a:endParaRPr lang="en-US" sz="900" dirty="0"/>
          </a:p>
        </p:txBody>
      </p:sp>
      <p:sp>
        <p:nvSpPr>
          <p:cNvPr id="16" name="Text 14"/>
          <p:cNvSpPr/>
          <p:nvPr/>
        </p:nvSpPr>
        <p:spPr>
          <a:xfrm>
            <a:off x="4718304"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Followers and audience size across major platforms</a:t>
            </a:r>
            <a:endParaRPr lang="en-US" sz="930" dirty="0"/>
          </a:p>
        </p:txBody>
      </p:sp>
      <p:sp>
        <p:nvSpPr>
          <p:cNvPr id="17" name="Shape 15"/>
          <p:cNvSpPr/>
          <p:nvPr/>
        </p:nvSpPr>
        <p:spPr>
          <a:xfrm>
            <a:off x="8266176"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8" name="Text 16"/>
          <p:cNvSpPr/>
          <p:nvPr/>
        </p:nvSpPr>
        <p:spPr>
          <a:xfrm>
            <a:off x="10780776"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35D0BA"/>
                </a:solidFill>
              </a:rPr>
              <a:t>20%</a:t>
            </a:r>
            <a:endParaRPr lang="en-US" sz="1800" dirty="0"/>
          </a:p>
        </p:txBody>
      </p:sp>
      <p:sp>
        <p:nvSpPr>
          <p:cNvPr id="19" name="Text 17"/>
          <p:cNvSpPr/>
          <p:nvPr/>
        </p:nvSpPr>
        <p:spPr>
          <a:xfrm>
            <a:off x="8522208"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ATTENTION</a:t>
            </a:r>
            <a:endParaRPr lang="en-US" sz="900" dirty="0"/>
          </a:p>
        </p:txBody>
      </p:sp>
      <p:sp>
        <p:nvSpPr>
          <p:cNvPr id="20" name="Text 18"/>
          <p:cNvSpPr/>
          <p:nvPr/>
        </p:nvSpPr>
        <p:spPr>
          <a:xfrm>
            <a:off x="8522208"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Search, pageviews, NBA digital views, media demand</a:t>
            </a:r>
            <a:endParaRPr lang="en-US" sz="930" dirty="0"/>
          </a:p>
        </p:txBody>
      </p:sp>
      <p:sp>
        <p:nvSpPr>
          <p:cNvPr id="21" name="Shape 19"/>
          <p:cNvSpPr/>
          <p:nvPr/>
        </p:nvSpPr>
        <p:spPr>
          <a:xfrm>
            <a:off x="658368"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22" name="Text 20"/>
          <p:cNvSpPr/>
          <p:nvPr/>
        </p:nvSpPr>
        <p:spPr>
          <a:xfrm>
            <a:off x="3172968"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F4C95D"/>
                </a:solidFill>
              </a:rPr>
              <a:t>15%</a:t>
            </a:r>
            <a:endParaRPr lang="en-US" sz="1800" dirty="0"/>
          </a:p>
        </p:txBody>
      </p:sp>
      <p:sp>
        <p:nvSpPr>
          <p:cNvPr id="23" name="Text 21"/>
          <p:cNvSpPr/>
          <p:nvPr/>
        </p:nvSpPr>
        <p:spPr>
          <a:xfrm>
            <a:off x="914400"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ENGAGEMENT</a:t>
            </a:r>
            <a:endParaRPr lang="en-US" sz="900" dirty="0"/>
          </a:p>
        </p:txBody>
      </p:sp>
      <p:sp>
        <p:nvSpPr>
          <p:cNvPr id="24" name="Text 22"/>
          <p:cNvSpPr/>
          <p:nvPr/>
        </p:nvSpPr>
        <p:spPr>
          <a:xfrm>
            <a:off x="914400"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Likes, comments, shares, engagement rate</a:t>
            </a:r>
            <a:endParaRPr lang="en-US" sz="930" dirty="0"/>
          </a:p>
        </p:txBody>
      </p:sp>
      <p:sp>
        <p:nvSpPr>
          <p:cNvPr id="25" name="Shape 23"/>
          <p:cNvSpPr/>
          <p:nvPr/>
        </p:nvSpPr>
        <p:spPr>
          <a:xfrm>
            <a:off x="4462272"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26" name="Text 24"/>
          <p:cNvSpPr/>
          <p:nvPr/>
        </p:nvSpPr>
        <p:spPr>
          <a:xfrm>
            <a:off x="6976872"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2477FF"/>
                </a:solidFill>
              </a:rPr>
              <a:t>10%</a:t>
            </a:r>
            <a:endParaRPr lang="en-US" sz="1800" dirty="0"/>
          </a:p>
        </p:txBody>
      </p:sp>
      <p:sp>
        <p:nvSpPr>
          <p:cNvPr id="27" name="Text 25"/>
          <p:cNvSpPr/>
          <p:nvPr/>
        </p:nvSpPr>
        <p:spPr>
          <a:xfrm>
            <a:off x="4718304"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MOMENTUM</a:t>
            </a:r>
            <a:endParaRPr lang="en-US" sz="900" dirty="0"/>
          </a:p>
        </p:txBody>
      </p:sp>
      <p:sp>
        <p:nvSpPr>
          <p:cNvPr id="28" name="Text 26"/>
          <p:cNvSpPr/>
          <p:nvPr/>
        </p:nvSpPr>
        <p:spPr>
          <a:xfrm>
            <a:off x="4718304"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Growth in attention, followers, and role</a:t>
            </a:r>
            <a:endParaRPr lang="en-US" sz="930" dirty="0"/>
          </a:p>
        </p:txBody>
      </p:sp>
      <p:sp>
        <p:nvSpPr>
          <p:cNvPr id="29" name="Shape 27"/>
          <p:cNvSpPr/>
          <p:nvPr/>
        </p:nvSpPr>
        <p:spPr>
          <a:xfrm>
            <a:off x="8266176"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30" name="Text 28"/>
          <p:cNvSpPr/>
          <p:nvPr/>
        </p:nvSpPr>
        <p:spPr>
          <a:xfrm>
            <a:off x="10780776"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9B8CFF"/>
                </a:solidFill>
              </a:rPr>
              <a:t>10%</a:t>
            </a:r>
            <a:endParaRPr lang="en-US" sz="1800" dirty="0"/>
          </a:p>
        </p:txBody>
      </p:sp>
      <p:sp>
        <p:nvSpPr>
          <p:cNvPr id="31" name="Text 29"/>
          <p:cNvSpPr/>
          <p:nvPr/>
        </p:nvSpPr>
        <p:spPr>
          <a:xfrm>
            <a:off x="8522208"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BRAND</a:t>
            </a:r>
            <a:endParaRPr lang="en-US" sz="900" dirty="0"/>
          </a:p>
        </p:txBody>
      </p:sp>
      <p:sp>
        <p:nvSpPr>
          <p:cNvPr id="32" name="Text 30"/>
          <p:cNvSpPr/>
          <p:nvPr/>
        </p:nvSpPr>
        <p:spPr>
          <a:xfrm>
            <a:off x="8522208"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Partnership proof, story, fit, reputation signals</a:t>
            </a:r>
            <a:endParaRPr lang="en-US" sz="930" dirty="0"/>
          </a:p>
        </p:txBody>
      </p:sp>
      <p:sp>
        <p:nvSpPr>
          <p:cNvPr id="33" name="Text 31"/>
          <p:cNvSpPr/>
          <p:nvPr/>
        </p:nvSpPr>
        <p:spPr>
          <a:xfrm>
            <a:off x="713232" y="5724144"/>
            <a:ext cx="10698480"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Normalization: log-transform large counts → percentile rank 0–100 → weighted pillar score.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11F"/>
        </a:solidFill>
      </p:bgPr>
    </p:bg>
    <p:spTree>
      <p:nvGrpSpPr>
        <p:cNvPr id="1" name=""/>
        <p:cNvGrpSpPr/>
        <p:nvPr/>
      </p:nvGrpSpPr>
      <p:grpSpPr>
        <a:xfrm>
          <a:off x="0" y="0"/>
          <a:ext cx="0" cy="0"/>
          <a:chOff x="0" y="0"/>
          <a:chExt cx="0" cy="0"/>
        </a:xfrm>
      </p:grpSpPr>
      <p:sp>
        <p:nvSpPr>
          <p:cNvPr id="2" name="Rectangle 1"/>
          <p:cNvSpPr/>
          <p:nvPr/>
        </p:nvSpPr>
        <p:spPr>
          <a:xfrm>
            <a:off x="0" y="0"/>
            <a:ext cx="12191695" cy="50292"/>
          </a:xfrm>
          <a:prstGeom prst="rect">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320040"/>
            <a:ext cx="2926080" cy="201168"/>
          </a:xfrm>
          <a:prstGeom prst="rect">
            <a:avLst/>
          </a:prstGeom>
          <a:noFill/>
        </p:spPr>
        <p:txBody>
          <a:bodyPr wrap="none" lIns="0" rIns="0" tIns="0" bIns="0" anchor="ctr">
            <a:spAutoFit/>
          </a:bodyPr>
          <a:lstStyle/>
          <a:p>
            <a:pPr algn="l"/>
            <a:r>
              <a:rPr sz="850" b="1">
                <a:solidFill>
                  <a:srgbClr val="00A3FF"/>
                </a:solidFill>
                <a:latin typeface="Aptos"/>
              </a:rPr>
              <a:t>MODEL</a:t>
            </a:r>
          </a:p>
        </p:txBody>
      </p:sp>
      <p:sp>
        <p:nvSpPr>
          <p:cNvPr id="4" name="TextBox 3"/>
          <p:cNvSpPr txBox="1"/>
          <p:nvPr/>
        </p:nvSpPr>
        <p:spPr>
          <a:xfrm>
            <a:off x="621792" y="612648"/>
            <a:ext cx="10789920" cy="566928"/>
          </a:xfrm>
          <a:prstGeom prst="rect">
            <a:avLst/>
          </a:prstGeom>
          <a:noFill/>
        </p:spPr>
        <p:txBody>
          <a:bodyPr wrap="none" lIns="0" rIns="0" tIns="0" bIns="0" anchor="ctr">
            <a:spAutoFit/>
          </a:bodyPr>
          <a:lstStyle/>
          <a:p>
            <a:pPr algn="l"/>
            <a:r>
              <a:rPr sz="2700" b="1">
                <a:solidFill>
                  <a:srgbClr val="F7FAFC"/>
                </a:solidFill>
                <a:latin typeface="Aptos Display"/>
              </a:rPr>
              <a:t>Simple enough to defend. Useful enough to act on.</a:t>
            </a:r>
          </a:p>
        </p:txBody>
      </p:sp>
      <p:sp>
        <p:nvSpPr>
          <p:cNvPr id="5" name="TextBox 4"/>
          <p:cNvSpPr txBox="1"/>
          <p:nvPr/>
        </p:nvSpPr>
        <p:spPr>
          <a:xfrm>
            <a:off x="630936" y="1225296"/>
            <a:ext cx="10698480" cy="411480"/>
          </a:xfrm>
          <a:prstGeom prst="rect">
            <a:avLst/>
          </a:prstGeom>
          <a:noFill/>
        </p:spPr>
        <p:txBody>
          <a:bodyPr wrap="none" lIns="0" rIns="0" tIns="0" bIns="0" anchor="ctr">
            <a:spAutoFit/>
          </a:bodyPr>
          <a:lstStyle/>
          <a:p>
            <a:pPr algn="l"/>
            <a:r>
              <a:rPr sz="1250" b="0">
                <a:solidFill>
                  <a:srgbClr val="A9BAC9"/>
                </a:solidFill>
                <a:latin typeface="Aptos"/>
              </a:rPr>
              <a:t>Normalize → score → gap → action. Every step is visible and testable.</a:t>
            </a:r>
          </a:p>
        </p:txBody>
      </p:sp>
      <p:sp>
        <p:nvSpPr>
          <p:cNvPr id="6" name="Rounded Rectangle 5"/>
          <p:cNvSpPr/>
          <p:nvPr/>
        </p:nvSpPr>
        <p:spPr>
          <a:xfrm>
            <a:off x="713232" y="1874519"/>
            <a:ext cx="3246120" cy="3611880"/>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139696"/>
            <a:ext cx="2057400" cy="237744"/>
          </a:xfrm>
          <a:prstGeom prst="rect">
            <a:avLst/>
          </a:prstGeom>
          <a:noFill/>
        </p:spPr>
        <p:txBody>
          <a:bodyPr wrap="none" lIns="0" rIns="0" tIns="0" bIns="0" anchor="ctr">
            <a:spAutoFit/>
          </a:bodyPr>
          <a:lstStyle/>
          <a:p>
            <a:pPr algn="l"/>
            <a:r>
              <a:rPr sz="800" b="1">
                <a:solidFill>
                  <a:srgbClr val="00A3FF"/>
                </a:solidFill>
                <a:latin typeface="Aptos"/>
              </a:rPr>
              <a:t>01  NORMALIZE</a:t>
            </a:r>
          </a:p>
        </p:txBody>
      </p:sp>
      <p:sp>
        <p:nvSpPr>
          <p:cNvPr id="8" name="TextBox 7"/>
          <p:cNvSpPr txBox="1"/>
          <p:nvPr/>
        </p:nvSpPr>
        <p:spPr>
          <a:xfrm>
            <a:off x="978408" y="2633472"/>
            <a:ext cx="2606040" cy="384048"/>
          </a:xfrm>
          <a:prstGeom prst="rect">
            <a:avLst/>
          </a:prstGeom>
          <a:noFill/>
        </p:spPr>
        <p:txBody>
          <a:bodyPr wrap="none" lIns="0" rIns="0" tIns="0" bIns="0" anchor="ctr">
            <a:spAutoFit/>
          </a:bodyPr>
          <a:lstStyle/>
          <a:p>
            <a:pPr algn="l"/>
            <a:r>
              <a:rPr sz="1500" b="1">
                <a:solidFill>
                  <a:srgbClr val="FFFFFF"/>
                </a:solidFill>
                <a:latin typeface="Aptos"/>
              </a:rPr>
              <a:t>Raw counts are not comparable.</a:t>
            </a:r>
          </a:p>
        </p:txBody>
      </p:sp>
      <p:sp>
        <p:nvSpPr>
          <p:cNvPr id="9" name="TextBox 8"/>
          <p:cNvSpPr txBox="1"/>
          <p:nvPr/>
        </p:nvSpPr>
        <p:spPr>
          <a:xfrm>
            <a:off x="978408" y="3172968"/>
            <a:ext cx="2514600" cy="274320"/>
          </a:xfrm>
          <a:prstGeom prst="rect">
            <a:avLst/>
          </a:prstGeom>
          <a:noFill/>
        </p:spPr>
        <p:txBody>
          <a:bodyPr wrap="none" lIns="0" rIns="0" tIns="0" bIns="0" anchor="ctr">
            <a:spAutoFit/>
          </a:bodyPr>
          <a:lstStyle/>
          <a:p>
            <a:pPr algn="l"/>
            <a:r>
              <a:rPr sz="950" b="0">
                <a:solidFill>
                  <a:srgbClr val="A9BAC9"/>
                </a:solidFill>
                <a:latin typeface="Aptos"/>
              </a:rPr>
              <a:t>For followers, views, and mentions:</a:t>
            </a:r>
          </a:p>
        </p:txBody>
      </p:sp>
      <p:sp>
        <p:nvSpPr>
          <p:cNvPr id="10" name="TextBox 9"/>
          <p:cNvSpPr txBox="1"/>
          <p:nvPr/>
        </p:nvSpPr>
        <p:spPr>
          <a:xfrm>
            <a:off x="978408" y="3566160"/>
            <a:ext cx="2194560" cy="384048"/>
          </a:xfrm>
          <a:prstGeom prst="rect">
            <a:avLst/>
          </a:prstGeom>
          <a:noFill/>
        </p:spPr>
        <p:txBody>
          <a:bodyPr wrap="none" lIns="0" rIns="0" tIns="0" bIns="0" anchor="ctr">
            <a:spAutoFit/>
          </a:bodyPr>
          <a:lstStyle/>
          <a:p>
            <a:pPr algn="l"/>
            <a:r>
              <a:rPr sz="2200" b="1">
                <a:solidFill>
                  <a:srgbClr val="40D9FF"/>
                </a:solidFill>
                <a:latin typeface="Aptos"/>
              </a:rPr>
              <a:t>log(1 + x)</a:t>
            </a:r>
          </a:p>
        </p:txBody>
      </p:sp>
      <p:sp>
        <p:nvSpPr>
          <p:cNvPr id="11" name="TextBox 10"/>
          <p:cNvSpPr txBox="1"/>
          <p:nvPr/>
        </p:nvSpPr>
        <p:spPr>
          <a:xfrm>
            <a:off x="978408" y="4069080"/>
            <a:ext cx="2487168" cy="566928"/>
          </a:xfrm>
          <a:prstGeom prst="rect">
            <a:avLst/>
          </a:prstGeom>
          <a:noFill/>
        </p:spPr>
        <p:txBody>
          <a:bodyPr wrap="none" lIns="0" rIns="0" tIns="0" bIns="0" anchor="ctr">
            <a:spAutoFit/>
          </a:bodyPr>
          <a:lstStyle/>
          <a:p>
            <a:pPr algn="l"/>
            <a:r>
              <a:rPr sz="1000" b="0">
                <a:solidFill>
                  <a:srgbClr val="A9BAC9"/>
                </a:solidFill>
                <a:latin typeface="Aptos"/>
              </a:rPr>
              <a:t>then percentile-rank every feature from 0–100.</a:t>
            </a:r>
          </a:p>
        </p:txBody>
      </p:sp>
      <p:sp>
        <p:nvSpPr>
          <p:cNvPr id="12" name="Rounded Rectangle 11"/>
          <p:cNvSpPr/>
          <p:nvPr/>
        </p:nvSpPr>
        <p:spPr>
          <a:xfrm>
            <a:off x="978408" y="4882896"/>
            <a:ext cx="1143000" cy="310896"/>
          </a:xfrm>
          <a:prstGeom prst="roundRect">
            <a:avLst/>
          </a:prstGeom>
          <a:solidFill>
            <a:srgbClr val="0D344F"/>
          </a:solidFill>
          <a:ln w="8890">
            <a:solidFill>
              <a:srgbClr val="00A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4910328"/>
            <a:ext cx="1033271" cy="228600"/>
          </a:xfrm>
          <a:prstGeom prst="rect">
            <a:avLst/>
          </a:prstGeom>
          <a:noFill/>
        </p:spPr>
        <p:txBody>
          <a:bodyPr wrap="none" lIns="0" rIns="0" tIns="0" bIns="0" anchor="ctr">
            <a:spAutoFit/>
          </a:bodyPr>
          <a:lstStyle/>
          <a:p>
            <a:pPr algn="ctr"/>
            <a:r>
              <a:rPr sz="720" b="1">
                <a:solidFill>
                  <a:srgbClr val="F7FAFC"/>
                </a:solidFill>
                <a:latin typeface="Aptos"/>
              </a:rPr>
              <a:t>SAME SCALE</a:t>
            </a:r>
          </a:p>
        </p:txBody>
      </p:sp>
      <p:sp>
        <p:nvSpPr>
          <p:cNvPr id="14" name="Rounded Rectangle 13"/>
          <p:cNvSpPr/>
          <p:nvPr/>
        </p:nvSpPr>
        <p:spPr>
          <a:xfrm>
            <a:off x="4160520" y="1874519"/>
            <a:ext cx="3657600" cy="3611880"/>
          </a:xfrm>
          <a:prstGeom prst="roundRect">
            <a:avLst/>
          </a:prstGeom>
          <a:solidFill>
            <a:srgbClr val="0B274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25696" y="2139696"/>
            <a:ext cx="2057400" cy="237744"/>
          </a:xfrm>
          <a:prstGeom prst="rect">
            <a:avLst/>
          </a:prstGeom>
          <a:noFill/>
        </p:spPr>
        <p:txBody>
          <a:bodyPr wrap="none" lIns="0" rIns="0" tIns="0" bIns="0" anchor="ctr">
            <a:spAutoFit/>
          </a:bodyPr>
          <a:lstStyle/>
          <a:p>
            <a:pPr algn="l"/>
            <a:r>
              <a:rPr sz="800" b="1">
                <a:solidFill>
                  <a:srgbClr val="35D0BA"/>
                </a:solidFill>
                <a:latin typeface="Aptos"/>
              </a:rPr>
              <a:t>02  SCORE</a:t>
            </a:r>
          </a:p>
        </p:txBody>
      </p:sp>
      <p:sp>
        <p:nvSpPr>
          <p:cNvPr id="16" name="TextBox 15"/>
          <p:cNvSpPr txBox="1"/>
          <p:nvPr/>
        </p:nvSpPr>
        <p:spPr>
          <a:xfrm>
            <a:off x="4425696" y="2578608"/>
            <a:ext cx="2651760" cy="320040"/>
          </a:xfrm>
          <a:prstGeom prst="rect">
            <a:avLst/>
          </a:prstGeom>
          <a:noFill/>
        </p:spPr>
        <p:txBody>
          <a:bodyPr wrap="none" lIns="0" rIns="0" tIns="0" bIns="0" anchor="ctr">
            <a:spAutoFit/>
          </a:bodyPr>
          <a:lstStyle/>
          <a:p>
            <a:pPr algn="l"/>
            <a:r>
              <a:rPr sz="1700" b="1">
                <a:solidFill>
                  <a:srgbClr val="FFFFFF"/>
                </a:solidFill>
                <a:latin typeface="Aptos"/>
              </a:rPr>
              <a:t>Marketability score</a:t>
            </a:r>
          </a:p>
        </p:txBody>
      </p:sp>
      <p:sp>
        <p:nvSpPr>
          <p:cNvPr id="17" name="Oval 16"/>
          <p:cNvSpPr/>
          <p:nvPr/>
        </p:nvSpPr>
        <p:spPr>
          <a:xfrm>
            <a:off x="4443984" y="3154679"/>
            <a:ext cx="91440" cy="91440"/>
          </a:xfrm>
          <a:prstGeom prst="ellipse">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5152" y="3090672"/>
            <a:ext cx="530352" cy="210312"/>
          </a:xfrm>
          <a:prstGeom prst="rect">
            <a:avLst/>
          </a:prstGeom>
          <a:noFill/>
        </p:spPr>
        <p:txBody>
          <a:bodyPr wrap="none" lIns="0" rIns="0" tIns="0" bIns="0" anchor="ctr">
            <a:spAutoFit/>
          </a:bodyPr>
          <a:lstStyle/>
          <a:p>
            <a:pPr algn="l"/>
            <a:r>
              <a:rPr sz="850" b="1">
                <a:solidFill>
                  <a:srgbClr val="00A3FF"/>
                </a:solidFill>
                <a:latin typeface="Aptos"/>
              </a:rPr>
              <a:t>25%</a:t>
            </a:r>
          </a:p>
        </p:txBody>
      </p:sp>
      <p:sp>
        <p:nvSpPr>
          <p:cNvPr id="19" name="TextBox 18"/>
          <p:cNvSpPr txBox="1"/>
          <p:nvPr/>
        </p:nvSpPr>
        <p:spPr>
          <a:xfrm>
            <a:off x="5230368" y="3090672"/>
            <a:ext cx="1737360" cy="210312"/>
          </a:xfrm>
          <a:prstGeom prst="rect">
            <a:avLst/>
          </a:prstGeom>
          <a:noFill/>
        </p:spPr>
        <p:txBody>
          <a:bodyPr wrap="none" lIns="0" rIns="0" tIns="0" bIns="0" anchor="ctr">
            <a:spAutoFit/>
          </a:bodyPr>
          <a:lstStyle/>
          <a:p>
            <a:pPr algn="l"/>
            <a:r>
              <a:rPr sz="850" b="1">
                <a:solidFill>
                  <a:srgbClr val="F7FAFC"/>
                </a:solidFill>
                <a:latin typeface="Aptos"/>
              </a:rPr>
              <a:t>Performance</a:t>
            </a:r>
          </a:p>
        </p:txBody>
      </p:sp>
      <p:sp>
        <p:nvSpPr>
          <p:cNvPr id="20" name="Oval 19"/>
          <p:cNvSpPr/>
          <p:nvPr/>
        </p:nvSpPr>
        <p:spPr>
          <a:xfrm>
            <a:off x="4443984" y="3483863"/>
            <a:ext cx="91440" cy="91440"/>
          </a:xfrm>
          <a:prstGeom prst="ellipse">
            <a:avLst/>
          </a:prstGeom>
          <a:solidFill>
            <a:srgbClr val="40D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5152" y="3419856"/>
            <a:ext cx="530352" cy="210312"/>
          </a:xfrm>
          <a:prstGeom prst="rect">
            <a:avLst/>
          </a:prstGeom>
          <a:noFill/>
        </p:spPr>
        <p:txBody>
          <a:bodyPr wrap="none" lIns="0" rIns="0" tIns="0" bIns="0" anchor="ctr">
            <a:spAutoFit/>
          </a:bodyPr>
          <a:lstStyle/>
          <a:p>
            <a:pPr algn="l"/>
            <a:r>
              <a:rPr sz="850" b="1">
                <a:solidFill>
                  <a:srgbClr val="40D9FF"/>
                </a:solidFill>
                <a:latin typeface="Aptos"/>
              </a:rPr>
              <a:t>20%</a:t>
            </a:r>
          </a:p>
        </p:txBody>
      </p:sp>
      <p:sp>
        <p:nvSpPr>
          <p:cNvPr id="22" name="TextBox 21"/>
          <p:cNvSpPr txBox="1"/>
          <p:nvPr/>
        </p:nvSpPr>
        <p:spPr>
          <a:xfrm>
            <a:off x="5230368" y="3419856"/>
            <a:ext cx="1737360" cy="210312"/>
          </a:xfrm>
          <a:prstGeom prst="rect">
            <a:avLst/>
          </a:prstGeom>
          <a:noFill/>
        </p:spPr>
        <p:txBody>
          <a:bodyPr wrap="none" lIns="0" rIns="0" tIns="0" bIns="0" anchor="ctr">
            <a:spAutoFit/>
          </a:bodyPr>
          <a:lstStyle/>
          <a:p>
            <a:pPr algn="l"/>
            <a:r>
              <a:rPr sz="850" b="1">
                <a:solidFill>
                  <a:srgbClr val="F7FAFC"/>
                </a:solidFill>
                <a:latin typeface="Aptos"/>
              </a:rPr>
              <a:t>Reach</a:t>
            </a:r>
          </a:p>
        </p:txBody>
      </p:sp>
      <p:sp>
        <p:nvSpPr>
          <p:cNvPr id="23" name="Oval 22"/>
          <p:cNvSpPr/>
          <p:nvPr/>
        </p:nvSpPr>
        <p:spPr>
          <a:xfrm>
            <a:off x="4443984" y="3813048"/>
            <a:ext cx="91440" cy="91440"/>
          </a:xfrm>
          <a:prstGeom prst="ellipse">
            <a:avLst/>
          </a:prstGeom>
          <a:solidFill>
            <a:srgbClr val="35D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749039"/>
            <a:ext cx="530352" cy="210312"/>
          </a:xfrm>
          <a:prstGeom prst="rect">
            <a:avLst/>
          </a:prstGeom>
          <a:noFill/>
        </p:spPr>
        <p:txBody>
          <a:bodyPr wrap="none" lIns="0" rIns="0" tIns="0" bIns="0" anchor="ctr">
            <a:spAutoFit/>
          </a:bodyPr>
          <a:lstStyle/>
          <a:p>
            <a:pPr algn="l"/>
            <a:r>
              <a:rPr sz="850" b="1">
                <a:solidFill>
                  <a:srgbClr val="35D0BA"/>
                </a:solidFill>
                <a:latin typeface="Aptos"/>
              </a:rPr>
              <a:t>20%</a:t>
            </a:r>
          </a:p>
        </p:txBody>
      </p:sp>
      <p:sp>
        <p:nvSpPr>
          <p:cNvPr id="25" name="TextBox 24"/>
          <p:cNvSpPr txBox="1"/>
          <p:nvPr/>
        </p:nvSpPr>
        <p:spPr>
          <a:xfrm>
            <a:off x="5230368" y="3749039"/>
            <a:ext cx="1737360" cy="210312"/>
          </a:xfrm>
          <a:prstGeom prst="rect">
            <a:avLst/>
          </a:prstGeom>
          <a:noFill/>
        </p:spPr>
        <p:txBody>
          <a:bodyPr wrap="none" lIns="0" rIns="0" tIns="0" bIns="0" anchor="ctr">
            <a:spAutoFit/>
          </a:bodyPr>
          <a:lstStyle/>
          <a:p>
            <a:pPr algn="l"/>
            <a:r>
              <a:rPr sz="850" b="1">
                <a:solidFill>
                  <a:srgbClr val="F7FAFC"/>
                </a:solidFill>
                <a:latin typeface="Aptos"/>
              </a:rPr>
              <a:t>Attention</a:t>
            </a:r>
          </a:p>
        </p:txBody>
      </p:sp>
      <p:sp>
        <p:nvSpPr>
          <p:cNvPr id="26" name="Oval 25"/>
          <p:cNvSpPr/>
          <p:nvPr/>
        </p:nvSpPr>
        <p:spPr>
          <a:xfrm>
            <a:off x="4443984" y="4142232"/>
            <a:ext cx="91440" cy="91440"/>
          </a:xfrm>
          <a:prstGeom prst="ellipse">
            <a:avLst/>
          </a:prstGeom>
          <a:solidFill>
            <a:srgbClr val="F4C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5152" y="4078224"/>
            <a:ext cx="530352" cy="210312"/>
          </a:xfrm>
          <a:prstGeom prst="rect">
            <a:avLst/>
          </a:prstGeom>
          <a:noFill/>
        </p:spPr>
        <p:txBody>
          <a:bodyPr wrap="none" lIns="0" rIns="0" tIns="0" bIns="0" anchor="ctr">
            <a:spAutoFit/>
          </a:bodyPr>
          <a:lstStyle/>
          <a:p>
            <a:pPr algn="l"/>
            <a:r>
              <a:rPr sz="850" b="1">
                <a:solidFill>
                  <a:srgbClr val="F4C95D"/>
                </a:solidFill>
                <a:latin typeface="Aptos"/>
              </a:rPr>
              <a:t>15%</a:t>
            </a:r>
          </a:p>
        </p:txBody>
      </p:sp>
      <p:sp>
        <p:nvSpPr>
          <p:cNvPr id="28" name="TextBox 27"/>
          <p:cNvSpPr txBox="1"/>
          <p:nvPr/>
        </p:nvSpPr>
        <p:spPr>
          <a:xfrm>
            <a:off x="5230368" y="4078224"/>
            <a:ext cx="1737360" cy="210312"/>
          </a:xfrm>
          <a:prstGeom prst="rect">
            <a:avLst/>
          </a:prstGeom>
          <a:noFill/>
        </p:spPr>
        <p:txBody>
          <a:bodyPr wrap="none" lIns="0" rIns="0" tIns="0" bIns="0" anchor="ctr">
            <a:spAutoFit/>
          </a:bodyPr>
          <a:lstStyle/>
          <a:p>
            <a:pPr algn="l"/>
            <a:r>
              <a:rPr sz="850" b="1">
                <a:solidFill>
                  <a:srgbClr val="F7FAFC"/>
                </a:solidFill>
                <a:latin typeface="Aptos"/>
              </a:rPr>
              <a:t>Engagement</a:t>
            </a:r>
          </a:p>
        </p:txBody>
      </p:sp>
      <p:sp>
        <p:nvSpPr>
          <p:cNvPr id="29" name="Oval 28"/>
          <p:cNvSpPr/>
          <p:nvPr/>
        </p:nvSpPr>
        <p:spPr>
          <a:xfrm>
            <a:off x="4443984" y="4471416"/>
            <a:ext cx="91440" cy="91440"/>
          </a:xfrm>
          <a:prstGeom prst="ellipse">
            <a:avLst/>
          </a:prstGeom>
          <a:solidFill>
            <a:srgbClr val="24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2" y="4407408"/>
            <a:ext cx="530352" cy="210312"/>
          </a:xfrm>
          <a:prstGeom prst="rect">
            <a:avLst/>
          </a:prstGeom>
          <a:noFill/>
        </p:spPr>
        <p:txBody>
          <a:bodyPr wrap="none" lIns="0" rIns="0" tIns="0" bIns="0" anchor="ctr">
            <a:spAutoFit/>
          </a:bodyPr>
          <a:lstStyle/>
          <a:p>
            <a:pPr algn="l"/>
            <a:r>
              <a:rPr sz="850" b="1">
                <a:solidFill>
                  <a:srgbClr val="2477FF"/>
                </a:solidFill>
                <a:latin typeface="Aptos"/>
              </a:rPr>
              <a:t>10%</a:t>
            </a:r>
          </a:p>
        </p:txBody>
      </p:sp>
      <p:sp>
        <p:nvSpPr>
          <p:cNvPr id="31" name="TextBox 30"/>
          <p:cNvSpPr txBox="1"/>
          <p:nvPr/>
        </p:nvSpPr>
        <p:spPr>
          <a:xfrm>
            <a:off x="5230368" y="4407408"/>
            <a:ext cx="1737360" cy="210312"/>
          </a:xfrm>
          <a:prstGeom prst="rect">
            <a:avLst/>
          </a:prstGeom>
          <a:noFill/>
        </p:spPr>
        <p:txBody>
          <a:bodyPr wrap="none" lIns="0" rIns="0" tIns="0" bIns="0" anchor="ctr">
            <a:spAutoFit/>
          </a:bodyPr>
          <a:lstStyle/>
          <a:p>
            <a:pPr algn="l"/>
            <a:r>
              <a:rPr sz="850" b="1">
                <a:solidFill>
                  <a:srgbClr val="F7FAFC"/>
                </a:solidFill>
                <a:latin typeface="Aptos"/>
              </a:rPr>
              <a:t>Momentum</a:t>
            </a:r>
          </a:p>
        </p:txBody>
      </p:sp>
      <p:sp>
        <p:nvSpPr>
          <p:cNvPr id="32" name="Oval 31"/>
          <p:cNvSpPr/>
          <p:nvPr/>
        </p:nvSpPr>
        <p:spPr>
          <a:xfrm>
            <a:off x="4443984" y="4800600"/>
            <a:ext cx="91440" cy="91440"/>
          </a:xfrm>
          <a:prstGeom prst="ellipse">
            <a:avLst/>
          </a:prstGeom>
          <a:solidFill>
            <a:srgbClr val="9B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4736592"/>
            <a:ext cx="530352" cy="210312"/>
          </a:xfrm>
          <a:prstGeom prst="rect">
            <a:avLst/>
          </a:prstGeom>
          <a:noFill/>
        </p:spPr>
        <p:txBody>
          <a:bodyPr wrap="none" lIns="0" rIns="0" tIns="0" bIns="0" anchor="ctr">
            <a:spAutoFit/>
          </a:bodyPr>
          <a:lstStyle/>
          <a:p>
            <a:pPr algn="l"/>
            <a:r>
              <a:rPr sz="850" b="1">
                <a:solidFill>
                  <a:srgbClr val="9B8CFF"/>
                </a:solidFill>
                <a:latin typeface="Aptos"/>
              </a:rPr>
              <a:t>10%</a:t>
            </a:r>
          </a:p>
        </p:txBody>
      </p:sp>
      <p:sp>
        <p:nvSpPr>
          <p:cNvPr id="34" name="TextBox 33"/>
          <p:cNvSpPr txBox="1"/>
          <p:nvPr/>
        </p:nvSpPr>
        <p:spPr>
          <a:xfrm>
            <a:off x="5230368" y="4736592"/>
            <a:ext cx="1737360" cy="210312"/>
          </a:xfrm>
          <a:prstGeom prst="rect">
            <a:avLst/>
          </a:prstGeom>
          <a:noFill/>
        </p:spPr>
        <p:txBody>
          <a:bodyPr wrap="none" lIns="0" rIns="0" tIns="0" bIns="0" anchor="ctr">
            <a:spAutoFit/>
          </a:bodyPr>
          <a:lstStyle/>
          <a:p>
            <a:pPr algn="l"/>
            <a:r>
              <a:rPr sz="850" b="1">
                <a:solidFill>
                  <a:srgbClr val="F7FAFC"/>
                </a:solidFill>
                <a:latin typeface="Aptos"/>
              </a:rPr>
              <a:t>Brand</a:t>
            </a:r>
          </a:p>
        </p:txBody>
      </p:sp>
      <p:sp>
        <p:nvSpPr>
          <p:cNvPr id="35" name="TextBox 34"/>
          <p:cNvSpPr txBox="1"/>
          <p:nvPr/>
        </p:nvSpPr>
        <p:spPr>
          <a:xfrm>
            <a:off x="4425696" y="5184648"/>
            <a:ext cx="2834640" cy="219456"/>
          </a:xfrm>
          <a:prstGeom prst="rect">
            <a:avLst/>
          </a:prstGeom>
          <a:noFill/>
        </p:spPr>
        <p:txBody>
          <a:bodyPr wrap="none" lIns="0" rIns="0" tIns="0" bIns="0" anchor="ctr">
            <a:spAutoFit/>
          </a:bodyPr>
          <a:lstStyle/>
          <a:p>
            <a:pPr algn="l"/>
            <a:r>
              <a:rPr sz="830" b="0">
                <a:solidFill>
                  <a:srgbClr val="A9BAC9"/>
                </a:solidFill>
                <a:latin typeface="Aptos"/>
              </a:rPr>
              <a:t>Weights are transparent—and stress-tested next.</a:t>
            </a:r>
          </a:p>
        </p:txBody>
      </p:sp>
      <p:sp>
        <p:nvSpPr>
          <p:cNvPr id="36" name="Rounded Rectangle 35"/>
          <p:cNvSpPr/>
          <p:nvPr/>
        </p:nvSpPr>
        <p:spPr>
          <a:xfrm>
            <a:off x="8028431" y="1874519"/>
            <a:ext cx="3447288" cy="3611880"/>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02752" y="2139696"/>
            <a:ext cx="2103120" cy="237744"/>
          </a:xfrm>
          <a:prstGeom prst="rect">
            <a:avLst/>
          </a:prstGeom>
          <a:noFill/>
        </p:spPr>
        <p:txBody>
          <a:bodyPr wrap="none" lIns="0" rIns="0" tIns="0" bIns="0" anchor="ctr">
            <a:spAutoFit/>
          </a:bodyPr>
          <a:lstStyle/>
          <a:p>
            <a:pPr algn="l"/>
            <a:r>
              <a:rPr sz="800" b="1">
                <a:solidFill>
                  <a:srgbClr val="F4C95D"/>
                </a:solidFill>
                <a:latin typeface="Aptos"/>
              </a:rPr>
              <a:t>03  FIND THE GAP</a:t>
            </a:r>
          </a:p>
        </p:txBody>
      </p:sp>
      <p:sp>
        <p:nvSpPr>
          <p:cNvPr id="38" name="TextBox 37"/>
          <p:cNvSpPr txBox="1"/>
          <p:nvPr/>
        </p:nvSpPr>
        <p:spPr>
          <a:xfrm>
            <a:off x="8302752" y="2670048"/>
            <a:ext cx="2697480" cy="347472"/>
          </a:xfrm>
          <a:prstGeom prst="rect">
            <a:avLst/>
          </a:prstGeom>
          <a:noFill/>
        </p:spPr>
        <p:txBody>
          <a:bodyPr wrap="none" lIns="0" rIns="0" tIns="0" bIns="0" anchor="ctr">
            <a:spAutoFit/>
          </a:bodyPr>
          <a:lstStyle/>
          <a:p>
            <a:pPr algn="l"/>
            <a:r>
              <a:rPr sz="1500" b="1">
                <a:solidFill>
                  <a:srgbClr val="FFFFFF"/>
                </a:solidFill>
                <a:latin typeface="Aptos"/>
              </a:rPr>
              <a:t>Expected = f(Performance)</a:t>
            </a:r>
          </a:p>
        </p:txBody>
      </p:sp>
      <p:sp>
        <p:nvSpPr>
          <p:cNvPr id="39" name="TextBox 38"/>
          <p:cNvSpPr txBox="1"/>
          <p:nvPr/>
        </p:nvSpPr>
        <p:spPr>
          <a:xfrm>
            <a:off x="8302752" y="3163824"/>
            <a:ext cx="2761488" cy="402336"/>
          </a:xfrm>
          <a:prstGeom prst="rect">
            <a:avLst/>
          </a:prstGeom>
          <a:noFill/>
        </p:spPr>
        <p:txBody>
          <a:bodyPr wrap="none" lIns="0" rIns="0" tIns="0" bIns="0" anchor="ctr">
            <a:spAutoFit/>
          </a:bodyPr>
          <a:lstStyle/>
          <a:p>
            <a:pPr algn="l"/>
            <a:r>
              <a:rPr sz="1700" b="1">
                <a:solidFill>
                  <a:srgbClr val="FFFFFF"/>
                </a:solidFill>
                <a:latin typeface="Aptos"/>
              </a:rPr>
              <a:t>Gap = Marketability − Expected</a:t>
            </a:r>
          </a:p>
        </p:txBody>
      </p:sp>
      <p:sp>
        <p:nvSpPr>
          <p:cNvPr id="40" name="Rectangle 39"/>
          <p:cNvSpPr/>
          <p:nvPr/>
        </p:nvSpPr>
        <p:spPr>
          <a:xfrm>
            <a:off x="8302752" y="3767328"/>
            <a:ext cx="2670048" cy="889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4005072"/>
            <a:ext cx="713232" cy="274320"/>
          </a:xfrm>
          <a:prstGeom prst="rect">
            <a:avLst/>
          </a:prstGeom>
          <a:noFill/>
        </p:spPr>
        <p:txBody>
          <a:bodyPr wrap="none" lIns="0" rIns="0" tIns="0" bIns="0" anchor="ctr">
            <a:spAutoFit/>
          </a:bodyPr>
          <a:lstStyle/>
          <a:p>
            <a:pPr algn="l"/>
            <a:r>
              <a:rPr sz="1400" b="1">
                <a:solidFill>
                  <a:srgbClr val="F4C95D"/>
                </a:solidFill>
                <a:latin typeface="Aptos"/>
              </a:rPr>
              <a:t>GAP &lt; 0</a:t>
            </a:r>
          </a:p>
        </p:txBody>
      </p:sp>
      <p:sp>
        <p:nvSpPr>
          <p:cNvPr id="42" name="TextBox 41"/>
          <p:cNvSpPr txBox="1"/>
          <p:nvPr/>
        </p:nvSpPr>
        <p:spPr>
          <a:xfrm>
            <a:off x="9125712" y="3977639"/>
            <a:ext cx="1938528" cy="402336"/>
          </a:xfrm>
          <a:prstGeom prst="rect">
            <a:avLst/>
          </a:prstGeom>
          <a:noFill/>
        </p:spPr>
        <p:txBody>
          <a:bodyPr wrap="none" lIns="0" rIns="0" tIns="0" bIns="0" anchor="ctr">
            <a:spAutoFit/>
          </a:bodyPr>
          <a:lstStyle/>
          <a:p>
            <a:pPr algn="l"/>
            <a:r>
              <a:rPr sz="930" b="1">
                <a:solidFill>
                  <a:srgbClr val="F7FAFC"/>
                </a:solidFill>
                <a:latin typeface="Aptos"/>
              </a:rPr>
              <a:t>Underexposed relative to performance.</a:t>
            </a:r>
          </a:p>
        </p:txBody>
      </p:sp>
      <p:sp>
        <p:nvSpPr>
          <p:cNvPr id="43" name="TextBox 42"/>
          <p:cNvSpPr txBox="1"/>
          <p:nvPr/>
        </p:nvSpPr>
        <p:spPr>
          <a:xfrm>
            <a:off x="8302752" y="4553712"/>
            <a:ext cx="713232" cy="274320"/>
          </a:xfrm>
          <a:prstGeom prst="rect">
            <a:avLst/>
          </a:prstGeom>
          <a:noFill/>
        </p:spPr>
        <p:txBody>
          <a:bodyPr wrap="none" lIns="0" rIns="0" tIns="0" bIns="0" anchor="ctr">
            <a:spAutoFit/>
          </a:bodyPr>
          <a:lstStyle/>
          <a:p>
            <a:pPr algn="l"/>
            <a:r>
              <a:rPr sz="1400" b="1">
                <a:solidFill>
                  <a:srgbClr val="35D0BA"/>
                </a:solidFill>
                <a:latin typeface="Aptos"/>
              </a:rPr>
              <a:t>GAP &gt; 0</a:t>
            </a:r>
          </a:p>
        </p:txBody>
      </p:sp>
      <p:sp>
        <p:nvSpPr>
          <p:cNvPr id="44" name="TextBox 43"/>
          <p:cNvSpPr txBox="1"/>
          <p:nvPr/>
        </p:nvSpPr>
        <p:spPr>
          <a:xfrm>
            <a:off x="9125712" y="4526280"/>
            <a:ext cx="1938528" cy="402336"/>
          </a:xfrm>
          <a:prstGeom prst="rect">
            <a:avLst/>
          </a:prstGeom>
          <a:noFill/>
        </p:spPr>
        <p:txBody>
          <a:bodyPr wrap="none" lIns="0" rIns="0" tIns="0" bIns="0" anchor="ctr">
            <a:spAutoFit/>
          </a:bodyPr>
          <a:lstStyle/>
          <a:p>
            <a:pPr algn="l"/>
            <a:r>
              <a:rPr sz="930" b="1">
                <a:solidFill>
                  <a:srgbClr val="F7FAFC"/>
                </a:solidFill>
                <a:latin typeface="Aptos"/>
              </a:rPr>
              <a:t>Brand demand is ahead of the baseline.</a:t>
            </a:r>
          </a:p>
        </p:txBody>
      </p:sp>
      <p:sp>
        <p:nvSpPr>
          <p:cNvPr id="45" name="Rounded Rectangle 44"/>
          <p:cNvSpPr/>
          <p:nvPr/>
        </p:nvSpPr>
        <p:spPr>
          <a:xfrm>
            <a:off x="8302752" y="5038344"/>
            <a:ext cx="2487168" cy="310896"/>
          </a:xfrm>
          <a:prstGeom prst="roundRect">
            <a:avLst/>
          </a:prstGeom>
          <a:solidFill>
            <a:srgbClr val="0D344F"/>
          </a:solidFill>
          <a:ln w="8890">
            <a:solidFill>
              <a:srgbClr val="F4C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7616" y="5065776"/>
            <a:ext cx="2377440" cy="228600"/>
          </a:xfrm>
          <a:prstGeom prst="rect">
            <a:avLst/>
          </a:prstGeom>
          <a:noFill/>
        </p:spPr>
        <p:txBody>
          <a:bodyPr wrap="none" lIns="0" rIns="0" tIns="0" bIns="0" anchor="ctr">
            <a:spAutoFit/>
          </a:bodyPr>
          <a:lstStyle/>
          <a:p>
            <a:pPr algn="ctr"/>
            <a:r>
              <a:rPr sz="720" b="1">
                <a:solidFill>
                  <a:srgbClr val="F7FAFC"/>
                </a:solidFill>
                <a:latin typeface="Aptos"/>
              </a:rPr>
              <a:t>SCOUT NEGATIVE GAP + MOMENTUM</a:t>
            </a:r>
          </a:p>
        </p:txBody>
      </p:sp>
      <p:sp>
        <p:nvSpPr>
          <p:cNvPr id="47" name="Rectangle 46"/>
          <p:cNvSpPr/>
          <p:nvPr/>
        </p:nvSpPr>
        <p:spPr>
          <a:xfrm>
            <a:off x="566928" y="6455664"/>
            <a:ext cx="11064240" cy="762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6492240"/>
            <a:ext cx="1828800" cy="155448"/>
          </a:xfrm>
          <a:prstGeom prst="rect">
            <a:avLst/>
          </a:prstGeom>
          <a:noFill/>
        </p:spPr>
        <p:txBody>
          <a:bodyPr wrap="none" lIns="0" rIns="0" tIns="0" bIns="0" anchor="ctr">
            <a:spAutoFit/>
          </a:bodyPr>
          <a:lstStyle/>
          <a:p>
            <a:pPr algn="l"/>
            <a:r>
              <a:rPr sz="580" b="1">
                <a:solidFill>
                  <a:srgbClr val="6F879A"/>
                </a:solidFill>
                <a:latin typeface="Aptos"/>
              </a:rPr>
              <a:t>MAV METRICS  •  05</a:t>
            </a:r>
          </a:p>
        </p:txBody>
      </p:sp>
      <p:sp>
        <p:nvSpPr>
          <p:cNvPr id="49" name="TextBox 48"/>
          <p:cNvSpPr txBox="1"/>
          <p:nvPr/>
        </p:nvSpPr>
        <p:spPr>
          <a:xfrm>
            <a:off x="2377440" y="6473952"/>
            <a:ext cx="9189720" cy="182880"/>
          </a:xfrm>
          <a:prstGeom prst="rect">
            <a:avLst/>
          </a:prstGeom>
          <a:noFill/>
        </p:spPr>
        <p:txBody>
          <a:bodyPr wrap="none" lIns="0" rIns="0" tIns="0" bIns="0" anchor="ctr">
            <a:spAutoFit/>
          </a:bodyPr>
          <a:lstStyle/>
          <a:p>
            <a:pPr algn="r"/>
            <a:r>
              <a:rPr sz="509" b="0">
                <a:solidFill>
                  <a:srgbClr val="63798B"/>
                </a:solidFill>
                <a:latin typeface="Aptos"/>
              </a:rPr>
              <a:t>Framework formula — weights disclosed and sensitivity-tested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REALITY CHECK</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Real fan attention is measurable—and concentrated.</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Official NBA digital/social views give us an external outcome that a useful marketability model should understand.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06</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Communications, Apr. 14 2025 — 2024–25 regular season social/digital views</a:t>
            </a:r>
            <a:endParaRPr lang="en-US" sz="520" dirty="0"/>
          </a:p>
        </p:txBody>
      </p:sp>
      <p:sp>
        <p:nvSpPr>
          <p:cNvPr id="9" name="Text 7"/>
          <p:cNvSpPr/>
          <p:nvPr/>
        </p:nvSpPr>
        <p:spPr>
          <a:xfrm>
            <a:off x="749808" y="19385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01</a:t>
            </a:r>
            <a:endParaRPr lang="en-US" sz="680" dirty="0"/>
          </a:p>
        </p:txBody>
      </p:sp>
      <p:sp>
        <p:nvSpPr>
          <p:cNvPr id="10" name="Text 8"/>
          <p:cNvSpPr/>
          <p:nvPr/>
        </p:nvSpPr>
        <p:spPr>
          <a:xfrm>
            <a:off x="1124712" y="19385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LeBron</a:t>
            </a:r>
            <a:endParaRPr lang="en-US" sz="820" dirty="0"/>
          </a:p>
        </p:txBody>
      </p:sp>
      <p:sp>
        <p:nvSpPr>
          <p:cNvPr id="11" name="Shape 9"/>
          <p:cNvSpPr/>
          <p:nvPr/>
        </p:nvSpPr>
        <p:spPr>
          <a:xfrm>
            <a:off x="2267712" y="1965960"/>
            <a:ext cx="4434840" cy="164592"/>
          </a:xfrm>
          <a:prstGeom prst="rect">
            <a:avLst/>
          </a:prstGeom>
          <a:solidFill>
            <a:srgbClr val="00A3FF"/>
          </a:solidFill>
          <a:ln w="12700">
            <a:solidFill>
              <a:srgbClr val="00A3FF">
                <a:alpha val="0"/>
              </a:srgbClr>
            </a:solidFill>
            <a:prstDash val="solid"/>
          </a:ln>
        </p:spPr>
        <p:txBody>
          <a:bodyPr/>
          <a:p/>
        </p:txBody>
      </p:sp>
      <p:sp>
        <p:nvSpPr>
          <p:cNvPr id="12" name="Text 10"/>
          <p:cNvSpPr/>
          <p:nvPr/>
        </p:nvSpPr>
        <p:spPr>
          <a:xfrm>
            <a:off x="6830568" y="19385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3.23B</a:t>
            </a:r>
            <a:endParaRPr lang="en-US" sz="730" dirty="0"/>
          </a:p>
        </p:txBody>
      </p:sp>
      <p:sp>
        <p:nvSpPr>
          <p:cNvPr id="13" name="Text 11"/>
          <p:cNvSpPr/>
          <p:nvPr/>
        </p:nvSpPr>
        <p:spPr>
          <a:xfrm>
            <a:off x="749808" y="23042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02</a:t>
            </a:r>
            <a:endParaRPr lang="en-US" sz="680" dirty="0"/>
          </a:p>
        </p:txBody>
      </p:sp>
      <p:sp>
        <p:nvSpPr>
          <p:cNvPr id="14" name="Text 12"/>
          <p:cNvSpPr/>
          <p:nvPr/>
        </p:nvSpPr>
        <p:spPr>
          <a:xfrm>
            <a:off x="1124712" y="23042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Curry</a:t>
            </a:r>
            <a:endParaRPr lang="en-US" sz="820" dirty="0"/>
          </a:p>
        </p:txBody>
      </p:sp>
      <p:sp>
        <p:nvSpPr>
          <p:cNvPr id="15" name="Shape 13"/>
          <p:cNvSpPr/>
          <p:nvPr/>
        </p:nvSpPr>
        <p:spPr>
          <a:xfrm>
            <a:off x="2267712" y="2331720"/>
            <a:ext cx="3514920" cy="164592"/>
          </a:xfrm>
          <a:prstGeom prst="rect">
            <a:avLst/>
          </a:prstGeom>
          <a:solidFill>
            <a:srgbClr val="40D9FF"/>
          </a:solidFill>
          <a:ln w="12700">
            <a:solidFill>
              <a:srgbClr val="40D9FF">
                <a:alpha val="0"/>
              </a:srgbClr>
            </a:solidFill>
            <a:prstDash val="solid"/>
          </a:ln>
        </p:spPr>
        <p:txBody>
          <a:bodyPr/>
          <a:p/>
        </p:txBody>
      </p:sp>
      <p:sp>
        <p:nvSpPr>
          <p:cNvPr id="16" name="Text 14"/>
          <p:cNvSpPr/>
          <p:nvPr/>
        </p:nvSpPr>
        <p:spPr>
          <a:xfrm>
            <a:off x="6830568" y="23042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2.56B</a:t>
            </a:r>
            <a:endParaRPr lang="en-US" sz="730" dirty="0"/>
          </a:p>
        </p:txBody>
      </p:sp>
      <p:sp>
        <p:nvSpPr>
          <p:cNvPr id="17" name="Text 15"/>
          <p:cNvSpPr/>
          <p:nvPr/>
        </p:nvSpPr>
        <p:spPr>
          <a:xfrm>
            <a:off x="749808" y="26700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03</a:t>
            </a:r>
            <a:endParaRPr lang="en-US" sz="680" dirty="0"/>
          </a:p>
        </p:txBody>
      </p:sp>
      <p:sp>
        <p:nvSpPr>
          <p:cNvPr id="18" name="Text 16"/>
          <p:cNvSpPr/>
          <p:nvPr/>
        </p:nvSpPr>
        <p:spPr>
          <a:xfrm>
            <a:off x="1124712" y="26700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Luka</a:t>
            </a:r>
            <a:endParaRPr lang="en-US" sz="820" dirty="0"/>
          </a:p>
        </p:txBody>
      </p:sp>
      <p:sp>
        <p:nvSpPr>
          <p:cNvPr id="19" name="Shape 17"/>
          <p:cNvSpPr/>
          <p:nvPr/>
        </p:nvSpPr>
        <p:spPr>
          <a:xfrm>
            <a:off x="2267712" y="2697480"/>
            <a:ext cx="2498888" cy="164592"/>
          </a:xfrm>
          <a:prstGeom prst="rect">
            <a:avLst/>
          </a:prstGeom>
          <a:solidFill>
            <a:srgbClr val="35D0BA"/>
          </a:solidFill>
          <a:ln w="12700">
            <a:solidFill>
              <a:srgbClr val="35D0BA">
                <a:alpha val="0"/>
              </a:srgbClr>
            </a:solidFill>
            <a:prstDash val="solid"/>
          </a:ln>
        </p:spPr>
        <p:txBody>
          <a:bodyPr/>
          <a:p/>
        </p:txBody>
      </p:sp>
      <p:sp>
        <p:nvSpPr>
          <p:cNvPr id="20" name="Text 18"/>
          <p:cNvSpPr/>
          <p:nvPr/>
        </p:nvSpPr>
        <p:spPr>
          <a:xfrm>
            <a:off x="6830568" y="26700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1.82B</a:t>
            </a:r>
            <a:endParaRPr lang="en-US" sz="730" dirty="0"/>
          </a:p>
        </p:txBody>
      </p:sp>
      <p:sp>
        <p:nvSpPr>
          <p:cNvPr id="21" name="Text 19"/>
          <p:cNvSpPr/>
          <p:nvPr/>
        </p:nvSpPr>
        <p:spPr>
          <a:xfrm>
            <a:off x="749808" y="30358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04</a:t>
            </a:r>
            <a:endParaRPr lang="en-US" sz="680" dirty="0"/>
          </a:p>
        </p:txBody>
      </p:sp>
      <p:sp>
        <p:nvSpPr>
          <p:cNvPr id="22" name="Text 20"/>
          <p:cNvSpPr/>
          <p:nvPr/>
        </p:nvSpPr>
        <p:spPr>
          <a:xfrm>
            <a:off x="1124712" y="30358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Wemby</a:t>
            </a:r>
            <a:endParaRPr lang="en-US" sz="820" dirty="0"/>
          </a:p>
        </p:txBody>
      </p:sp>
      <p:sp>
        <p:nvSpPr>
          <p:cNvPr id="23" name="Shape 21"/>
          <p:cNvSpPr/>
          <p:nvPr/>
        </p:nvSpPr>
        <p:spPr>
          <a:xfrm>
            <a:off x="2267712" y="3063240"/>
            <a:ext cx="2018333" cy="164592"/>
          </a:xfrm>
          <a:prstGeom prst="rect">
            <a:avLst/>
          </a:prstGeom>
          <a:solidFill>
            <a:srgbClr val="F4C95D"/>
          </a:solidFill>
          <a:ln w="12700">
            <a:solidFill>
              <a:srgbClr val="F4C95D">
                <a:alpha val="0"/>
              </a:srgbClr>
            </a:solidFill>
            <a:prstDash val="solid"/>
          </a:ln>
        </p:spPr>
        <p:txBody>
          <a:bodyPr/>
          <a:p/>
        </p:txBody>
      </p:sp>
      <p:sp>
        <p:nvSpPr>
          <p:cNvPr id="24" name="Text 22"/>
          <p:cNvSpPr/>
          <p:nvPr/>
        </p:nvSpPr>
        <p:spPr>
          <a:xfrm>
            <a:off x="6830568" y="30358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1.47B</a:t>
            </a:r>
            <a:endParaRPr lang="en-US" sz="730" dirty="0"/>
          </a:p>
        </p:txBody>
      </p:sp>
      <p:sp>
        <p:nvSpPr>
          <p:cNvPr id="25" name="Text 23"/>
          <p:cNvSpPr/>
          <p:nvPr/>
        </p:nvSpPr>
        <p:spPr>
          <a:xfrm>
            <a:off x="749808" y="34015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05</a:t>
            </a:r>
            <a:endParaRPr lang="en-US" sz="680" dirty="0"/>
          </a:p>
        </p:txBody>
      </p:sp>
      <p:sp>
        <p:nvSpPr>
          <p:cNvPr id="26" name="Text 24"/>
          <p:cNvSpPr/>
          <p:nvPr/>
        </p:nvSpPr>
        <p:spPr>
          <a:xfrm>
            <a:off x="1124712" y="34015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Jokić</a:t>
            </a:r>
            <a:endParaRPr lang="en-US" sz="820" dirty="0"/>
          </a:p>
        </p:txBody>
      </p:sp>
      <p:sp>
        <p:nvSpPr>
          <p:cNvPr id="27" name="Shape 25"/>
          <p:cNvSpPr/>
          <p:nvPr/>
        </p:nvSpPr>
        <p:spPr>
          <a:xfrm>
            <a:off x="2267712" y="3429000"/>
            <a:ext cx="1647619" cy="164592"/>
          </a:xfrm>
          <a:prstGeom prst="rect">
            <a:avLst/>
          </a:prstGeom>
          <a:solidFill>
            <a:srgbClr val="9B8CFF"/>
          </a:solidFill>
          <a:ln w="12700">
            <a:solidFill>
              <a:srgbClr val="9B8CFF">
                <a:alpha val="0"/>
              </a:srgbClr>
            </a:solidFill>
            <a:prstDash val="solid"/>
          </a:ln>
        </p:spPr>
        <p:txBody>
          <a:bodyPr/>
          <a:p/>
        </p:txBody>
      </p:sp>
      <p:sp>
        <p:nvSpPr>
          <p:cNvPr id="28" name="Text 26"/>
          <p:cNvSpPr/>
          <p:nvPr/>
        </p:nvSpPr>
        <p:spPr>
          <a:xfrm>
            <a:off x="6830568" y="34015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1.20B</a:t>
            </a:r>
            <a:endParaRPr lang="en-US" sz="730" dirty="0"/>
          </a:p>
        </p:txBody>
      </p:sp>
      <p:sp>
        <p:nvSpPr>
          <p:cNvPr id="29" name="Text 27"/>
          <p:cNvSpPr/>
          <p:nvPr/>
        </p:nvSpPr>
        <p:spPr>
          <a:xfrm>
            <a:off x="749808" y="37673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06</a:t>
            </a:r>
            <a:endParaRPr lang="en-US" sz="680" dirty="0"/>
          </a:p>
        </p:txBody>
      </p:sp>
      <p:sp>
        <p:nvSpPr>
          <p:cNvPr id="30" name="Text 28"/>
          <p:cNvSpPr/>
          <p:nvPr/>
        </p:nvSpPr>
        <p:spPr>
          <a:xfrm>
            <a:off x="1124712" y="37673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Ja</a:t>
            </a:r>
            <a:endParaRPr lang="en-US" sz="820" dirty="0"/>
          </a:p>
        </p:txBody>
      </p:sp>
      <p:sp>
        <p:nvSpPr>
          <p:cNvPr id="31" name="Shape 29"/>
          <p:cNvSpPr/>
          <p:nvPr/>
        </p:nvSpPr>
        <p:spPr>
          <a:xfrm>
            <a:off x="2267712" y="3794760"/>
            <a:ext cx="1496587" cy="164592"/>
          </a:xfrm>
          <a:prstGeom prst="rect">
            <a:avLst/>
          </a:prstGeom>
          <a:solidFill>
            <a:srgbClr val="2477FF"/>
          </a:solidFill>
          <a:ln w="12700">
            <a:solidFill>
              <a:srgbClr val="2477FF">
                <a:alpha val="0"/>
              </a:srgbClr>
            </a:solidFill>
            <a:prstDash val="solid"/>
          </a:ln>
        </p:spPr>
        <p:txBody>
          <a:bodyPr/>
          <a:p/>
        </p:txBody>
      </p:sp>
      <p:sp>
        <p:nvSpPr>
          <p:cNvPr id="32" name="Text 30"/>
          <p:cNvSpPr/>
          <p:nvPr/>
        </p:nvSpPr>
        <p:spPr>
          <a:xfrm>
            <a:off x="6830568" y="37673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1.09B</a:t>
            </a:r>
            <a:endParaRPr lang="en-US" sz="730" dirty="0"/>
          </a:p>
        </p:txBody>
      </p:sp>
      <p:sp>
        <p:nvSpPr>
          <p:cNvPr id="33" name="Text 31"/>
          <p:cNvSpPr/>
          <p:nvPr/>
        </p:nvSpPr>
        <p:spPr>
          <a:xfrm>
            <a:off x="749808" y="41330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07</a:t>
            </a:r>
            <a:endParaRPr lang="en-US" sz="680" dirty="0"/>
          </a:p>
        </p:txBody>
      </p:sp>
      <p:sp>
        <p:nvSpPr>
          <p:cNvPr id="34" name="Text 32"/>
          <p:cNvSpPr/>
          <p:nvPr/>
        </p:nvSpPr>
        <p:spPr>
          <a:xfrm>
            <a:off x="1124712" y="41330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Shai</a:t>
            </a:r>
            <a:endParaRPr lang="en-US" sz="820" dirty="0"/>
          </a:p>
        </p:txBody>
      </p:sp>
      <p:sp>
        <p:nvSpPr>
          <p:cNvPr id="35" name="Shape 33"/>
          <p:cNvSpPr/>
          <p:nvPr/>
        </p:nvSpPr>
        <p:spPr>
          <a:xfrm>
            <a:off x="2267712" y="4160520"/>
            <a:ext cx="1455396" cy="164592"/>
          </a:xfrm>
          <a:prstGeom prst="rect">
            <a:avLst/>
          </a:prstGeom>
          <a:solidFill>
            <a:srgbClr val="5ED8C6"/>
          </a:solidFill>
          <a:ln w="12700">
            <a:solidFill>
              <a:srgbClr val="5ED8C6">
                <a:alpha val="0"/>
              </a:srgbClr>
            </a:solidFill>
            <a:prstDash val="solid"/>
          </a:ln>
        </p:spPr>
        <p:txBody>
          <a:bodyPr/>
          <a:p/>
        </p:txBody>
      </p:sp>
      <p:sp>
        <p:nvSpPr>
          <p:cNvPr id="36" name="Text 34"/>
          <p:cNvSpPr/>
          <p:nvPr/>
        </p:nvSpPr>
        <p:spPr>
          <a:xfrm>
            <a:off x="6830568" y="41330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1.06B</a:t>
            </a:r>
            <a:endParaRPr lang="en-US" sz="730" dirty="0"/>
          </a:p>
        </p:txBody>
      </p:sp>
      <p:sp>
        <p:nvSpPr>
          <p:cNvPr id="37" name="Text 35"/>
          <p:cNvSpPr/>
          <p:nvPr/>
        </p:nvSpPr>
        <p:spPr>
          <a:xfrm>
            <a:off x="749808" y="44988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08</a:t>
            </a:r>
            <a:endParaRPr lang="en-US" sz="680" dirty="0"/>
          </a:p>
        </p:txBody>
      </p:sp>
      <p:sp>
        <p:nvSpPr>
          <p:cNvPr id="38" name="Text 36"/>
          <p:cNvSpPr/>
          <p:nvPr/>
        </p:nvSpPr>
        <p:spPr>
          <a:xfrm>
            <a:off x="1124712" y="44988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Giannis</a:t>
            </a:r>
            <a:endParaRPr lang="en-US" sz="820" dirty="0"/>
          </a:p>
        </p:txBody>
      </p:sp>
      <p:sp>
        <p:nvSpPr>
          <p:cNvPr id="39" name="Shape 37"/>
          <p:cNvSpPr/>
          <p:nvPr/>
        </p:nvSpPr>
        <p:spPr>
          <a:xfrm>
            <a:off x="2267712" y="4526280"/>
            <a:ext cx="1231595" cy="164592"/>
          </a:xfrm>
          <a:prstGeom prst="rect">
            <a:avLst/>
          </a:prstGeom>
          <a:solidFill>
            <a:srgbClr val="F2B84B"/>
          </a:solidFill>
          <a:ln w="12700">
            <a:solidFill>
              <a:srgbClr val="F2B84B">
                <a:alpha val="0"/>
              </a:srgbClr>
            </a:solidFill>
            <a:prstDash val="solid"/>
          </a:ln>
        </p:spPr>
        <p:txBody>
          <a:bodyPr/>
          <a:p/>
        </p:txBody>
      </p:sp>
      <p:sp>
        <p:nvSpPr>
          <p:cNvPr id="40" name="Text 38"/>
          <p:cNvSpPr/>
          <p:nvPr/>
        </p:nvSpPr>
        <p:spPr>
          <a:xfrm>
            <a:off x="6830568" y="44988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0.897B</a:t>
            </a:r>
            <a:endParaRPr lang="en-US" sz="730" dirty="0"/>
          </a:p>
        </p:txBody>
      </p:sp>
      <p:sp>
        <p:nvSpPr>
          <p:cNvPr id="41" name="Text 39"/>
          <p:cNvSpPr/>
          <p:nvPr/>
        </p:nvSpPr>
        <p:spPr>
          <a:xfrm>
            <a:off x="749808" y="48646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09</a:t>
            </a:r>
            <a:endParaRPr lang="en-US" sz="680" dirty="0"/>
          </a:p>
        </p:txBody>
      </p:sp>
      <p:sp>
        <p:nvSpPr>
          <p:cNvPr id="42" name="Text 40"/>
          <p:cNvSpPr/>
          <p:nvPr/>
        </p:nvSpPr>
        <p:spPr>
          <a:xfrm>
            <a:off x="1124712" y="48646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Edwards</a:t>
            </a:r>
            <a:endParaRPr lang="en-US" sz="820" dirty="0"/>
          </a:p>
        </p:txBody>
      </p:sp>
      <p:sp>
        <p:nvSpPr>
          <p:cNvPr id="43" name="Shape 41"/>
          <p:cNvSpPr/>
          <p:nvPr/>
        </p:nvSpPr>
        <p:spPr>
          <a:xfrm>
            <a:off x="2267712" y="4892040"/>
            <a:ext cx="1098412" cy="164592"/>
          </a:xfrm>
          <a:prstGeom prst="rect">
            <a:avLst/>
          </a:prstGeom>
          <a:solidFill>
            <a:srgbClr val="8FC8FF"/>
          </a:solidFill>
          <a:ln w="12700">
            <a:solidFill>
              <a:srgbClr val="8FC8FF">
                <a:alpha val="0"/>
              </a:srgbClr>
            </a:solidFill>
            <a:prstDash val="solid"/>
          </a:ln>
        </p:spPr>
        <p:txBody>
          <a:bodyPr/>
          <a:p/>
        </p:txBody>
      </p:sp>
      <p:sp>
        <p:nvSpPr>
          <p:cNvPr id="44" name="Text 42"/>
          <p:cNvSpPr/>
          <p:nvPr/>
        </p:nvSpPr>
        <p:spPr>
          <a:xfrm>
            <a:off x="6830568" y="48646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0.800B</a:t>
            </a:r>
            <a:endParaRPr lang="en-US" sz="730" dirty="0"/>
          </a:p>
        </p:txBody>
      </p:sp>
      <p:sp>
        <p:nvSpPr>
          <p:cNvPr id="45" name="Text 43"/>
          <p:cNvSpPr/>
          <p:nvPr/>
        </p:nvSpPr>
        <p:spPr>
          <a:xfrm>
            <a:off x="749808" y="52303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10</a:t>
            </a:r>
            <a:endParaRPr lang="en-US" sz="680" dirty="0"/>
          </a:p>
        </p:txBody>
      </p:sp>
      <p:sp>
        <p:nvSpPr>
          <p:cNvPr id="46" name="Text 44"/>
          <p:cNvSpPr/>
          <p:nvPr/>
        </p:nvSpPr>
        <p:spPr>
          <a:xfrm>
            <a:off x="1124712" y="52303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Tatum</a:t>
            </a:r>
            <a:endParaRPr lang="en-US" sz="820" dirty="0"/>
          </a:p>
        </p:txBody>
      </p:sp>
      <p:sp>
        <p:nvSpPr>
          <p:cNvPr id="47" name="Shape 45"/>
          <p:cNvSpPr/>
          <p:nvPr/>
        </p:nvSpPr>
        <p:spPr>
          <a:xfrm>
            <a:off x="2267712" y="5257800"/>
            <a:ext cx="1051730" cy="164592"/>
          </a:xfrm>
          <a:prstGeom prst="rect">
            <a:avLst/>
          </a:prstGeom>
          <a:solidFill>
            <a:srgbClr val="C4B5FD"/>
          </a:solidFill>
          <a:ln w="12700">
            <a:solidFill>
              <a:srgbClr val="C4B5FD">
                <a:alpha val="0"/>
              </a:srgbClr>
            </a:solidFill>
            <a:prstDash val="solid"/>
          </a:ln>
        </p:spPr>
        <p:txBody>
          <a:bodyPr/>
          <a:p/>
        </p:txBody>
      </p:sp>
      <p:sp>
        <p:nvSpPr>
          <p:cNvPr id="48" name="Text 46"/>
          <p:cNvSpPr/>
          <p:nvPr/>
        </p:nvSpPr>
        <p:spPr>
          <a:xfrm>
            <a:off x="6830568" y="52303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0.766B</a:t>
            </a:r>
            <a:endParaRPr lang="en-US" sz="730" dirty="0"/>
          </a:p>
        </p:txBody>
      </p:sp>
      <p:sp>
        <p:nvSpPr>
          <p:cNvPr id="49" name="Shape 47"/>
          <p:cNvSpPr/>
          <p:nvPr/>
        </p:nvSpPr>
        <p:spPr>
          <a:xfrm>
            <a:off x="7818120" y="1901952"/>
            <a:ext cx="3520440" cy="3794760"/>
          </a:xfrm>
          <a:prstGeom prst="roundRect">
            <a:avLst>
              <a:gd name="adj" fmla="val 2078"/>
            </a:avLst>
          </a:prstGeom>
          <a:solidFill>
            <a:srgbClr val="081D31"/>
          </a:solidFill>
          <a:ln w="11430">
            <a:solidFill>
              <a:srgbClr val="193B57"/>
            </a:solidFill>
            <a:prstDash val="solid"/>
          </a:ln>
        </p:spPr>
        <p:txBody>
          <a:bodyPr/>
          <a:p/>
        </p:txBody>
      </p:sp>
      <p:sp>
        <p:nvSpPr>
          <p:cNvPr id="50" name="Text 48"/>
          <p:cNvSpPr/>
          <p:nvPr/>
        </p:nvSpPr>
        <p:spPr>
          <a:xfrm>
            <a:off x="8119872" y="2194560"/>
            <a:ext cx="242316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WHAT THIS DOES FOR US</a:t>
            </a:r>
            <a:endParaRPr lang="en-US" sz="800" dirty="0"/>
          </a:p>
        </p:txBody>
      </p:sp>
      <p:sp>
        <p:nvSpPr>
          <p:cNvPr id="51" name="Text 49"/>
          <p:cNvSpPr/>
          <p:nvPr/>
        </p:nvSpPr>
        <p:spPr>
          <a:xfrm>
            <a:off x="8119872" y="2788920"/>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40D9FF"/>
                </a:solidFill>
              </a:rPr>
              <a:t>1</a:t>
            </a:r>
            <a:endParaRPr lang="en-US" sz="1700" dirty="0"/>
          </a:p>
        </p:txBody>
      </p:sp>
      <p:sp>
        <p:nvSpPr>
          <p:cNvPr id="52" name="Text 50"/>
          <p:cNvSpPr/>
          <p:nvPr/>
        </p:nvSpPr>
        <p:spPr>
          <a:xfrm>
            <a:off x="8641080" y="2788920"/>
            <a:ext cx="2240280" cy="310896"/>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External validation target</a:t>
            </a:r>
            <a:endParaRPr lang="en-US" sz="1100" dirty="0"/>
          </a:p>
        </p:txBody>
      </p:sp>
      <p:sp>
        <p:nvSpPr>
          <p:cNvPr id="53" name="Text 51"/>
          <p:cNvSpPr/>
          <p:nvPr/>
        </p:nvSpPr>
        <p:spPr>
          <a:xfrm>
            <a:off x="8119872" y="3502152"/>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35D0BA"/>
                </a:solidFill>
              </a:rPr>
              <a:t>2</a:t>
            </a:r>
            <a:endParaRPr lang="en-US" sz="1700" dirty="0"/>
          </a:p>
        </p:txBody>
      </p:sp>
      <p:sp>
        <p:nvSpPr>
          <p:cNvPr id="54" name="Text 52"/>
          <p:cNvSpPr/>
          <p:nvPr/>
        </p:nvSpPr>
        <p:spPr>
          <a:xfrm>
            <a:off x="8641080" y="3474720"/>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Reality check on follower-only models</a:t>
            </a:r>
            <a:endParaRPr lang="en-US" sz="1100" dirty="0"/>
          </a:p>
        </p:txBody>
      </p:sp>
      <p:sp>
        <p:nvSpPr>
          <p:cNvPr id="55" name="Text 53"/>
          <p:cNvSpPr/>
          <p:nvPr/>
        </p:nvSpPr>
        <p:spPr>
          <a:xfrm>
            <a:off x="8119872" y="4315968"/>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F4C95D"/>
                </a:solidFill>
              </a:rPr>
              <a:t>3</a:t>
            </a:r>
            <a:endParaRPr lang="en-US" sz="1700" dirty="0"/>
          </a:p>
        </p:txBody>
      </p:sp>
      <p:sp>
        <p:nvSpPr>
          <p:cNvPr id="56" name="Text 54"/>
          <p:cNvSpPr/>
          <p:nvPr/>
        </p:nvSpPr>
        <p:spPr>
          <a:xfrm>
            <a:off x="8641080" y="4288536"/>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A way to study attention growth over time</a:t>
            </a:r>
            <a:endParaRPr lang="en-US" sz="1100" dirty="0"/>
          </a:p>
        </p:txBody>
      </p:sp>
      <p:sp>
        <p:nvSpPr>
          <p:cNvPr id="57" name="Shape 55"/>
          <p:cNvSpPr/>
          <p:nvPr/>
        </p:nvSpPr>
        <p:spPr>
          <a:xfrm>
            <a:off x="8119872" y="5120640"/>
            <a:ext cx="2176272"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58" name="Text 56"/>
          <p:cNvSpPr/>
          <p:nvPr/>
        </p:nvSpPr>
        <p:spPr>
          <a:xfrm>
            <a:off x="8174736" y="5157216"/>
            <a:ext cx="20665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REAL OUTCOME, NOT OUR SCORE</a:t>
            </a:r>
            <a:endParaRPr lang="en-US" sz="7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VALIDATION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We do not validate the score with the score.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Merchandise sales are an independent commercial behavior—perfect for an outside check.</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07</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official top-selling jersey releases, 2025–26 regular season</a:t>
            </a:r>
            <a:endParaRPr lang="en-US" sz="520" dirty="0"/>
          </a:p>
        </p:txBody>
      </p:sp>
      <p:sp>
        <p:nvSpPr>
          <p:cNvPr id="9" name="Shape 7"/>
          <p:cNvSpPr/>
          <p:nvPr/>
        </p:nvSpPr>
        <p:spPr>
          <a:xfrm>
            <a:off x="713232" y="1874520"/>
            <a:ext cx="5102352" cy="3822192"/>
          </a:xfrm>
          <a:prstGeom prst="roundRect">
            <a:avLst>
              <a:gd name="adj" fmla="val 1914"/>
            </a:avLst>
          </a:prstGeom>
          <a:solidFill>
            <a:srgbClr val="081D31"/>
          </a:solidFill>
          <a:ln w="11430">
            <a:solidFill>
              <a:srgbClr val="193B57"/>
            </a:solidFill>
            <a:prstDash val="solid"/>
          </a:ln>
        </p:spPr>
        <p:txBody>
          <a:bodyPr/>
          <a:p/>
        </p:txBody>
      </p:sp>
      <p:sp>
        <p:nvSpPr>
          <p:cNvPr id="10" name="Text 8"/>
          <p:cNvSpPr/>
          <p:nvPr/>
        </p:nvSpPr>
        <p:spPr>
          <a:xfrm>
            <a:off x="987552" y="2194560"/>
            <a:ext cx="274320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2025–26 TOP-SELLING JERSEYS</a:t>
            </a:r>
            <a:endParaRPr lang="en-US" sz="800" dirty="0"/>
          </a:p>
        </p:txBody>
      </p:sp>
      <p:sp>
        <p:nvSpPr>
          <p:cNvPr id="11" name="Text 9"/>
          <p:cNvSpPr/>
          <p:nvPr/>
        </p:nvSpPr>
        <p:spPr>
          <a:xfrm>
            <a:off x="98755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1</a:t>
            </a:r>
            <a:endParaRPr lang="en-US" sz="800" dirty="0"/>
          </a:p>
        </p:txBody>
      </p:sp>
      <p:sp>
        <p:nvSpPr>
          <p:cNvPr id="12" name="Text 10"/>
          <p:cNvSpPr/>
          <p:nvPr/>
        </p:nvSpPr>
        <p:spPr>
          <a:xfrm>
            <a:off x="129844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Stephen Curry</a:t>
            </a:r>
            <a:endParaRPr lang="en-US" sz="870" dirty="0"/>
          </a:p>
        </p:txBody>
      </p:sp>
      <p:sp>
        <p:nvSpPr>
          <p:cNvPr id="13" name="Text 11"/>
          <p:cNvSpPr/>
          <p:nvPr/>
        </p:nvSpPr>
        <p:spPr>
          <a:xfrm>
            <a:off x="98755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2</a:t>
            </a:r>
            <a:endParaRPr lang="en-US" sz="800" dirty="0"/>
          </a:p>
        </p:txBody>
      </p:sp>
      <p:sp>
        <p:nvSpPr>
          <p:cNvPr id="14" name="Text 12"/>
          <p:cNvSpPr/>
          <p:nvPr/>
        </p:nvSpPr>
        <p:spPr>
          <a:xfrm>
            <a:off x="129844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Luka Dončić</a:t>
            </a:r>
            <a:endParaRPr lang="en-US" sz="870" dirty="0"/>
          </a:p>
        </p:txBody>
      </p:sp>
      <p:sp>
        <p:nvSpPr>
          <p:cNvPr id="15" name="Text 13"/>
          <p:cNvSpPr/>
          <p:nvPr/>
        </p:nvSpPr>
        <p:spPr>
          <a:xfrm>
            <a:off x="98755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3</a:t>
            </a:r>
            <a:endParaRPr lang="en-US" sz="800" dirty="0"/>
          </a:p>
        </p:txBody>
      </p:sp>
      <p:sp>
        <p:nvSpPr>
          <p:cNvPr id="16" name="Text 14"/>
          <p:cNvSpPr/>
          <p:nvPr/>
        </p:nvSpPr>
        <p:spPr>
          <a:xfrm>
            <a:off x="129844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Jalen Brunson</a:t>
            </a:r>
            <a:endParaRPr lang="en-US" sz="870" dirty="0"/>
          </a:p>
        </p:txBody>
      </p:sp>
      <p:sp>
        <p:nvSpPr>
          <p:cNvPr id="17" name="Text 15"/>
          <p:cNvSpPr/>
          <p:nvPr/>
        </p:nvSpPr>
        <p:spPr>
          <a:xfrm>
            <a:off x="98755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4</a:t>
            </a:r>
            <a:endParaRPr lang="en-US" sz="800" dirty="0"/>
          </a:p>
        </p:txBody>
      </p:sp>
      <p:sp>
        <p:nvSpPr>
          <p:cNvPr id="18" name="Text 16"/>
          <p:cNvSpPr/>
          <p:nvPr/>
        </p:nvSpPr>
        <p:spPr>
          <a:xfrm>
            <a:off x="129844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Victor Wembanyama</a:t>
            </a:r>
            <a:endParaRPr lang="en-US" sz="870" dirty="0"/>
          </a:p>
        </p:txBody>
      </p:sp>
      <p:sp>
        <p:nvSpPr>
          <p:cNvPr id="19" name="Text 17"/>
          <p:cNvSpPr/>
          <p:nvPr/>
        </p:nvSpPr>
        <p:spPr>
          <a:xfrm>
            <a:off x="987552" y="470001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5</a:t>
            </a:r>
            <a:endParaRPr lang="en-US" sz="800" dirty="0"/>
          </a:p>
        </p:txBody>
      </p:sp>
      <p:sp>
        <p:nvSpPr>
          <p:cNvPr id="20" name="Text 18"/>
          <p:cNvSpPr/>
          <p:nvPr/>
        </p:nvSpPr>
        <p:spPr>
          <a:xfrm>
            <a:off x="1298448" y="470001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LeBron James</a:t>
            </a:r>
            <a:endParaRPr lang="en-US" sz="870" dirty="0"/>
          </a:p>
        </p:txBody>
      </p:sp>
      <p:sp>
        <p:nvSpPr>
          <p:cNvPr id="21" name="Text 19"/>
          <p:cNvSpPr/>
          <p:nvPr/>
        </p:nvSpPr>
        <p:spPr>
          <a:xfrm>
            <a:off x="322783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6</a:t>
            </a:r>
            <a:endParaRPr lang="en-US" sz="800" dirty="0"/>
          </a:p>
        </p:txBody>
      </p:sp>
      <p:sp>
        <p:nvSpPr>
          <p:cNvPr id="22" name="Text 20"/>
          <p:cNvSpPr/>
          <p:nvPr/>
        </p:nvSpPr>
        <p:spPr>
          <a:xfrm>
            <a:off x="353872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Anthony Edwards</a:t>
            </a:r>
            <a:endParaRPr lang="en-US" sz="870" dirty="0"/>
          </a:p>
        </p:txBody>
      </p:sp>
      <p:sp>
        <p:nvSpPr>
          <p:cNvPr id="23" name="Text 21"/>
          <p:cNvSpPr/>
          <p:nvPr/>
        </p:nvSpPr>
        <p:spPr>
          <a:xfrm>
            <a:off x="322783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7</a:t>
            </a:r>
            <a:endParaRPr lang="en-US" sz="800" dirty="0"/>
          </a:p>
        </p:txBody>
      </p:sp>
      <p:sp>
        <p:nvSpPr>
          <p:cNvPr id="24" name="Text 22"/>
          <p:cNvSpPr/>
          <p:nvPr/>
        </p:nvSpPr>
        <p:spPr>
          <a:xfrm>
            <a:off x="353872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Jayson Tatum</a:t>
            </a:r>
            <a:endParaRPr lang="en-US" sz="870" dirty="0"/>
          </a:p>
        </p:txBody>
      </p:sp>
      <p:sp>
        <p:nvSpPr>
          <p:cNvPr id="25" name="Text 23"/>
          <p:cNvSpPr/>
          <p:nvPr/>
        </p:nvSpPr>
        <p:spPr>
          <a:xfrm>
            <a:off x="322783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8</a:t>
            </a:r>
            <a:endParaRPr lang="en-US" sz="800" dirty="0"/>
          </a:p>
        </p:txBody>
      </p:sp>
      <p:sp>
        <p:nvSpPr>
          <p:cNvPr id="26" name="Text 24"/>
          <p:cNvSpPr/>
          <p:nvPr/>
        </p:nvSpPr>
        <p:spPr>
          <a:xfrm>
            <a:off x="353872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Shai Gilgeous-Alexander</a:t>
            </a:r>
            <a:endParaRPr lang="en-US" sz="870" dirty="0"/>
          </a:p>
        </p:txBody>
      </p:sp>
      <p:sp>
        <p:nvSpPr>
          <p:cNvPr id="27" name="Text 25"/>
          <p:cNvSpPr/>
          <p:nvPr/>
        </p:nvSpPr>
        <p:spPr>
          <a:xfrm>
            <a:off x="322783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9</a:t>
            </a:r>
            <a:endParaRPr lang="en-US" sz="800" dirty="0"/>
          </a:p>
        </p:txBody>
      </p:sp>
      <p:sp>
        <p:nvSpPr>
          <p:cNvPr id="28" name="Text 26"/>
          <p:cNvSpPr/>
          <p:nvPr/>
        </p:nvSpPr>
        <p:spPr>
          <a:xfrm>
            <a:off x="353872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Cooper Flagg</a:t>
            </a:r>
            <a:endParaRPr lang="en-US" sz="870" dirty="0"/>
          </a:p>
        </p:txBody>
      </p:sp>
      <p:sp>
        <p:nvSpPr>
          <p:cNvPr id="29" name="Shape 27"/>
          <p:cNvSpPr/>
          <p:nvPr/>
        </p:nvSpPr>
        <p:spPr>
          <a:xfrm>
            <a:off x="6172200" y="1874520"/>
            <a:ext cx="5166360" cy="3822192"/>
          </a:xfrm>
          <a:prstGeom prst="roundRect">
            <a:avLst>
              <a:gd name="adj" fmla="val 1914"/>
            </a:avLst>
          </a:prstGeom>
          <a:solidFill>
            <a:srgbClr val="0B2741"/>
          </a:solidFill>
          <a:ln w="11430">
            <a:solidFill>
              <a:srgbClr val="193B57"/>
            </a:solidFill>
            <a:prstDash val="solid"/>
          </a:ln>
        </p:spPr>
        <p:txBody>
          <a:bodyPr/>
          <a:p/>
        </p:txBody>
      </p:sp>
      <p:sp>
        <p:nvSpPr>
          <p:cNvPr id="30" name="Text 28"/>
          <p:cNvSpPr/>
          <p:nvPr/>
        </p:nvSpPr>
        <p:spPr>
          <a:xfrm>
            <a:off x="6492240" y="2194560"/>
            <a:ext cx="219456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VALIDATION PLAN</a:t>
            </a:r>
            <a:endParaRPr lang="en-US" sz="800" dirty="0"/>
          </a:p>
        </p:txBody>
      </p:sp>
      <p:sp>
        <p:nvSpPr>
          <p:cNvPr id="31" name="Text 29"/>
          <p:cNvSpPr/>
          <p:nvPr/>
        </p:nvSpPr>
        <p:spPr>
          <a:xfrm>
            <a:off x="6492240" y="2697480"/>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01</a:t>
            </a:r>
            <a:endParaRPr lang="en-US" sz="800" dirty="0"/>
          </a:p>
        </p:txBody>
      </p:sp>
      <p:sp>
        <p:nvSpPr>
          <p:cNvPr id="32" name="Text 30"/>
          <p:cNvSpPr/>
          <p:nvPr/>
        </p:nvSpPr>
        <p:spPr>
          <a:xfrm>
            <a:off x="7059168" y="2697480"/>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Build score without jersey sales</a:t>
            </a:r>
            <a:endParaRPr lang="en-US" sz="1050" dirty="0"/>
          </a:p>
        </p:txBody>
      </p:sp>
      <p:sp>
        <p:nvSpPr>
          <p:cNvPr id="33" name="Text 31"/>
          <p:cNvSpPr/>
          <p:nvPr/>
        </p:nvSpPr>
        <p:spPr>
          <a:xfrm>
            <a:off x="6492240" y="3227832"/>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02</a:t>
            </a:r>
            <a:endParaRPr lang="en-US" sz="800" dirty="0"/>
          </a:p>
        </p:txBody>
      </p:sp>
      <p:sp>
        <p:nvSpPr>
          <p:cNvPr id="34" name="Text 32"/>
          <p:cNvSpPr/>
          <p:nvPr/>
        </p:nvSpPr>
        <p:spPr>
          <a:xfrm>
            <a:off x="7059168" y="3227832"/>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Predict commercial rank / tier</a:t>
            </a:r>
            <a:endParaRPr lang="en-US" sz="1050" dirty="0"/>
          </a:p>
        </p:txBody>
      </p:sp>
      <p:sp>
        <p:nvSpPr>
          <p:cNvPr id="35" name="Text 33"/>
          <p:cNvSpPr/>
          <p:nvPr/>
        </p:nvSpPr>
        <p:spPr>
          <a:xfrm>
            <a:off x="6492240" y="3758184"/>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03</a:t>
            </a:r>
            <a:endParaRPr lang="en-US" sz="800" dirty="0"/>
          </a:p>
        </p:txBody>
      </p:sp>
      <p:sp>
        <p:nvSpPr>
          <p:cNvPr id="36" name="Text 34"/>
          <p:cNvSpPr/>
          <p:nvPr/>
        </p:nvSpPr>
        <p:spPr>
          <a:xfrm>
            <a:off x="7059168" y="3758184"/>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Compare with observed sales rank</a:t>
            </a:r>
            <a:endParaRPr lang="en-US" sz="1050" dirty="0"/>
          </a:p>
        </p:txBody>
      </p:sp>
      <p:sp>
        <p:nvSpPr>
          <p:cNvPr id="37" name="Text 35"/>
          <p:cNvSpPr/>
          <p:nvPr/>
        </p:nvSpPr>
        <p:spPr>
          <a:xfrm>
            <a:off x="6492240" y="4288536"/>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04</a:t>
            </a:r>
            <a:endParaRPr lang="en-US" sz="800" dirty="0"/>
          </a:p>
        </p:txBody>
      </p:sp>
      <p:sp>
        <p:nvSpPr>
          <p:cNvPr id="38" name="Text 36"/>
          <p:cNvSpPr/>
          <p:nvPr/>
        </p:nvSpPr>
        <p:spPr>
          <a:xfrm>
            <a:off x="7059168" y="4288536"/>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Inspect the biggest misses</a:t>
            </a:r>
            <a:endParaRPr lang="en-US" sz="1050" dirty="0"/>
          </a:p>
        </p:txBody>
      </p:sp>
      <p:sp>
        <p:nvSpPr>
          <p:cNvPr id="39" name="Text 37"/>
          <p:cNvSpPr/>
          <p:nvPr/>
        </p:nvSpPr>
        <p:spPr>
          <a:xfrm>
            <a:off x="6492240" y="4818888"/>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05</a:t>
            </a:r>
            <a:endParaRPr lang="en-US" sz="800" dirty="0"/>
          </a:p>
        </p:txBody>
      </p:sp>
      <p:sp>
        <p:nvSpPr>
          <p:cNvPr id="40" name="Text 38"/>
          <p:cNvSpPr/>
          <p:nvPr/>
        </p:nvSpPr>
        <p:spPr>
          <a:xfrm>
            <a:off x="7059168" y="4818888"/>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Tune only on training periods</a:t>
            </a:r>
            <a:endParaRPr lang="en-US" sz="1050" dirty="0"/>
          </a:p>
        </p:txBody>
      </p:sp>
      <p:sp>
        <p:nvSpPr>
          <p:cNvPr id="41" name="Shape 39"/>
          <p:cNvSpPr/>
          <p:nvPr/>
        </p:nvSpPr>
        <p:spPr>
          <a:xfrm>
            <a:off x="6492240" y="5285232"/>
            <a:ext cx="2487168"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42" name="Text 40"/>
          <p:cNvSpPr/>
          <p:nvPr/>
        </p:nvSpPr>
        <p:spPr>
          <a:xfrm>
            <a:off x="6547104" y="5321808"/>
            <a:ext cx="237744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SPEARMAN ρ  +  TOP-K HIT RATE</a:t>
            </a:r>
            <a:endParaRPr lang="en-US" sz="7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11F"/>
        </a:solidFill>
      </p:bgPr>
    </p:bg>
    <p:spTree>
      <p:nvGrpSpPr>
        <p:cNvPr id="1" name=""/>
        <p:cNvGrpSpPr/>
        <p:nvPr/>
      </p:nvGrpSpPr>
      <p:grpSpPr>
        <a:xfrm>
          <a:off x="0" y="0"/>
          <a:ext cx="0" cy="0"/>
          <a:chOff x="0" y="0"/>
          <a:chExt cx="0" cy="0"/>
        </a:xfrm>
      </p:grpSpPr>
      <p:sp>
        <p:nvSpPr>
          <p:cNvPr id="2" name="Rectangle 1"/>
          <p:cNvSpPr/>
          <p:nvPr/>
        </p:nvSpPr>
        <p:spPr>
          <a:xfrm>
            <a:off x="0" y="0"/>
            <a:ext cx="12191695" cy="50292"/>
          </a:xfrm>
          <a:prstGeom prst="rect">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320040"/>
            <a:ext cx="2926080" cy="201168"/>
          </a:xfrm>
          <a:prstGeom prst="rect">
            <a:avLst/>
          </a:prstGeom>
          <a:noFill/>
        </p:spPr>
        <p:txBody>
          <a:bodyPr wrap="none" lIns="0" rIns="0" tIns="0" bIns="0" anchor="ctr">
            <a:spAutoFit/>
          </a:bodyPr>
          <a:lstStyle/>
          <a:p>
            <a:pPr algn="l"/>
            <a:r>
              <a:rPr sz="850" b="1">
                <a:solidFill>
                  <a:srgbClr val="00A3FF"/>
                </a:solidFill>
                <a:latin typeface="Aptos"/>
              </a:rPr>
              <a:t>ROBUSTNESS</a:t>
            </a:r>
          </a:p>
        </p:txBody>
      </p:sp>
      <p:sp>
        <p:nvSpPr>
          <p:cNvPr id="4" name="TextBox 3"/>
          <p:cNvSpPr txBox="1"/>
          <p:nvPr/>
        </p:nvSpPr>
        <p:spPr>
          <a:xfrm>
            <a:off x="621792" y="612648"/>
            <a:ext cx="10789920" cy="566928"/>
          </a:xfrm>
          <a:prstGeom prst="rect">
            <a:avLst/>
          </a:prstGeom>
          <a:noFill/>
        </p:spPr>
        <p:txBody>
          <a:bodyPr wrap="none" lIns="0" rIns="0" tIns="0" bIns="0" anchor="ctr">
            <a:spAutoFit/>
          </a:bodyPr>
          <a:lstStyle/>
          <a:p>
            <a:pPr algn="l"/>
            <a:r>
              <a:rPr sz="2450" b="1">
                <a:solidFill>
                  <a:srgbClr val="F7FAFC"/>
                </a:solidFill>
                <a:latin typeface="Aptos Display"/>
              </a:rPr>
              <a:t>A good recommendation should survive a reasonable argument about weights.</a:t>
            </a:r>
          </a:p>
        </p:txBody>
      </p:sp>
      <p:sp>
        <p:nvSpPr>
          <p:cNvPr id="5" name="TextBox 4"/>
          <p:cNvSpPr txBox="1"/>
          <p:nvPr/>
        </p:nvSpPr>
        <p:spPr>
          <a:xfrm>
            <a:off x="630936" y="1225296"/>
            <a:ext cx="10698480" cy="411480"/>
          </a:xfrm>
          <a:prstGeom prst="rect">
            <a:avLst/>
          </a:prstGeom>
          <a:noFill/>
        </p:spPr>
        <p:txBody>
          <a:bodyPr wrap="none" lIns="0" rIns="0" tIns="0" bIns="0" anchor="ctr">
            <a:spAutoFit/>
          </a:bodyPr>
          <a:lstStyle/>
          <a:p>
            <a:pPr algn="l"/>
            <a:r>
              <a:rPr sz="1250" b="0">
                <a:solidFill>
                  <a:srgbClr val="A9BAC9"/>
                </a:solidFill>
                <a:latin typeface="Aptos"/>
              </a:rPr>
              <a:t>We predefine the robustness test before we look at the winner.</a:t>
            </a:r>
          </a:p>
        </p:txBody>
      </p:sp>
      <p:sp>
        <p:nvSpPr>
          <p:cNvPr id="6" name="Rounded Rectangle 5"/>
          <p:cNvSpPr/>
          <p:nvPr/>
        </p:nvSpPr>
        <p:spPr>
          <a:xfrm>
            <a:off x="713232" y="1874519"/>
            <a:ext cx="6995160" cy="3858768"/>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157984"/>
            <a:ext cx="2103120" cy="246888"/>
          </a:xfrm>
          <a:prstGeom prst="rect">
            <a:avLst/>
          </a:prstGeom>
          <a:noFill/>
        </p:spPr>
        <p:txBody>
          <a:bodyPr wrap="none" lIns="0" rIns="0" tIns="0" bIns="0" anchor="ctr">
            <a:spAutoFit/>
          </a:bodyPr>
          <a:lstStyle/>
          <a:p>
            <a:pPr algn="l"/>
            <a:r>
              <a:rPr sz="800" b="1">
                <a:solidFill>
                  <a:srgbClr val="00A3FF"/>
                </a:solidFill>
                <a:latin typeface="Aptos"/>
              </a:rPr>
              <a:t>SENSITIVITY TEST</a:t>
            </a:r>
          </a:p>
        </p:txBody>
      </p:sp>
      <p:sp>
        <p:nvSpPr>
          <p:cNvPr id="8" name="TextBox 7"/>
          <p:cNvSpPr txBox="1"/>
          <p:nvPr/>
        </p:nvSpPr>
        <p:spPr>
          <a:xfrm>
            <a:off x="987552" y="2697480"/>
            <a:ext cx="411480" cy="310896"/>
          </a:xfrm>
          <a:prstGeom prst="rect">
            <a:avLst/>
          </a:prstGeom>
          <a:noFill/>
        </p:spPr>
        <p:txBody>
          <a:bodyPr wrap="none" lIns="0" rIns="0" tIns="0" bIns="0" anchor="ctr">
            <a:spAutoFit/>
          </a:bodyPr>
          <a:lstStyle/>
          <a:p>
            <a:pPr algn="l"/>
            <a:r>
              <a:rPr sz="1600" b="1">
                <a:solidFill>
                  <a:srgbClr val="00A3FF"/>
                </a:solidFill>
                <a:latin typeface="Aptos"/>
              </a:rPr>
              <a:t>01</a:t>
            </a:r>
          </a:p>
        </p:txBody>
      </p:sp>
      <p:sp>
        <p:nvSpPr>
          <p:cNvPr id="9" name="TextBox 8"/>
          <p:cNvSpPr txBox="1"/>
          <p:nvPr/>
        </p:nvSpPr>
        <p:spPr>
          <a:xfrm>
            <a:off x="1572768" y="2697480"/>
            <a:ext cx="1325880" cy="274320"/>
          </a:xfrm>
          <a:prstGeom prst="rect">
            <a:avLst/>
          </a:prstGeom>
          <a:noFill/>
        </p:spPr>
        <p:txBody>
          <a:bodyPr wrap="none" lIns="0" rIns="0" tIns="0" bIns="0" anchor="ctr">
            <a:spAutoFit/>
          </a:bodyPr>
          <a:lstStyle/>
          <a:p>
            <a:pPr algn="l"/>
            <a:r>
              <a:rPr sz="850" b="1">
                <a:solidFill>
                  <a:srgbClr val="00A3FF"/>
                </a:solidFill>
                <a:latin typeface="Aptos"/>
              </a:rPr>
              <a:t>PERTURB</a:t>
            </a:r>
          </a:p>
        </p:txBody>
      </p:sp>
      <p:sp>
        <p:nvSpPr>
          <p:cNvPr id="10" name="TextBox 9"/>
          <p:cNvSpPr txBox="1"/>
          <p:nvPr/>
        </p:nvSpPr>
        <p:spPr>
          <a:xfrm>
            <a:off x="2889504" y="2679192"/>
            <a:ext cx="4261104" cy="420624"/>
          </a:xfrm>
          <a:prstGeom prst="rect">
            <a:avLst/>
          </a:prstGeom>
          <a:noFill/>
        </p:spPr>
        <p:txBody>
          <a:bodyPr wrap="none" lIns="0" rIns="0" tIns="0" bIns="0" anchor="ctr">
            <a:spAutoFit/>
          </a:bodyPr>
          <a:lstStyle/>
          <a:p>
            <a:pPr algn="l"/>
            <a:r>
              <a:rPr sz="1050" b="1">
                <a:solidFill>
                  <a:srgbClr val="F7FAFC"/>
                </a:solidFill>
                <a:latin typeface="Aptos"/>
              </a:rPr>
              <a:t>Move each pillar weight up or down by as much as 10 points.</a:t>
            </a:r>
          </a:p>
        </p:txBody>
      </p:sp>
      <p:sp>
        <p:nvSpPr>
          <p:cNvPr id="11" name="Rectangle 10"/>
          <p:cNvSpPr/>
          <p:nvPr/>
        </p:nvSpPr>
        <p:spPr>
          <a:xfrm>
            <a:off x="1060704" y="3172968"/>
            <a:ext cx="8890" cy="301752"/>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3566160"/>
            <a:ext cx="411480" cy="310896"/>
          </a:xfrm>
          <a:prstGeom prst="rect">
            <a:avLst/>
          </a:prstGeom>
          <a:noFill/>
        </p:spPr>
        <p:txBody>
          <a:bodyPr wrap="none" lIns="0" rIns="0" tIns="0" bIns="0" anchor="ctr">
            <a:spAutoFit/>
          </a:bodyPr>
          <a:lstStyle/>
          <a:p>
            <a:pPr algn="l"/>
            <a:r>
              <a:rPr sz="1600" b="1">
                <a:solidFill>
                  <a:srgbClr val="35D0BA"/>
                </a:solidFill>
                <a:latin typeface="Aptos"/>
              </a:rPr>
              <a:t>02</a:t>
            </a:r>
          </a:p>
        </p:txBody>
      </p:sp>
      <p:sp>
        <p:nvSpPr>
          <p:cNvPr id="13" name="TextBox 12"/>
          <p:cNvSpPr txBox="1"/>
          <p:nvPr/>
        </p:nvSpPr>
        <p:spPr>
          <a:xfrm>
            <a:off x="1572768" y="3566160"/>
            <a:ext cx="1325880" cy="274320"/>
          </a:xfrm>
          <a:prstGeom prst="rect">
            <a:avLst/>
          </a:prstGeom>
          <a:noFill/>
        </p:spPr>
        <p:txBody>
          <a:bodyPr wrap="none" lIns="0" rIns="0" tIns="0" bIns="0" anchor="ctr">
            <a:spAutoFit/>
          </a:bodyPr>
          <a:lstStyle/>
          <a:p>
            <a:pPr algn="l"/>
            <a:r>
              <a:rPr sz="850" b="1">
                <a:solidFill>
                  <a:srgbClr val="35D0BA"/>
                </a:solidFill>
                <a:latin typeface="Aptos"/>
              </a:rPr>
              <a:t>RENORMALIZE</a:t>
            </a:r>
          </a:p>
        </p:txBody>
      </p:sp>
      <p:sp>
        <p:nvSpPr>
          <p:cNvPr id="14" name="TextBox 13"/>
          <p:cNvSpPr txBox="1"/>
          <p:nvPr/>
        </p:nvSpPr>
        <p:spPr>
          <a:xfrm>
            <a:off x="2889504" y="3547872"/>
            <a:ext cx="4261104" cy="420624"/>
          </a:xfrm>
          <a:prstGeom prst="rect">
            <a:avLst/>
          </a:prstGeom>
          <a:noFill/>
        </p:spPr>
        <p:txBody>
          <a:bodyPr wrap="none" lIns="0" rIns="0" tIns="0" bIns="0" anchor="ctr">
            <a:spAutoFit/>
          </a:bodyPr>
          <a:lstStyle/>
          <a:p>
            <a:pPr algn="l"/>
            <a:r>
              <a:rPr sz="1050" b="1">
                <a:solidFill>
                  <a:srgbClr val="F7FAFC"/>
                </a:solidFill>
                <a:latin typeface="Aptos"/>
              </a:rPr>
              <a:t>Scale the new weights back to 100% so scenarios stay comparable.</a:t>
            </a:r>
          </a:p>
        </p:txBody>
      </p:sp>
      <p:sp>
        <p:nvSpPr>
          <p:cNvPr id="15" name="Rectangle 14"/>
          <p:cNvSpPr/>
          <p:nvPr/>
        </p:nvSpPr>
        <p:spPr>
          <a:xfrm>
            <a:off x="1060704" y="4041648"/>
            <a:ext cx="8890" cy="301752"/>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4434840"/>
            <a:ext cx="411480" cy="310896"/>
          </a:xfrm>
          <a:prstGeom prst="rect">
            <a:avLst/>
          </a:prstGeom>
          <a:noFill/>
        </p:spPr>
        <p:txBody>
          <a:bodyPr wrap="none" lIns="0" rIns="0" tIns="0" bIns="0" anchor="ctr">
            <a:spAutoFit/>
          </a:bodyPr>
          <a:lstStyle/>
          <a:p>
            <a:pPr algn="l"/>
            <a:r>
              <a:rPr sz="1600" b="1">
                <a:solidFill>
                  <a:srgbClr val="F4C95D"/>
                </a:solidFill>
                <a:latin typeface="Aptos"/>
              </a:rPr>
              <a:t>03</a:t>
            </a:r>
          </a:p>
        </p:txBody>
      </p:sp>
      <p:sp>
        <p:nvSpPr>
          <p:cNvPr id="17" name="TextBox 16"/>
          <p:cNvSpPr txBox="1"/>
          <p:nvPr/>
        </p:nvSpPr>
        <p:spPr>
          <a:xfrm>
            <a:off x="1572768" y="4434840"/>
            <a:ext cx="1325880" cy="274320"/>
          </a:xfrm>
          <a:prstGeom prst="rect">
            <a:avLst/>
          </a:prstGeom>
          <a:noFill/>
        </p:spPr>
        <p:txBody>
          <a:bodyPr wrap="none" lIns="0" rIns="0" tIns="0" bIns="0" anchor="ctr">
            <a:spAutoFit/>
          </a:bodyPr>
          <a:lstStyle/>
          <a:p>
            <a:pPr algn="l"/>
            <a:r>
              <a:rPr sz="850" b="1">
                <a:solidFill>
                  <a:srgbClr val="F4C95D"/>
                </a:solidFill>
                <a:latin typeface="Aptos"/>
              </a:rPr>
              <a:t>RE-RANK</a:t>
            </a:r>
          </a:p>
        </p:txBody>
      </p:sp>
      <p:sp>
        <p:nvSpPr>
          <p:cNvPr id="18" name="TextBox 17"/>
          <p:cNvSpPr txBox="1"/>
          <p:nvPr/>
        </p:nvSpPr>
        <p:spPr>
          <a:xfrm>
            <a:off x="2889504" y="4416552"/>
            <a:ext cx="4261104" cy="420624"/>
          </a:xfrm>
          <a:prstGeom prst="rect">
            <a:avLst/>
          </a:prstGeom>
          <a:noFill/>
        </p:spPr>
        <p:txBody>
          <a:bodyPr wrap="none" lIns="0" rIns="0" tIns="0" bIns="0" anchor="ctr">
            <a:spAutoFit/>
          </a:bodyPr>
          <a:lstStyle/>
          <a:p>
            <a:pPr algn="l"/>
            <a:r>
              <a:rPr sz="1050" b="1">
                <a:solidFill>
                  <a:srgbClr val="F7FAFC"/>
                </a:solidFill>
                <a:latin typeface="Aptos"/>
              </a:rPr>
              <a:t>Recalculate the opportunity list across the plausible scenarios.</a:t>
            </a:r>
          </a:p>
        </p:txBody>
      </p:sp>
      <p:sp>
        <p:nvSpPr>
          <p:cNvPr id="19" name="TextBox 18"/>
          <p:cNvSpPr txBox="1"/>
          <p:nvPr/>
        </p:nvSpPr>
        <p:spPr>
          <a:xfrm>
            <a:off x="987552" y="5276088"/>
            <a:ext cx="6199632" cy="292608"/>
          </a:xfrm>
          <a:prstGeom prst="rect">
            <a:avLst/>
          </a:prstGeom>
          <a:noFill/>
        </p:spPr>
        <p:txBody>
          <a:bodyPr wrap="none" lIns="0" rIns="0" tIns="0" bIns="0" anchor="ctr">
            <a:spAutoFit/>
          </a:bodyPr>
          <a:lstStyle/>
          <a:p>
            <a:pPr algn="l"/>
            <a:r>
              <a:rPr sz="950" b="0">
                <a:solidFill>
                  <a:srgbClr val="A9BAC9"/>
                </a:solidFill>
                <a:latin typeface="Aptos"/>
              </a:rPr>
              <a:t>The goal is not to prove one exact coefficient is “right.” It is to see whether the decision survives.</a:t>
            </a:r>
          </a:p>
        </p:txBody>
      </p:sp>
      <p:sp>
        <p:nvSpPr>
          <p:cNvPr id="20" name="Rounded Rectangle 19"/>
          <p:cNvSpPr/>
          <p:nvPr/>
        </p:nvSpPr>
        <p:spPr>
          <a:xfrm>
            <a:off x="7955279" y="1874519"/>
            <a:ext cx="3520440" cy="3858768"/>
          </a:xfrm>
          <a:prstGeom prst="roundRect">
            <a:avLst/>
          </a:prstGeom>
          <a:solidFill>
            <a:srgbClr val="0B274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1" y="2157984"/>
            <a:ext cx="1920240" cy="246888"/>
          </a:xfrm>
          <a:prstGeom prst="rect">
            <a:avLst/>
          </a:prstGeom>
          <a:noFill/>
        </p:spPr>
        <p:txBody>
          <a:bodyPr wrap="none" lIns="0" rIns="0" tIns="0" bIns="0" anchor="ctr">
            <a:spAutoFit/>
          </a:bodyPr>
          <a:lstStyle/>
          <a:p>
            <a:pPr algn="l"/>
            <a:r>
              <a:rPr sz="800" b="1">
                <a:solidFill>
                  <a:srgbClr val="35D0BA"/>
                </a:solidFill>
                <a:latin typeface="Aptos"/>
              </a:rPr>
              <a:t>DECISION RULE</a:t>
            </a:r>
          </a:p>
        </p:txBody>
      </p:sp>
      <p:sp>
        <p:nvSpPr>
          <p:cNvPr id="22" name="TextBox 21"/>
          <p:cNvSpPr txBox="1"/>
          <p:nvPr/>
        </p:nvSpPr>
        <p:spPr>
          <a:xfrm>
            <a:off x="8257031" y="2770632"/>
            <a:ext cx="2194560" cy="566928"/>
          </a:xfrm>
          <a:prstGeom prst="rect">
            <a:avLst/>
          </a:prstGeom>
          <a:noFill/>
        </p:spPr>
        <p:txBody>
          <a:bodyPr wrap="none" lIns="0" rIns="0" tIns="0" bIns="0" anchor="ctr">
            <a:spAutoFit/>
          </a:bodyPr>
          <a:lstStyle/>
          <a:p>
            <a:pPr algn="l"/>
            <a:r>
              <a:rPr sz="3000" b="1">
                <a:solidFill>
                  <a:srgbClr val="35D0BA"/>
                </a:solidFill>
                <a:latin typeface="Aptos"/>
              </a:rPr>
              <a:t>≥ 80%</a:t>
            </a:r>
          </a:p>
        </p:txBody>
      </p:sp>
      <p:sp>
        <p:nvSpPr>
          <p:cNvPr id="23" name="TextBox 22"/>
          <p:cNvSpPr txBox="1"/>
          <p:nvPr/>
        </p:nvSpPr>
        <p:spPr>
          <a:xfrm>
            <a:off x="8257031" y="3401568"/>
            <a:ext cx="2697480" cy="1024128"/>
          </a:xfrm>
          <a:prstGeom prst="rect">
            <a:avLst/>
          </a:prstGeom>
          <a:noFill/>
        </p:spPr>
        <p:txBody>
          <a:bodyPr wrap="none" lIns="0" rIns="0" tIns="0" bIns="0" anchor="ctr">
            <a:spAutoFit/>
          </a:bodyPr>
          <a:lstStyle/>
          <a:p>
            <a:pPr algn="l"/>
            <a:r>
              <a:rPr sz="1300" b="1">
                <a:solidFill>
                  <a:srgbClr val="FFFFFF"/>
                </a:solidFill>
                <a:latin typeface="Aptos"/>
              </a:rPr>
              <a:t>Keep a candidate only if it remains in the top opportunity set in at least 80% of plausible weight scenarios.</a:t>
            </a:r>
          </a:p>
        </p:txBody>
      </p:sp>
      <p:sp>
        <p:nvSpPr>
          <p:cNvPr id="24" name="TextBox 23"/>
          <p:cNvSpPr txBox="1"/>
          <p:nvPr/>
        </p:nvSpPr>
        <p:spPr>
          <a:xfrm>
            <a:off x="8257031" y="4626864"/>
            <a:ext cx="2651760" cy="585216"/>
          </a:xfrm>
          <a:prstGeom prst="rect">
            <a:avLst/>
          </a:prstGeom>
          <a:noFill/>
        </p:spPr>
        <p:txBody>
          <a:bodyPr wrap="none" lIns="0" rIns="0" tIns="0" bIns="0" anchor="ctr">
            <a:spAutoFit/>
          </a:bodyPr>
          <a:lstStyle/>
          <a:p>
            <a:pPr algn="l"/>
            <a:r>
              <a:rPr sz="950" b="0">
                <a:solidFill>
                  <a:srgbClr val="A9BAC9"/>
                </a:solidFill>
                <a:latin typeface="Aptos"/>
              </a:rPr>
              <a:t>Threshold is a policy choice—not something tuned after seeing the result.</a:t>
            </a:r>
          </a:p>
        </p:txBody>
      </p:sp>
      <p:sp>
        <p:nvSpPr>
          <p:cNvPr id="25" name="Rounded Rectangle 24"/>
          <p:cNvSpPr/>
          <p:nvPr/>
        </p:nvSpPr>
        <p:spPr>
          <a:xfrm>
            <a:off x="8257031" y="5230368"/>
            <a:ext cx="1554480" cy="310896"/>
          </a:xfrm>
          <a:prstGeom prst="roundRect">
            <a:avLst/>
          </a:prstGeom>
          <a:solidFill>
            <a:srgbClr val="0D344F"/>
          </a:solidFill>
          <a:ln w="8890">
            <a:solidFill>
              <a:srgbClr val="35D0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11896" y="5257800"/>
            <a:ext cx="1444752" cy="228600"/>
          </a:xfrm>
          <a:prstGeom prst="rect">
            <a:avLst/>
          </a:prstGeom>
          <a:noFill/>
        </p:spPr>
        <p:txBody>
          <a:bodyPr wrap="none" lIns="0" rIns="0" tIns="0" bIns="0" anchor="ctr">
            <a:spAutoFit/>
          </a:bodyPr>
          <a:lstStyle/>
          <a:p>
            <a:pPr algn="ctr"/>
            <a:r>
              <a:rPr sz="720" b="1">
                <a:solidFill>
                  <a:srgbClr val="F7FAFC"/>
                </a:solidFill>
                <a:latin typeface="Aptos"/>
              </a:rPr>
              <a:t>ROBUST &gt; PRECISE</a:t>
            </a:r>
          </a:p>
        </p:txBody>
      </p:sp>
      <p:sp>
        <p:nvSpPr>
          <p:cNvPr id="27" name="Rectangle 26"/>
          <p:cNvSpPr/>
          <p:nvPr/>
        </p:nvSpPr>
        <p:spPr>
          <a:xfrm>
            <a:off x="566928" y="6455664"/>
            <a:ext cx="11064240" cy="762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6492240"/>
            <a:ext cx="1828800" cy="155448"/>
          </a:xfrm>
          <a:prstGeom prst="rect">
            <a:avLst/>
          </a:prstGeom>
          <a:noFill/>
        </p:spPr>
        <p:txBody>
          <a:bodyPr wrap="none" lIns="0" rIns="0" tIns="0" bIns="0" anchor="ctr">
            <a:spAutoFit/>
          </a:bodyPr>
          <a:lstStyle/>
          <a:p>
            <a:pPr algn="l"/>
            <a:r>
              <a:rPr sz="580" b="1">
                <a:solidFill>
                  <a:srgbClr val="6F879A"/>
                </a:solidFill>
                <a:latin typeface="Aptos"/>
              </a:rPr>
              <a:t>MAV METRICS  •  08</a:t>
            </a:r>
          </a:p>
        </p:txBody>
      </p:sp>
      <p:sp>
        <p:nvSpPr>
          <p:cNvPr id="29" name="TextBox 28"/>
          <p:cNvSpPr txBox="1"/>
          <p:nvPr/>
        </p:nvSpPr>
        <p:spPr>
          <a:xfrm>
            <a:off x="2377440" y="6473952"/>
            <a:ext cx="9189720" cy="182880"/>
          </a:xfrm>
          <a:prstGeom prst="rect">
            <a:avLst/>
          </a:prstGeom>
          <a:noFill/>
        </p:spPr>
        <p:txBody>
          <a:bodyPr wrap="none" lIns="0" rIns="0" tIns="0" bIns="0" anchor="ctr">
            <a:spAutoFit/>
          </a:bodyPr>
          <a:lstStyle/>
          <a:p>
            <a:pPr algn="r"/>
            <a:r>
              <a:rPr sz="509" b="0">
                <a:solidFill>
                  <a:srgbClr val="63798B"/>
                </a:solidFill>
                <a:latin typeface="Aptos"/>
              </a:rPr>
              <a:t>Robustness rule proposed for model governance; threshold can be adjusted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PRODUCT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The dashboard makes the model reusable—not just presentable.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One screen for player search, comparison, weight sensitivity, and the opportunity map.</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09</a:t>
            </a:r>
            <a:endParaRPr lang="en-US" sz="580" dirty="0"/>
          </a:p>
        </p:txBody>
      </p:sp>
      <p:sp>
        <p:nvSpPr>
          <p:cNvPr id="8" name="Shape 6"/>
          <p:cNvSpPr/>
          <p:nvPr/>
        </p:nvSpPr>
        <p:spPr>
          <a:xfrm>
            <a:off x="713232" y="1810512"/>
            <a:ext cx="7818120" cy="4270248"/>
          </a:xfrm>
          <a:prstGeom prst="roundRect">
            <a:avLst>
              <a:gd name="adj" fmla="val 1713"/>
            </a:avLst>
          </a:prstGeom>
          <a:solidFill>
            <a:srgbClr val="071828"/>
          </a:solidFill>
          <a:ln w="11430">
            <a:solidFill>
              <a:srgbClr val="193B57"/>
            </a:solidFill>
            <a:prstDash val="solid"/>
          </a:ln>
        </p:spPr>
        <p:txBody>
          <a:bodyPr/>
          <a:p/>
        </p:txBody>
      </p:sp>
      <p:sp>
        <p:nvSpPr>
          <p:cNvPr id="9" name="Text 7"/>
          <p:cNvSpPr/>
          <p:nvPr/>
        </p:nvSpPr>
        <p:spPr>
          <a:xfrm>
            <a:off x="987552" y="2057400"/>
            <a:ext cx="38404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MAV METRICS / PLAYER EXPLORER</a:t>
            </a:r>
            <a:endParaRPr lang="en-US" sz="800" dirty="0"/>
          </a:p>
        </p:txBody>
      </p:sp>
      <p:sp>
        <p:nvSpPr>
          <p:cNvPr id="10" name="Shape 8"/>
          <p:cNvSpPr/>
          <p:nvPr/>
        </p:nvSpPr>
        <p:spPr>
          <a:xfrm>
            <a:off x="987552" y="2514600"/>
            <a:ext cx="2057400" cy="3081528"/>
          </a:xfrm>
          <a:prstGeom prst="roundRect">
            <a:avLst>
              <a:gd name="adj" fmla="val 3556"/>
            </a:avLst>
          </a:prstGeom>
          <a:solidFill>
            <a:srgbClr val="0B2741"/>
          </a:solidFill>
          <a:ln w="11430">
            <a:solidFill>
              <a:srgbClr val="193B57"/>
            </a:solidFill>
            <a:prstDash val="solid"/>
          </a:ln>
        </p:spPr>
        <p:txBody>
          <a:bodyPr/>
          <a:p/>
        </p:txBody>
      </p:sp>
      <p:sp>
        <p:nvSpPr>
          <p:cNvPr id="11" name="Text 9"/>
          <p:cNvSpPr/>
          <p:nvPr/>
        </p:nvSpPr>
        <p:spPr>
          <a:xfrm>
            <a:off x="1207008" y="2743200"/>
            <a:ext cx="73152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FILTER</a:t>
            </a:r>
            <a:endParaRPr lang="en-US" sz="700" dirty="0"/>
          </a:p>
        </p:txBody>
      </p:sp>
      <p:sp>
        <p:nvSpPr>
          <p:cNvPr id="12" name="Shape 10"/>
          <p:cNvSpPr/>
          <p:nvPr/>
        </p:nvSpPr>
        <p:spPr>
          <a:xfrm>
            <a:off x="1207008" y="3163824"/>
            <a:ext cx="96012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13" name="Text 11"/>
          <p:cNvSpPr/>
          <p:nvPr/>
        </p:nvSpPr>
        <p:spPr>
          <a:xfrm>
            <a:off x="1261872" y="3200400"/>
            <a:ext cx="8503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 &lt; 25</a:t>
            </a:r>
            <a:endParaRPr lang="en-US" sz="730" dirty="0"/>
          </a:p>
        </p:txBody>
      </p:sp>
      <p:sp>
        <p:nvSpPr>
          <p:cNvPr id="14" name="Shape 12"/>
          <p:cNvSpPr/>
          <p:nvPr/>
        </p:nvSpPr>
        <p:spPr>
          <a:xfrm>
            <a:off x="1207008" y="3593592"/>
            <a:ext cx="1325880"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15" name="Text 13"/>
          <p:cNvSpPr/>
          <p:nvPr/>
        </p:nvSpPr>
        <p:spPr>
          <a:xfrm>
            <a:off x="1261872" y="3630168"/>
            <a:ext cx="12161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&gt; 70</a:t>
            </a:r>
            <a:endParaRPr lang="en-US" sz="730" dirty="0"/>
          </a:p>
        </p:txBody>
      </p:sp>
      <p:sp>
        <p:nvSpPr>
          <p:cNvPr id="16" name="Shape 14"/>
          <p:cNvSpPr/>
          <p:nvPr/>
        </p:nvSpPr>
        <p:spPr>
          <a:xfrm>
            <a:off x="1207008" y="4023360"/>
            <a:ext cx="841248"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17" name="Text 15"/>
          <p:cNvSpPr/>
          <p:nvPr/>
        </p:nvSpPr>
        <p:spPr>
          <a:xfrm>
            <a:off x="1261872" y="405993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GAP &lt; 0</a:t>
            </a:r>
            <a:endParaRPr lang="en-US" sz="730" dirty="0"/>
          </a:p>
        </p:txBody>
      </p:sp>
      <p:sp>
        <p:nvSpPr>
          <p:cNvPr id="18" name="Text 16"/>
          <p:cNvSpPr/>
          <p:nvPr/>
        </p:nvSpPr>
        <p:spPr>
          <a:xfrm>
            <a:off x="1207008" y="4672584"/>
            <a:ext cx="1143000" cy="201168"/>
          </a:xfrm>
          <a:prstGeom prst="rect">
            <a:avLst/>
          </a:prstGeom>
          <a:noFill/>
          <a:ln/>
        </p:spPr>
        <p:txBody>
          <a:bodyPr wrap="square" lIns="254" tIns="254" rIns="254" bIns="254" rtlCol="0" anchor="ctr">
            <a:normAutofit/>
          </a:bodyPr>
          <a:lstStyle/>
          <a:p>
            <a:pPr algn="l" indent="0" marL="0">
              <a:buNone/>
            </a:pPr>
            <a:r>
              <a:rPr lang="en-US" sz="800" b="1" dirty="0">
                <a:solidFill>
                  <a:srgbClr val="FFFFFF"/>
                </a:solidFill>
              </a:rPr>
              <a:t>Weight sliders</a:t>
            </a:r>
            <a:endParaRPr lang="en-US" sz="800" dirty="0"/>
          </a:p>
        </p:txBody>
      </p:sp>
      <p:sp>
        <p:nvSpPr>
          <p:cNvPr id="19" name="Shape 17"/>
          <p:cNvSpPr/>
          <p:nvPr/>
        </p:nvSpPr>
        <p:spPr>
          <a:xfrm>
            <a:off x="1207008" y="5010912"/>
            <a:ext cx="1335024" cy="0"/>
          </a:xfrm>
          <a:prstGeom prst="line">
            <a:avLst/>
          </a:prstGeom>
          <a:noFill/>
          <a:ln w="38100">
            <a:solidFill>
              <a:srgbClr val="193B57"/>
            </a:solidFill>
            <a:prstDash val="solid"/>
          </a:ln>
        </p:spPr>
        <p:txBody>
          <a:bodyPr/>
          <a:p/>
        </p:txBody>
      </p:sp>
      <p:sp>
        <p:nvSpPr>
          <p:cNvPr id="20" name="Shape 18"/>
          <p:cNvSpPr/>
          <p:nvPr/>
        </p:nvSpPr>
        <p:spPr>
          <a:xfrm>
            <a:off x="1865376" y="4956048"/>
            <a:ext cx="109728" cy="109728"/>
          </a:xfrm>
          <a:prstGeom prst="ellipse">
            <a:avLst/>
          </a:prstGeom>
          <a:solidFill>
            <a:srgbClr val="00A3FF"/>
          </a:solidFill>
          <a:ln w="12700">
            <a:solidFill>
              <a:srgbClr val="00A3FF">
                <a:alpha val="0"/>
              </a:srgbClr>
            </a:solidFill>
            <a:prstDash val="solid"/>
          </a:ln>
        </p:spPr>
        <p:txBody>
          <a:bodyPr/>
          <a:p/>
        </p:txBody>
      </p:sp>
      <p:sp>
        <p:nvSpPr>
          <p:cNvPr id="21" name="Shape 19"/>
          <p:cNvSpPr/>
          <p:nvPr/>
        </p:nvSpPr>
        <p:spPr>
          <a:xfrm>
            <a:off x="1207008" y="5239512"/>
            <a:ext cx="1335024" cy="0"/>
          </a:xfrm>
          <a:prstGeom prst="line">
            <a:avLst/>
          </a:prstGeom>
          <a:noFill/>
          <a:ln w="38100">
            <a:solidFill>
              <a:srgbClr val="193B57"/>
            </a:solidFill>
            <a:prstDash val="solid"/>
          </a:ln>
        </p:spPr>
        <p:txBody>
          <a:bodyPr/>
          <a:p/>
        </p:txBody>
      </p:sp>
      <p:sp>
        <p:nvSpPr>
          <p:cNvPr id="22" name="Shape 20"/>
          <p:cNvSpPr/>
          <p:nvPr/>
        </p:nvSpPr>
        <p:spPr>
          <a:xfrm>
            <a:off x="1975104" y="5184648"/>
            <a:ext cx="109728" cy="109728"/>
          </a:xfrm>
          <a:prstGeom prst="ellipse">
            <a:avLst/>
          </a:prstGeom>
          <a:solidFill>
            <a:srgbClr val="00A3FF"/>
          </a:solidFill>
          <a:ln w="12700">
            <a:solidFill>
              <a:srgbClr val="00A3FF">
                <a:alpha val="0"/>
              </a:srgbClr>
            </a:solidFill>
            <a:prstDash val="solid"/>
          </a:ln>
        </p:spPr>
        <p:txBody>
          <a:bodyPr/>
          <a:p/>
        </p:txBody>
      </p:sp>
      <p:sp>
        <p:nvSpPr>
          <p:cNvPr id="23" name="Shape 21"/>
          <p:cNvSpPr/>
          <p:nvPr/>
        </p:nvSpPr>
        <p:spPr>
          <a:xfrm>
            <a:off x="1207008" y="5468112"/>
            <a:ext cx="1335024" cy="0"/>
          </a:xfrm>
          <a:prstGeom prst="line">
            <a:avLst/>
          </a:prstGeom>
          <a:noFill/>
          <a:ln w="38100">
            <a:solidFill>
              <a:srgbClr val="193B57"/>
            </a:solidFill>
            <a:prstDash val="solid"/>
          </a:ln>
        </p:spPr>
        <p:txBody>
          <a:bodyPr/>
          <a:p/>
        </p:txBody>
      </p:sp>
      <p:sp>
        <p:nvSpPr>
          <p:cNvPr id="24" name="Shape 22"/>
          <p:cNvSpPr/>
          <p:nvPr/>
        </p:nvSpPr>
        <p:spPr>
          <a:xfrm>
            <a:off x="2084832" y="5413248"/>
            <a:ext cx="109728" cy="109728"/>
          </a:xfrm>
          <a:prstGeom prst="ellipse">
            <a:avLst/>
          </a:prstGeom>
          <a:solidFill>
            <a:srgbClr val="00A3FF"/>
          </a:solidFill>
          <a:ln w="12700">
            <a:solidFill>
              <a:srgbClr val="00A3FF">
                <a:alpha val="0"/>
              </a:srgbClr>
            </a:solidFill>
            <a:prstDash val="solid"/>
          </a:ln>
        </p:spPr>
        <p:txBody>
          <a:bodyPr/>
          <a:p/>
        </p:txBody>
      </p:sp>
      <p:sp>
        <p:nvSpPr>
          <p:cNvPr id="25" name="Shape 23"/>
          <p:cNvSpPr/>
          <p:nvPr/>
        </p:nvSpPr>
        <p:spPr>
          <a:xfrm>
            <a:off x="3310128" y="2514600"/>
            <a:ext cx="4892040" cy="3081528"/>
          </a:xfrm>
          <a:prstGeom prst="roundRect">
            <a:avLst>
              <a:gd name="adj" fmla="val 2374"/>
            </a:avLst>
          </a:prstGeom>
          <a:solidFill>
            <a:srgbClr val="061521"/>
          </a:solidFill>
          <a:ln w="11430">
            <a:solidFill>
              <a:srgbClr val="193B57"/>
            </a:solidFill>
            <a:prstDash val="solid"/>
          </a:ln>
        </p:spPr>
        <p:txBody>
          <a:bodyPr/>
          <a:p/>
        </p:txBody>
      </p:sp>
      <p:sp>
        <p:nvSpPr>
          <p:cNvPr id="26" name="Text 24"/>
          <p:cNvSpPr/>
          <p:nvPr/>
        </p:nvSpPr>
        <p:spPr>
          <a:xfrm>
            <a:off x="3584448" y="2743200"/>
            <a:ext cx="16002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OPPORTUNITY MAP</a:t>
            </a:r>
            <a:endParaRPr lang="en-US" sz="700" dirty="0"/>
          </a:p>
        </p:txBody>
      </p:sp>
      <p:sp>
        <p:nvSpPr>
          <p:cNvPr id="27" name="Shape 25"/>
          <p:cNvSpPr/>
          <p:nvPr/>
        </p:nvSpPr>
        <p:spPr>
          <a:xfrm>
            <a:off x="3675888" y="5193792"/>
            <a:ext cx="4069080" cy="0"/>
          </a:xfrm>
          <a:prstGeom prst="line">
            <a:avLst/>
          </a:prstGeom>
          <a:noFill/>
          <a:ln w="10160">
            <a:solidFill>
              <a:srgbClr val="5F778A"/>
            </a:solidFill>
            <a:prstDash val="solid"/>
          </a:ln>
        </p:spPr>
        <p:txBody>
          <a:bodyPr/>
          <a:p/>
        </p:txBody>
      </p:sp>
      <p:sp>
        <p:nvSpPr>
          <p:cNvPr id="28" name="Shape 26"/>
          <p:cNvSpPr/>
          <p:nvPr/>
        </p:nvSpPr>
        <p:spPr>
          <a:xfrm>
            <a:off x="3675888" y="5193792"/>
            <a:ext cx="0" cy="-1993392"/>
          </a:xfrm>
          <a:prstGeom prst="line">
            <a:avLst/>
          </a:prstGeom>
          <a:noFill/>
          <a:ln w="10160">
            <a:solidFill>
              <a:srgbClr val="5F778A"/>
            </a:solidFill>
            <a:prstDash val="solid"/>
          </a:ln>
        </p:spPr>
        <p:txBody>
          <a:bodyPr/>
          <a:p/>
        </p:txBody>
      </p:sp>
      <p:sp>
        <p:nvSpPr>
          <p:cNvPr id="29" name="Shape 27"/>
          <p:cNvSpPr/>
          <p:nvPr/>
        </p:nvSpPr>
        <p:spPr>
          <a:xfrm>
            <a:off x="4315968" y="4590288"/>
            <a:ext cx="146304" cy="146304"/>
          </a:xfrm>
          <a:prstGeom prst="ellipse">
            <a:avLst/>
          </a:prstGeom>
          <a:solidFill>
            <a:srgbClr val="66798B"/>
          </a:solidFill>
          <a:ln w="12700">
            <a:solidFill>
              <a:srgbClr val="66798B">
                <a:alpha val="0"/>
              </a:srgbClr>
            </a:solidFill>
            <a:prstDash val="solid"/>
          </a:ln>
        </p:spPr>
        <p:txBody>
          <a:bodyPr/>
          <a:p/>
        </p:txBody>
      </p:sp>
      <p:sp>
        <p:nvSpPr>
          <p:cNvPr id="30" name="Shape 28"/>
          <p:cNvSpPr/>
          <p:nvPr/>
        </p:nvSpPr>
        <p:spPr>
          <a:xfrm>
            <a:off x="5001768" y="4224528"/>
            <a:ext cx="146304" cy="146304"/>
          </a:xfrm>
          <a:prstGeom prst="ellipse">
            <a:avLst/>
          </a:prstGeom>
          <a:solidFill>
            <a:srgbClr val="00A3FF"/>
          </a:solidFill>
          <a:ln w="12700">
            <a:solidFill>
              <a:srgbClr val="00A3FF">
                <a:alpha val="0"/>
              </a:srgbClr>
            </a:solidFill>
            <a:prstDash val="solid"/>
          </a:ln>
        </p:spPr>
        <p:txBody>
          <a:bodyPr/>
          <a:p/>
        </p:txBody>
      </p:sp>
      <p:sp>
        <p:nvSpPr>
          <p:cNvPr id="31" name="Shape 29"/>
          <p:cNvSpPr/>
          <p:nvPr/>
        </p:nvSpPr>
        <p:spPr>
          <a:xfrm>
            <a:off x="5779008" y="4572000"/>
            <a:ext cx="146304" cy="146304"/>
          </a:xfrm>
          <a:prstGeom prst="ellipse">
            <a:avLst/>
          </a:prstGeom>
          <a:solidFill>
            <a:srgbClr val="F4C95D"/>
          </a:solidFill>
          <a:ln w="12700">
            <a:solidFill>
              <a:srgbClr val="F4C95D">
                <a:alpha val="0"/>
              </a:srgbClr>
            </a:solidFill>
            <a:prstDash val="solid"/>
          </a:ln>
        </p:spPr>
        <p:txBody>
          <a:bodyPr/>
          <a:p/>
        </p:txBody>
      </p:sp>
      <p:sp>
        <p:nvSpPr>
          <p:cNvPr id="32" name="Shape 30"/>
          <p:cNvSpPr/>
          <p:nvPr/>
        </p:nvSpPr>
        <p:spPr>
          <a:xfrm>
            <a:off x="6510528" y="3694176"/>
            <a:ext cx="146304" cy="146304"/>
          </a:xfrm>
          <a:prstGeom prst="ellipse">
            <a:avLst/>
          </a:prstGeom>
          <a:solidFill>
            <a:srgbClr val="35D0BA"/>
          </a:solidFill>
          <a:ln w="12700">
            <a:solidFill>
              <a:srgbClr val="35D0BA">
                <a:alpha val="0"/>
              </a:srgbClr>
            </a:solidFill>
            <a:prstDash val="solid"/>
          </a:ln>
        </p:spPr>
        <p:txBody>
          <a:bodyPr/>
          <a:p/>
        </p:txBody>
      </p:sp>
      <p:sp>
        <p:nvSpPr>
          <p:cNvPr id="33" name="Shape 31"/>
          <p:cNvSpPr/>
          <p:nvPr/>
        </p:nvSpPr>
        <p:spPr>
          <a:xfrm>
            <a:off x="7242048" y="3172968"/>
            <a:ext cx="146304" cy="146304"/>
          </a:xfrm>
          <a:prstGeom prst="ellipse">
            <a:avLst/>
          </a:prstGeom>
          <a:solidFill>
            <a:srgbClr val="00A3FF"/>
          </a:solidFill>
          <a:ln w="12700">
            <a:solidFill>
              <a:srgbClr val="00A3FF">
                <a:alpha val="0"/>
              </a:srgbClr>
            </a:solidFill>
            <a:prstDash val="solid"/>
          </a:ln>
        </p:spPr>
        <p:txBody>
          <a:bodyPr/>
          <a:p/>
        </p:txBody>
      </p:sp>
      <p:sp>
        <p:nvSpPr>
          <p:cNvPr id="34" name="Shape 32"/>
          <p:cNvSpPr/>
          <p:nvPr/>
        </p:nvSpPr>
        <p:spPr>
          <a:xfrm>
            <a:off x="8869680" y="1810512"/>
            <a:ext cx="2487168" cy="4270248"/>
          </a:xfrm>
          <a:prstGeom prst="roundRect">
            <a:avLst>
              <a:gd name="adj" fmla="val 2941"/>
            </a:avLst>
          </a:prstGeom>
          <a:solidFill>
            <a:srgbClr val="081D31"/>
          </a:solidFill>
          <a:ln w="11430">
            <a:solidFill>
              <a:srgbClr val="193B57"/>
            </a:solidFill>
            <a:prstDash val="solid"/>
          </a:ln>
        </p:spPr>
        <p:txBody>
          <a:bodyPr/>
          <a:p/>
        </p:txBody>
      </p:sp>
      <p:sp>
        <p:nvSpPr>
          <p:cNvPr id="35" name="Text 33"/>
          <p:cNvSpPr/>
          <p:nvPr/>
        </p:nvSpPr>
        <p:spPr>
          <a:xfrm>
            <a:off x="9144000" y="2084832"/>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00A3FF"/>
                </a:solidFill>
              </a:rPr>
              <a:t>PLAYER CARD</a:t>
            </a:r>
            <a:endParaRPr lang="en-US" sz="700" dirty="0"/>
          </a:p>
        </p:txBody>
      </p:sp>
      <p:sp>
        <p:nvSpPr>
          <p:cNvPr id="36" name="Text 34"/>
          <p:cNvSpPr/>
          <p:nvPr/>
        </p:nvSpPr>
        <p:spPr>
          <a:xfrm>
            <a:off x="9144000" y="2615184"/>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FFFFF"/>
                </a:solidFill>
              </a:rPr>
              <a:t>78</a:t>
            </a:r>
            <a:endParaRPr lang="en-US" sz="2600" dirty="0"/>
          </a:p>
        </p:txBody>
      </p:sp>
      <p:sp>
        <p:nvSpPr>
          <p:cNvPr id="37" name="Text 35"/>
          <p:cNvSpPr/>
          <p:nvPr/>
        </p:nvSpPr>
        <p:spPr>
          <a:xfrm>
            <a:off x="9144000" y="3072384"/>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MARKETABILITY</a:t>
            </a:r>
            <a:endParaRPr lang="en-US" sz="700" dirty="0"/>
          </a:p>
        </p:txBody>
      </p:sp>
      <p:sp>
        <p:nvSpPr>
          <p:cNvPr id="38" name="Text 36"/>
          <p:cNvSpPr/>
          <p:nvPr/>
        </p:nvSpPr>
        <p:spPr>
          <a:xfrm>
            <a:off x="914400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35D0BA"/>
                </a:solidFill>
              </a:rPr>
              <a:t>92</a:t>
            </a:r>
            <a:endParaRPr lang="en-US" sz="2600" dirty="0"/>
          </a:p>
        </p:txBody>
      </p:sp>
      <p:sp>
        <p:nvSpPr>
          <p:cNvPr id="39" name="Text 37"/>
          <p:cNvSpPr/>
          <p:nvPr/>
        </p:nvSpPr>
        <p:spPr>
          <a:xfrm>
            <a:off x="914400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MOMENTUM</a:t>
            </a:r>
            <a:endParaRPr lang="en-US" sz="830" dirty="0"/>
          </a:p>
        </p:txBody>
      </p:sp>
      <p:sp>
        <p:nvSpPr>
          <p:cNvPr id="40" name="Text 38"/>
          <p:cNvSpPr/>
          <p:nvPr/>
        </p:nvSpPr>
        <p:spPr>
          <a:xfrm>
            <a:off x="1019556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4C95D"/>
                </a:solidFill>
              </a:rPr>
              <a:t>−14</a:t>
            </a:r>
            <a:endParaRPr lang="en-US" sz="2600" dirty="0"/>
          </a:p>
        </p:txBody>
      </p:sp>
      <p:sp>
        <p:nvSpPr>
          <p:cNvPr id="41" name="Text 39"/>
          <p:cNvSpPr/>
          <p:nvPr/>
        </p:nvSpPr>
        <p:spPr>
          <a:xfrm>
            <a:off x="1019556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GAP</a:t>
            </a:r>
            <a:endParaRPr lang="en-US" sz="830" dirty="0"/>
          </a:p>
        </p:txBody>
      </p:sp>
      <p:sp>
        <p:nvSpPr>
          <p:cNvPr id="42" name="Text 40"/>
          <p:cNvSpPr/>
          <p:nvPr/>
        </p:nvSpPr>
        <p:spPr>
          <a:xfrm>
            <a:off x="9144000" y="4617720"/>
            <a:ext cx="1737360" cy="594360"/>
          </a:xfrm>
          <a:prstGeom prst="rect">
            <a:avLst/>
          </a:prstGeom>
          <a:noFill/>
          <a:ln/>
        </p:spPr>
        <p:txBody>
          <a:bodyPr wrap="square" lIns="254" tIns="254" rIns="254" bIns="254" rtlCol="0" anchor="ctr">
            <a:normAutofit/>
          </a:bodyPr>
          <a:lstStyle/>
          <a:p>
            <a:pPr algn="l" indent="0" marL="0">
              <a:buNone/>
            </a:pPr>
            <a:r>
              <a:rPr lang="en-US" sz="1000" b="1" dirty="0">
                <a:solidFill>
                  <a:srgbClr val="FFFFFF"/>
                </a:solidFill>
              </a:rPr>
              <a:t>Opportunity: underexposed high performer</a:t>
            </a:r>
            <a:endParaRPr lang="en-US" sz="1000" dirty="0"/>
          </a:p>
        </p:txBody>
      </p:sp>
      <p:sp>
        <p:nvSpPr>
          <p:cNvPr id="43" name="Shape 41"/>
          <p:cNvSpPr/>
          <p:nvPr/>
        </p:nvSpPr>
        <p:spPr>
          <a:xfrm>
            <a:off x="9144000" y="5303520"/>
            <a:ext cx="1261872"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44" name="Text 42"/>
          <p:cNvSpPr/>
          <p:nvPr/>
        </p:nvSpPr>
        <p:spPr>
          <a:xfrm>
            <a:off x="9198864" y="5340096"/>
            <a:ext cx="11521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NEXT ACTION</a:t>
            </a:r>
            <a:endParaRPr lang="en-US" sz="730" dirty="0"/>
          </a:p>
        </p:txBody>
      </p:sp>
      <p:sp>
        <p:nvSpPr>
          <p:cNvPr id="45" name="Text 43"/>
          <p:cNvSpPr/>
          <p:nvPr/>
        </p:nvSpPr>
        <p:spPr>
          <a:xfrm>
            <a:off x="713232" y="6117336"/>
            <a:ext cx="10241280" cy="201168"/>
          </a:xfrm>
          <a:prstGeom prst="rect">
            <a:avLst/>
          </a:prstGeom>
          <a:noFill/>
          <a:ln/>
        </p:spPr>
        <p:txBody>
          <a:bodyPr wrap="square" lIns="254" tIns="254" rIns="254" bIns="254" rtlCol="0" anchor="ctr">
            <a:normAutofit/>
          </a:bodyPr>
          <a:lstStyle/>
          <a:p>
            <a:pPr algn="l" indent="0" marL="0">
              <a:buNone/>
            </a:pPr>
            <a:r>
              <a:rPr lang="en-US" sz="560" dirty="0">
                <a:solidFill>
                  <a:srgbClr val="71879A"/>
                </a:solidFill>
              </a:rPr>
              <a:t>Prototype interface built from the Mav Metrics workflow; benchmark values shown for demonstration.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DALLAS PROOF POINT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Cooper Flagg shows why momentum deserves its own signal.</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In one season, elite rookie performance translated into measurable commercial demand.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10</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jersey releases + NBA Rookie of the Year release, 2026</a:t>
            </a:r>
            <a:endParaRPr lang="en-US" sz="520" dirty="0"/>
          </a:p>
        </p:txBody>
      </p:sp>
      <p:sp>
        <p:nvSpPr>
          <p:cNvPr id="9" name="Shape 7"/>
          <p:cNvSpPr/>
          <p:nvPr/>
        </p:nvSpPr>
        <p:spPr>
          <a:xfrm>
            <a:off x="713232" y="1737360"/>
            <a:ext cx="3154680" cy="4370832"/>
          </a:xfrm>
          <a:prstGeom prst="roundRect">
            <a:avLst>
              <a:gd name="adj" fmla="val 1449"/>
            </a:avLst>
          </a:prstGeom>
          <a:solidFill>
            <a:srgbClr val="071B2D"/>
          </a:solidFill>
          <a:ln w="11430">
            <a:solidFill>
              <a:srgbClr val="193B57"/>
            </a:solidFill>
            <a:prstDash val="solid"/>
          </a:ln>
        </p:spPr>
        <p:txBody>
          <a:bodyPr/>
          <a:p/>
        </p:txBody>
      </p:sp>
      <p:pic>
        <p:nvPicPr>
          <p:cNvPr id="10" name="Image 0" descr="/home/runner/work/mav-metrics/mav-metrics/presentation/assets/cooper.png">    </p:cNvPr>
          <p:cNvPicPr>
            <a:picLocks noChangeAspect="1"/>
          </p:cNvPicPr>
          <p:nvPr/>
        </p:nvPicPr>
        <p:blipFill>
          <a:blip r:embed="rId1"/>
          <a:stretch>
            <a:fillRect/>
          </a:stretch>
        </p:blipFill>
        <p:spPr>
          <a:xfrm>
            <a:off x="740664" y="1764792"/>
            <a:ext cx="3099816" cy="4315968"/>
          </a:xfrm>
          <a:prstGeom prst="rect">
            <a:avLst/>
          </a:prstGeom>
        </p:spPr>
      </p:pic>
      <p:sp>
        <p:nvSpPr>
          <p:cNvPr id="11" name="Shape 8"/>
          <p:cNvSpPr/>
          <p:nvPr/>
        </p:nvSpPr>
        <p:spPr>
          <a:xfrm>
            <a:off x="740664" y="5715000"/>
            <a:ext cx="3099816" cy="365760"/>
          </a:xfrm>
          <a:prstGeom prst="rect">
            <a:avLst/>
          </a:prstGeom>
          <a:solidFill>
            <a:srgbClr val="04111F">
              <a:alpha val="95000"/>
            </a:srgbClr>
          </a:solidFill>
          <a:ln w="12700">
            <a:solidFill>
              <a:srgbClr val="04111F">
                <a:alpha val="0"/>
              </a:srgbClr>
            </a:solidFill>
            <a:prstDash val="solid"/>
          </a:ln>
        </p:spPr>
        <p:txBody>
          <a:bodyPr/>
          <a:p/>
        </p:txBody>
      </p:sp>
      <p:sp>
        <p:nvSpPr>
          <p:cNvPr id="12" name="Text 9"/>
          <p:cNvSpPr/>
          <p:nvPr/>
        </p:nvSpPr>
        <p:spPr>
          <a:xfrm>
            <a:off x="822960" y="5779008"/>
            <a:ext cx="293522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  •  DALLAS</a:t>
            </a:r>
            <a:endParaRPr lang="en-US" sz="780" dirty="0"/>
          </a:p>
        </p:txBody>
      </p:sp>
      <p:sp>
        <p:nvSpPr>
          <p:cNvPr id="13" name="Shape 10"/>
          <p:cNvSpPr/>
          <p:nvPr/>
        </p:nvSpPr>
        <p:spPr>
          <a:xfrm>
            <a:off x="4526280" y="3730752"/>
            <a:ext cx="6144768" cy="0"/>
          </a:xfrm>
          <a:prstGeom prst="line">
            <a:avLst/>
          </a:prstGeom>
          <a:noFill/>
          <a:ln w="25400">
            <a:solidFill>
              <a:srgbClr val="193B57"/>
            </a:solidFill>
            <a:prstDash val="solid"/>
          </a:ln>
        </p:spPr>
        <p:txBody>
          <a:bodyPr/>
          <a:p/>
        </p:txBody>
      </p:sp>
      <p:sp>
        <p:nvSpPr>
          <p:cNvPr id="14" name="Shape 11"/>
          <p:cNvSpPr/>
          <p:nvPr/>
        </p:nvSpPr>
        <p:spPr>
          <a:xfrm>
            <a:off x="4517136" y="3630168"/>
            <a:ext cx="201168" cy="201168"/>
          </a:xfrm>
          <a:prstGeom prst="ellipse">
            <a:avLst/>
          </a:prstGeom>
          <a:solidFill>
            <a:srgbClr val="00A3FF"/>
          </a:solidFill>
          <a:ln w="12700">
            <a:solidFill>
              <a:srgbClr val="00A3FF">
                <a:alpha val="0"/>
              </a:srgbClr>
            </a:solidFill>
            <a:prstDash val="solid"/>
          </a:ln>
        </p:spPr>
        <p:txBody>
          <a:bodyPr/>
          <a:p/>
        </p:txBody>
      </p:sp>
      <p:sp>
        <p:nvSpPr>
          <p:cNvPr id="15" name="Text 12"/>
          <p:cNvSpPr/>
          <p:nvPr/>
        </p:nvSpPr>
        <p:spPr>
          <a:xfrm>
            <a:off x="41148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00A3FF"/>
                </a:solidFill>
              </a:rPr>
              <a:t>JAN 20</a:t>
            </a:r>
            <a:endParaRPr lang="en-US" sz="800" dirty="0"/>
          </a:p>
        </p:txBody>
      </p:sp>
      <p:sp>
        <p:nvSpPr>
          <p:cNvPr id="16" name="Text 13"/>
          <p:cNvSpPr/>
          <p:nvPr/>
        </p:nvSpPr>
        <p:spPr>
          <a:xfrm>
            <a:off x="39776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#11</a:t>
            </a:r>
            <a:endParaRPr lang="en-US" sz="2100" dirty="0"/>
          </a:p>
        </p:txBody>
      </p:sp>
      <p:sp>
        <p:nvSpPr>
          <p:cNvPr id="17" name="Text 14"/>
          <p:cNvSpPr/>
          <p:nvPr/>
        </p:nvSpPr>
        <p:spPr>
          <a:xfrm>
            <a:off x="37033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Jersey-sales debut</a:t>
            </a:r>
            <a:endParaRPr lang="en-US" sz="900" dirty="0"/>
          </a:p>
        </p:txBody>
      </p:sp>
      <p:sp>
        <p:nvSpPr>
          <p:cNvPr id="18" name="Shape 15"/>
          <p:cNvSpPr/>
          <p:nvPr/>
        </p:nvSpPr>
        <p:spPr>
          <a:xfrm>
            <a:off x="7168896" y="3630168"/>
            <a:ext cx="201168" cy="201168"/>
          </a:xfrm>
          <a:prstGeom prst="ellipse">
            <a:avLst/>
          </a:prstGeom>
          <a:solidFill>
            <a:srgbClr val="35D0BA"/>
          </a:solidFill>
          <a:ln w="12700">
            <a:solidFill>
              <a:srgbClr val="35D0BA">
                <a:alpha val="0"/>
              </a:srgbClr>
            </a:solidFill>
            <a:prstDash val="solid"/>
          </a:ln>
        </p:spPr>
        <p:txBody>
          <a:bodyPr/>
          <a:p/>
        </p:txBody>
      </p:sp>
      <p:sp>
        <p:nvSpPr>
          <p:cNvPr id="19" name="Text 16"/>
          <p:cNvSpPr/>
          <p:nvPr/>
        </p:nvSpPr>
        <p:spPr>
          <a:xfrm>
            <a:off x="676656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35D0BA"/>
                </a:solidFill>
              </a:rPr>
              <a:t>APR 13</a:t>
            </a:r>
            <a:endParaRPr lang="en-US" sz="800" dirty="0"/>
          </a:p>
        </p:txBody>
      </p:sp>
      <p:sp>
        <p:nvSpPr>
          <p:cNvPr id="20" name="Text 17"/>
          <p:cNvSpPr/>
          <p:nvPr/>
        </p:nvSpPr>
        <p:spPr>
          <a:xfrm>
            <a:off x="662940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#9</a:t>
            </a:r>
            <a:endParaRPr lang="en-US" sz="2100" dirty="0"/>
          </a:p>
        </p:txBody>
      </p:sp>
      <p:sp>
        <p:nvSpPr>
          <p:cNvPr id="21" name="Text 18"/>
          <p:cNvSpPr/>
          <p:nvPr/>
        </p:nvSpPr>
        <p:spPr>
          <a:xfrm>
            <a:off x="635508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Only rookie in final Top 15</a:t>
            </a:r>
            <a:endParaRPr lang="en-US" sz="900" dirty="0"/>
          </a:p>
        </p:txBody>
      </p:sp>
      <p:sp>
        <p:nvSpPr>
          <p:cNvPr id="22" name="Shape 19"/>
          <p:cNvSpPr/>
          <p:nvPr/>
        </p:nvSpPr>
        <p:spPr>
          <a:xfrm>
            <a:off x="9774936" y="3630168"/>
            <a:ext cx="201168" cy="201168"/>
          </a:xfrm>
          <a:prstGeom prst="ellipse">
            <a:avLst/>
          </a:prstGeom>
          <a:solidFill>
            <a:srgbClr val="F4C95D"/>
          </a:solidFill>
          <a:ln w="12700">
            <a:solidFill>
              <a:srgbClr val="F4C95D">
                <a:alpha val="0"/>
              </a:srgbClr>
            </a:solidFill>
            <a:prstDash val="solid"/>
          </a:ln>
        </p:spPr>
        <p:txBody>
          <a:bodyPr/>
          <a:p/>
        </p:txBody>
      </p:sp>
      <p:sp>
        <p:nvSpPr>
          <p:cNvPr id="23" name="Text 20"/>
          <p:cNvSpPr/>
          <p:nvPr/>
        </p:nvSpPr>
        <p:spPr>
          <a:xfrm>
            <a:off x="93726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F4C95D"/>
                </a:solidFill>
              </a:rPr>
              <a:t>APR 27</a:t>
            </a:r>
            <a:endParaRPr lang="en-US" sz="800" dirty="0"/>
          </a:p>
        </p:txBody>
      </p:sp>
      <p:sp>
        <p:nvSpPr>
          <p:cNvPr id="24" name="Text 21"/>
          <p:cNvSpPr/>
          <p:nvPr/>
        </p:nvSpPr>
        <p:spPr>
          <a:xfrm>
            <a:off x="92354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ROY</a:t>
            </a:r>
            <a:endParaRPr lang="en-US" sz="2100" dirty="0"/>
          </a:p>
        </p:txBody>
      </p:sp>
      <p:sp>
        <p:nvSpPr>
          <p:cNvPr id="25" name="Text 22"/>
          <p:cNvSpPr/>
          <p:nvPr/>
        </p:nvSpPr>
        <p:spPr>
          <a:xfrm>
            <a:off x="89611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21.0 PPG • 6.7 RPG • 4.5 APG</a:t>
            </a:r>
            <a:endParaRPr lang="en-US" sz="900" dirty="0"/>
          </a:p>
        </p:txBody>
      </p:sp>
      <p:sp>
        <p:nvSpPr>
          <p:cNvPr id="26" name="Text 23"/>
          <p:cNvSpPr/>
          <p:nvPr/>
        </p:nvSpPr>
        <p:spPr>
          <a:xfrm>
            <a:off x="4526280" y="1847088"/>
            <a:ext cx="5989320" cy="777240"/>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The lesson is not “Flagg is marketable.” The lesson is that growth can be observed early—and tracked.</a:t>
            </a:r>
            <a:endParaRPr lang="en-US" sz="1600" dirty="0"/>
          </a:p>
        </p:txBody>
      </p:sp>
      <p:sp>
        <p:nvSpPr>
          <p:cNvPr id="27" name="Shape 24"/>
          <p:cNvSpPr/>
          <p:nvPr/>
        </p:nvSpPr>
        <p:spPr>
          <a:xfrm>
            <a:off x="4526280" y="5596128"/>
            <a:ext cx="2971800"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28" name="Text 25"/>
          <p:cNvSpPr/>
          <p:nvPr/>
        </p:nvSpPr>
        <p:spPr>
          <a:xfrm>
            <a:off x="4581144" y="5632704"/>
            <a:ext cx="286207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CAN LEAD COMMERCIAL PROOF</a:t>
            </a:r>
            <a:endParaRPr lang="en-US" sz="7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RECOMMENDATION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Make marketability a quarterly scouting process.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value is not a one-time score. It is detecting change before the market fully reacts.</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11</a:t>
            </a:r>
            <a:endParaRPr lang="en-US" sz="580" dirty="0"/>
          </a:p>
        </p:txBody>
      </p:sp>
      <p:sp>
        <p:nvSpPr>
          <p:cNvPr id="8" name="Text 6"/>
          <p:cNvSpPr/>
          <p:nvPr/>
        </p:nvSpPr>
        <p:spPr>
          <a:xfrm>
            <a:off x="777240" y="1883664"/>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00A3FF"/>
                </a:solidFill>
              </a:rPr>
              <a:t>01</a:t>
            </a:r>
            <a:endParaRPr lang="en-US" sz="1300" dirty="0"/>
          </a:p>
        </p:txBody>
      </p:sp>
      <p:sp>
        <p:nvSpPr>
          <p:cNvPr id="9" name="Text 7"/>
          <p:cNvSpPr/>
          <p:nvPr/>
        </p:nvSpPr>
        <p:spPr>
          <a:xfrm>
            <a:off x="1353312" y="1883664"/>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MEASURE</a:t>
            </a:r>
            <a:endParaRPr lang="en-US" sz="900" dirty="0"/>
          </a:p>
        </p:txBody>
      </p:sp>
      <p:sp>
        <p:nvSpPr>
          <p:cNvPr id="10" name="Text 8"/>
          <p:cNvSpPr/>
          <p:nvPr/>
        </p:nvSpPr>
        <p:spPr>
          <a:xfrm>
            <a:off x="2606040" y="1883664"/>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Refresh public data on a fixed date each quarter.</a:t>
            </a:r>
            <a:endParaRPr lang="en-US" sz="1100" dirty="0"/>
          </a:p>
        </p:txBody>
      </p:sp>
      <p:sp>
        <p:nvSpPr>
          <p:cNvPr id="11" name="Shape 9"/>
          <p:cNvSpPr/>
          <p:nvPr/>
        </p:nvSpPr>
        <p:spPr>
          <a:xfrm>
            <a:off x="978408" y="2295144"/>
            <a:ext cx="0" cy="329184"/>
          </a:xfrm>
          <a:prstGeom prst="line">
            <a:avLst/>
          </a:prstGeom>
          <a:noFill/>
          <a:ln w="15240">
            <a:solidFill>
              <a:srgbClr val="193B57"/>
            </a:solidFill>
            <a:prstDash val="solid"/>
          </a:ln>
        </p:spPr>
        <p:txBody>
          <a:bodyPr/>
          <a:p/>
        </p:txBody>
      </p:sp>
      <p:sp>
        <p:nvSpPr>
          <p:cNvPr id="12" name="Text 10"/>
          <p:cNvSpPr/>
          <p:nvPr/>
        </p:nvSpPr>
        <p:spPr>
          <a:xfrm>
            <a:off x="777240" y="2642616"/>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35D0BA"/>
                </a:solidFill>
              </a:rPr>
              <a:t>02</a:t>
            </a:r>
            <a:endParaRPr lang="en-US" sz="1300" dirty="0"/>
          </a:p>
        </p:txBody>
      </p:sp>
      <p:sp>
        <p:nvSpPr>
          <p:cNvPr id="13" name="Text 11"/>
          <p:cNvSpPr/>
          <p:nvPr/>
        </p:nvSpPr>
        <p:spPr>
          <a:xfrm>
            <a:off x="1353312" y="2642616"/>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VALIDATE</a:t>
            </a:r>
            <a:endParaRPr lang="en-US" sz="900" dirty="0"/>
          </a:p>
        </p:txBody>
      </p:sp>
      <p:sp>
        <p:nvSpPr>
          <p:cNvPr id="14" name="Text 12"/>
          <p:cNvSpPr/>
          <p:nvPr/>
        </p:nvSpPr>
        <p:spPr>
          <a:xfrm>
            <a:off x="2606040" y="2642616"/>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predictions with views, merchandise, and partnership outcomes.</a:t>
            </a:r>
            <a:endParaRPr lang="en-US" sz="1100" dirty="0"/>
          </a:p>
        </p:txBody>
      </p:sp>
      <p:sp>
        <p:nvSpPr>
          <p:cNvPr id="15" name="Shape 13"/>
          <p:cNvSpPr/>
          <p:nvPr/>
        </p:nvSpPr>
        <p:spPr>
          <a:xfrm>
            <a:off x="978408" y="3054096"/>
            <a:ext cx="0" cy="329184"/>
          </a:xfrm>
          <a:prstGeom prst="line">
            <a:avLst/>
          </a:prstGeom>
          <a:noFill/>
          <a:ln w="15240">
            <a:solidFill>
              <a:srgbClr val="193B57"/>
            </a:solidFill>
            <a:prstDash val="solid"/>
          </a:ln>
        </p:spPr>
        <p:txBody>
          <a:bodyPr/>
          <a:p/>
        </p:txBody>
      </p:sp>
      <p:sp>
        <p:nvSpPr>
          <p:cNvPr id="16" name="Text 14"/>
          <p:cNvSpPr/>
          <p:nvPr/>
        </p:nvSpPr>
        <p:spPr>
          <a:xfrm>
            <a:off x="777240" y="3401568"/>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F4C95D"/>
                </a:solidFill>
              </a:rPr>
              <a:t>03</a:t>
            </a:r>
            <a:endParaRPr lang="en-US" sz="1300" dirty="0"/>
          </a:p>
        </p:txBody>
      </p:sp>
      <p:sp>
        <p:nvSpPr>
          <p:cNvPr id="17" name="Text 15"/>
          <p:cNvSpPr/>
          <p:nvPr/>
        </p:nvSpPr>
        <p:spPr>
          <a:xfrm>
            <a:off x="1353312" y="3401568"/>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WATCH</a:t>
            </a:r>
            <a:endParaRPr lang="en-US" sz="900" dirty="0"/>
          </a:p>
        </p:txBody>
      </p:sp>
      <p:sp>
        <p:nvSpPr>
          <p:cNvPr id="18" name="Text 16"/>
          <p:cNvSpPr/>
          <p:nvPr/>
        </p:nvSpPr>
        <p:spPr>
          <a:xfrm>
            <a:off x="2606040" y="3401568"/>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Flag high performance + high momentum + negative gap.</a:t>
            </a:r>
            <a:endParaRPr lang="en-US" sz="1100" dirty="0"/>
          </a:p>
        </p:txBody>
      </p:sp>
      <p:sp>
        <p:nvSpPr>
          <p:cNvPr id="19" name="Shape 17"/>
          <p:cNvSpPr/>
          <p:nvPr/>
        </p:nvSpPr>
        <p:spPr>
          <a:xfrm>
            <a:off x="978408" y="3813048"/>
            <a:ext cx="0" cy="329184"/>
          </a:xfrm>
          <a:prstGeom prst="line">
            <a:avLst/>
          </a:prstGeom>
          <a:noFill/>
          <a:ln w="15240">
            <a:solidFill>
              <a:srgbClr val="193B57"/>
            </a:solidFill>
            <a:prstDash val="solid"/>
          </a:ln>
        </p:spPr>
        <p:txBody>
          <a:bodyPr/>
          <a:p/>
        </p:txBody>
      </p:sp>
      <p:sp>
        <p:nvSpPr>
          <p:cNvPr id="20" name="Text 18"/>
          <p:cNvSpPr/>
          <p:nvPr/>
        </p:nvSpPr>
        <p:spPr>
          <a:xfrm>
            <a:off x="777240" y="4160520"/>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2477FF"/>
                </a:solidFill>
              </a:rPr>
              <a:t>04</a:t>
            </a:r>
            <a:endParaRPr lang="en-US" sz="1300" dirty="0"/>
          </a:p>
        </p:txBody>
      </p:sp>
      <p:sp>
        <p:nvSpPr>
          <p:cNvPr id="21" name="Text 19"/>
          <p:cNvSpPr/>
          <p:nvPr/>
        </p:nvSpPr>
        <p:spPr>
          <a:xfrm>
            <a:off x="1353312" y="4160520"/>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ACTIVATE</a:t>
            </a:r>
            <a:endParaRPr lang="en-US" sz="900" dirty="0"/>
          </a:p>
        </p:txBody>
      </p:sp>
      <p:sp>
        <p:nvSpPr>
          <p:cNvPr id="22" name="Text 20"/>
          <p:cNvSpPr/>
          <p:nvPr/>
        </p:nvSpPr>
        <p:spPr>
          <a:xfrm>
            <a:off x="2606040" y="4160520"/>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Choose a content, sponsor, or player-brand experiment.</a:t>
            </a:r>
            <a:endParaRPr lang="en-US" sz="1100" dirty="0"/>
          </a:p>
        </p:txBody>
      </p:sp>
      <p:sp>
        <p:nvSpPr>
          <p:cNvPr id="23" name="Shape 21"/>
          <p:cNvSpPr/>
          <p:nvPr/>
        </p:nvSpPr>
        <p:spPr>
          <a:xfrm>
            <a:off x="978408" y="4572000"/>
            <a:ext cx="0" cy="329184"/>
          </a:xfrm>
          <a:prstGeom prst="line">
            <a:avLst/>
          </a:prstGeom>
          <a:noFill/>
          <a:ln w="15240">
            <a:solidFill>
              <a:srgbClr val="193B57"/>
            </a:solidFill>
            <a:prstDash val="solid"/>
          </a:ln>
        </p:spPr>
        <p:txBody>
          <a:bodyPr/>
          <a:p/>
        </p:txBody>
      </p:sp>
      <p:sp>
        <p:nvSpPr>
          <p:cNvPr id="24" name="Text 22"/>
          <p:cNvSpPr/>
          <p:nvPr/>
        </p:nvSpPr>
        <p:spPr>
          <a:xfrm>
            <a:off x="777240" y="4919472"/>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9B8CFF"/>
                </a:solidFill>
              </a:rPr>
              <a:t>05</a:t>
            </a:r>
            <a:endParaRPr lang="en-US" sz="1300" dirty="0"/>
          </a:p>
        </p:txBody>
      </p:sp>
      <p:sp>
        <p:nvSpPr>
          <p:cNvPr id="25" name="Text 23"/>
          <p:cNvSpPr/>
          <p:nvPr/>
        </p:nvSpPr>
        <p:spPr>
          <a:xfrm>
            <a:off x="1353312" y="4919472"/>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LEARN</a:t>
            </a:r>
            <a:endParaRPr lang="en-US" sz="900" dirty="0"/>
          </a:p>
        </p:txBody>
      </p:sp>
      <p:sp>
        <p:nvSpPr>
          <p:cNvPr id="26" name="Text 24"/>
          <p:cNvSpPr/>
          <p:nvPr/>
        </p:nvSpPr>
        <p:spPr>
          <a:xfrm>
            <a:off x="2606040" y="4919472"/>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lift and feed the outcome back into the model.</a:t>
            </a:r>
            <a:endParaRPr lang="en-US" sz="1100" dirty="0"/>
          </a:p>
        </p:txBody>
      </p:sp>
      <p:sp>
        <p:nvSpPr>
          <p:cNvPr id="27" name="Shape 25"/>
          <p:cNvSpPr/>
          <p:nvPr/>
        </p:nvSpPr>
        <p:spPr>
          <a:xfrm>
            <a:off x="7818120" y="1874520"/>
            <a:ext cx="3493008" cy="3886200"/>
          </a:xfrm>
          <a:prstGeom prst="roundRect">
            <a:avLst>
              <a:gd name="adj" fmla="val 2094"/>
            </a:avLst>
          </a:prstGeom>
          <a:solidFill>
            <a:srgbClr val="081D31"/>
          </a:solidFill>
          <a:ln w="11430">
            <a:solidFill>
              <a:srgbClr val="193B57"/>
            </a:solidFill>
            <a:prstDash val="solid"/>
          </a:ln>
        </p:spPr>
        <p:txBody>
          <a:bodyPr/>
          <a:p/>
        </p:txBody>
      </p:sp>
      <p:sp>
        <p:nvSpPr>
          <p:cNvPr id="28" name="Text 26"/>
          <p:cNvSpPr/>
          <p:nvPr/>
        </p:nvSpPr>
        <p:spPr>
          <a:xfrm>
            <a:off x="8119872" y="2212848"/>
            <a:ext cx="146304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FIRST PILOT</a:t>
            </a:r>
            <a:endParaRPr lang="en-US" sz="800" dirty="0"/>
          </a:p>
        </p:txBody>
      </p:sp>
      <p:sp>
        <p:nvSpPr>
          <p:cNvPr id="29" name="Text 27"/>
          <p:cNvSpPr/>
          <p:nvPr/>
        </p:nvSpPr>
        <p:spPr>
          <a:xfrm>
            <a:off x="8119872" y="2743200"/>
            <a:ext cx="2103120" cy="384048"/>
          </a:xfrm>
          <a:prstGeom prst="rect">
            <a:avLst/>
          </a:prstGeom>
          <a:noFill/>
          <a:ln/>
        </p:spPr>
        <p:txBody>
          <a:bodyPr wrap="square" lIns="254" tIns="254" rIns="254" bIns="254" rtlCol="0" anchor="ctr">
            <a:normAutofit/>
          </a:bodyPr>
          <a:lstStyle/>
          <a:p>
            <a:pPr algn="l" indent="0" marL="0">
              <a:buNone/>
            </a:pPr>
            <a:r>
              <a:rPr lang="en-US" sz="2100" b="1" dirty="0">
                <a:solidFill>
                  <a:srgbClr val="FFFFFF"/>
                </a:solidFill>
              </a:rPr>
              <a:t>10–20 players</a:t>
            </a:r>
            <a:endParaRPr lang="en-US" sz="2100" dirty="0"/>
          </a:p>
        </p:txBody>
      </p:sp>
      <p:sp>
        <p:nvSpPr>
          <p:cNvPr id="30" name="Text 28"/>
          <p:cNvSpPr/>
          <p:nvPr/>
        </p:nvSpPr>
        <p:spPr>
          <a:xfrm>
            <a:off x="8119872" y="3310128"/>
            <a:ext cx="2240280" cy="310896"/>
          </a:xfrm>
          <a:prstGeom prst="rect">
            <a:avLst/>
          </a:prstGeom>
          <a:noFill/>
          <a:ln/>
        </p:spPr>
        <p:txBody>
          <a:bodyPr wrap="square" lIns="254" tIns="254" rIns="254" bIns="254" rtlCol="0" anchor="ctr">
            <a:normAutofit/>
          </a:bodyPr>
          <a:lstStyle/>
          <a:p>
            <a:pPr algn="l" indent="0" marL="0">
              <a:buNone/>
            </a:pPr>
            <a:r>
              <a:rPr lang="en-US" sz="1200" b="1" dirty="0">
                <a:solidFill>
                  <a:srgbClr val="35D0BA"/>
                </a:solidFill>
              </a:rPr>
              <a:t>Quarterly refresh</a:t>
            </a:r>
            <a:endParaRPr lang="en-US" sz="1200" dirty="0"/>
          </a:p>
        </p:txBody>
      </p:sp>
      <p:sp>
        <p:nvSpPr>
          <p:cNvPr id="31" name="Text 29"/>
          <p:cNvSpPr/>
          <p:nvPr/>
        </p:nvSpPr>
        <p:spPr>
          <a:xfrm>
            <a:off x="8119872" y="3858768"/>
            <a:ext cx="2514600" cy="96012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One content or sponsor test for the top underexposed opportunity.</a:t>
            </a:r>
            <a:endParaRPr lang="en-US" sz="1100" dirty="0"/>
          </a:p>
        </p:txBody>
      </p:sp>
      <p:sp>
        <p:nvSpPr>
          <p:cNvPr id="32" name="Shape 30"/>
          <p:cNvSpPr/>
          <p:nvPr/>
        </p:nvSpPr>
        <p:spPr>
          <a:xfrm>
            <a:off x="8119872" y="5120640"/>
            <a:ext cx="233172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33" name="Text 31"/>
          <p:cNvSpPr/>
          <p:nvPr/>
        </p:nvSpPr>
        <p:spPr>
          <a:xfrm>
            <a:off x="8174736" y="5157216"/>
            <a:ext cx="22219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SMALL TEST → MEASURABLE LIFT</a:t>
            </a:r>
            <a:endParaRPr lang="en-US" sz="7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GUARDRAILS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What this model can say—and what it cannot.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fastest way to lose trust is to turn public proxies into false precision.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12</a:t>
            </a:r>
            <a:endParaRPr lang="en-US" sz="580" dirty="0"/>
          </a:p>
        </p:txBody>
      </p:sp>
      <p:sp>
        <p:nvSpPr>
          <p:cNvPr id="8" name="Text 6"/>
          <p:cNvSpPr/>
          <p:nvPr/>
        </p:nvSpPr>
        <p:spPr>
          <a:xfrm>
            <a:off x="749808" y="1874520"/>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WHAT IT CAN DO</a:t>
            </a:r>
            <a:endParaRPr lang="en-US" sz="800" dirty="0"/>
          </a:p>
        </p:txBody>
      </p:sp>
      <p:sp>
        <p:nvSpPr>
          <p:cNvPr id="9" name="Text 7"/>
          <p:cNvSpPr/>
          <p:nvPr/>
        </p:nvSpPr>
        <p:spPr>
          <a:xfrm>
            <a:off x="6355080" y="1874520"/>
            <a:ext cx="2560320" cy="256032"/>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WHAT IT CANNOT DO</a:t>
            </a:r>
            <a:endParaRPr lang="en-US" sz="800" dirty="0"/>
          </a:p>
        </p:txBody>
      </p:sp>
      <p:sp>
        <p:nvSpPr>
          <p:cNvPr id="10" name="Shape 8"/>
          <p:cNvSpPr/>
          <p:nvPr/>
        </p:nvSpPr>
        <p:spPr>
          <a:xfrm>
            <a:off x="868680" y="2450592"/>
            <a:ext cx="128016" cy="128016"/>
          </a:xfrm>
          <a:prstGeom prst="ellipse">
            <a:avLst/>
          </a:prstGeom>
          <a:solidFill>
            <a:srgbClr val="35D0BA"/>
          </a:solidFill>
          <a:ln w="12700">
            <a:solidFill>
              <a:srgbClr val="35D0BA">
                <a:alpha val="0"/>
              </a:srgbClr>
            </a:solidFill>
            <a:prstDash val="solid"/>
          </a:ln>
        </p:spPr>
        <p:txBody>
          <a:bodyPr/>
          <a:p/>
        </p:txBody>
      </p:sp>
      <p:sp>
        <p:nvSpPr>
          <p:cNvPr id="11" name="Text 9"/>
          <p:cNvSpPr/>
          <p:nvPr/>
        </p:nvSpPr>
        <p:spPr>
          <a:xfrm>
            <a:off x="1170432" y="2395728"/>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Prioritize players for deeper review</a:t>
            </a:r>
            <a:endParaRPr lang="en-US" sz="1100" dirty="0"/>
          </a:p>
        </p:txBody>
      </p:sp>
      <p:sp>
        <p:nvSpPr>
          <p:cNvPr id="12" name="Shape 10"/>
          <p:cNvSpPr/>
          <p:nvPr/>
        </p:nvSpPr>
        <p:spPr>
          <a:xfrm>
            <a:off x="868680" y="3154680"/>
            <a:ext cx="128016" cy="128016"/>
          </a:xfrm>
          <a:prstGeom prst="ellipse">
            <a:avLst/>
          </a:prstGeom>
          <a:solidFill>
            <a:srgbClr val="35D0BA"/>
          </a:solidFill>
          <a:ln w="12700">
            <a:solidFill>
              <a:srgbClr val="35D0BA">
                <a:alpha val="0"/>
              </a:srgbClr>
            </a:solidFill>
            <a:prstDash val="solid"/>
          </a:ln>
        </p:spPr>
        <p:txBody>
          <a:bodyPr/>
          <a:p/>
        </p:txBody>
      </p:sp>
      <p:sp>
        <p:nvSpPr>
          <p:cNvPr id="13" name="Text 11"/>
          <p:cNvSpPr/>
          <p:nvPr/>
        </p:nvSpPr>
        <p:spPr>
          <a:xfrm>
            <a:off x="1170432" y="3099816"/>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public attention and momentum</a:t>
            </a:r>
            <a:endParaRPr lang="en-US" sz="1100" dirty="0"/>
          </a:p>
        </p:txBody>
      </p:sp>
      <p:sp>
        <p:nvSpPr>
          <p:cNvPr id="14" name="Shape 12"/>
          <p:cNvSpPr/>
          <p:nvPr/>
        </p:nvSpPr>
        <p:spPr>
          <a:xfrm>
            <a:off x="868680" y="3858768"/>
            <a:ext cx="128016" cy="128016"/>
          </a:xfrm>
          <a:prstGeom prst="ellipse">
            <a:avLst/>
          </a:prstGeom>
          <a:solidFill>
            <a:srgbClr val="35D0BA"/>
          </a:solidFill>
          <a:ln w="12700">
            <a:solidFill>
              <a:srgbClr val="35D0BA">
                <a:alpha val="0"/>
              </a:srgbClr>
            </a:solidFill>
            <a:prstDash val="solid"/>
          </a:ln>
        </p:spPr>
        <p:txBody>
          <a:bodyPr/>
          <a:p/>
        </p:txBody>
      </p:sp>
      <p:sp>
        <p:nvSpPr>
          <p:cNvPr id="15" name="Text 13"/>
          <p:cNvSpPr/>
          <p:nvPr/>
        </p:nvSpPr>
        <p:spPr>
          <a:xfrm>
            <a:off x="1170432" y="3803904"/>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results under different assumptions</a:t>
            </a:r>
            <a:endParaRPr lang="en-US" sz="1100" dirty="0"/>
          </a:p>
        </p:txBody>
      </p:sp>
      <p:sp>
        <p:nvSpPr>
          <p:cNvPr id="16" name="Shape 14"/>
          <p:cNvSpPr/>
          <p:nvPr/>
        </p:nvSpPr>
        <p:spPr>
          <a:xfrm>
            <a:off x="868680" y="4562856"/>
            <a:ext cx="128016" cy="128016"/>
          </a:xfrm>
          <a:prstGeom prst="ellipse">
            <a:avLst/>
          </a:prstGeom>
          <a:solidFill>
            <a:srgbClr val="35D0BA"/>
          </a:solidFill>
          <a:ln w="12700">
            <a:solidFill>
              <a:srgbClr val="35D0BA">
                <a:alpha val="0"/>
              </a:srgbClr>
            </a:solidFill>
            <a:prstDash val="solid"/>
          </a:ln>
        </p:spPr>
        <p:txBody>
          <a:bodyPr/>
          <a:p/>
        </p:txBody>
      </p:sp>
      <p:sp>
        <p:nvSpPr>
          <p:cNvPr id="17" name="Text 15"/>
          <p:cNvSpPr/>
          <p:nvPr/>
        </p:nvSpPr>
        <p:spPr>
          <a:xfrm>
            <a:off x="1170432" y="4507992"/>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Generate testable commercial hypotheses</a:t>
            </a:r>
            <a:endParaRPr lang="en-US" sz="1100" dirty="0"/>
          </a:p>
        </p:txBody>
      </p:sp>
      <p:sp>
        <p:nvSpPr>
          <p:cNvPr id="18" name="Shape 16"/>
          <p:cNvSpPr/>
          <p:nvPr/>
        </p:nvSpPr>
        <p:spPr>
          <a:xfrm>
            <a:off x="6473952" y="2450592"/>
            <a:ext cx="128016" cy="128016"/>
          </a:xfrm>
          <a:prstGeom prst="ellipse">
            <a:avLst/>
          </a:prstGeom>
          <a:solidFill>
            <a:srgbClr val="F4C95D"/>
          </a:solidFill>
          <a:ln w="12700">
            <a:solidFill>
              <a:srgbClr val="F4C95D">
                <a:alpha val="0"/>
              </a:srgbClr>
            </a:solidFill>
            <a:prstDash val="solid"/>
          </a:ln>
        </p:spPr>
        <p:txBody>
          <a:bodyPr/>
          <a:p/>
        </p:txBody>
      </p:sp>
      <p:sp>
        <p:nvSpPr>
          <p:cNvPr id="19" name="Text 17"/>
          <p:cNvSpPr/>
          <p:nvPr/>
        </p:nvSpPr>
        <p:spPr>
          <a:xfrm>
            <a:off x="6775704" y="2395728"/>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Know private endorsement economics</a:t>
            </a:r>
            <a:endParaRPr lang="en-US" sz="1100" dirty="0"/>
          </a:p>
        </p:txBody>
      </p:sp>
      <p:sp>
        <p:nvSpPr>
          <p:cNvPr id="20" name="Shape 18"/>
          <p:cNvSpPr/>
          <p:nvPr/>
        </p:nvSpPr>
        <p:spPr>
          <a:xfrm>
            <a:off x="6473952" y="3154680"/>
            <a:ext cx="128016" cy="128016"/>
          </a:xfrm>
          <a:prstGeom prst="ellipse">
            <a:avLst/>
          </a:prstGeom>
          <a:solidFill>
            <a:srgbClr val="F4C95D"/>
          </a:solidFill>
          <a:ln w="12700">
            <a:solidFill>
              <a:srgbClr val="F4C95D">
                <a:alpha val="0"/>
              </a:srgbClr>
            </a:solidFill>
            <a:prstDash val="solid"/>
          </a:ln>
        </p:spPr>
        <p:txBody>
          <a:bodyPr/>
          <a:p/>
        </p:txBody>
      </p:sp>
      <p:sp>
        <p:nvSpPr>
          <p:cNvPr id="21" name="Text 19"/>
          <p:cNvSpPr/>
          <p:nvPr/>
        </p:nvSpPr>
        <p:spPr>
          <a:xfrm>
            <a:off x="6775704" y="3099816"/>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Measure exact sponsor ROI from public data</a:t>
            </a:r>
            <a:endParaRPr lang="en-US" sz="1100" dirty="0"/>
          </a:p>
        </p:txBody>
      </p:sp>
      <p:sp>
        <p:nvSpPr>
          <p:cNvPr id="22" name="Shape 20"/>
          <p:cNvSpPr/>
          <p:nvPr/>
        </p:nvSpPr>
        <p:spPr>
          <a:xfrm>
            <a:off x="6473952" y="3858768"/>
            <a:ext cx="128016" cy="128016"/>
          </a:xfrm>
          <a:prstGeom prst="ellipse">
            <a:avLst/>
          </a:prstGeom>
          <a:solidFill>
            <a:srgbClr val="F4C95D"/>
          </a:solidFill>
          <a:ln w="12700">
            <a:solidFill>
              <a:srgbClr val="F4C95D">
                <a:alpha val="0"/>
              </a:srgbClr>
            </a:solidFill>
            <a:prstDash val="solid"/>
          </a:ln>
        </p:spPr>
        <p:txBody>
          <a:bodyPr/>
          <a:p/>
        </p:txBody>
      </p:sp>
      <p:sp>
        <p:nvSpPr>
          <p:cNvPr id="23" name="Text 21"/>
          <p:cNvSpPr/>
          <p:nvPr/>
        </p:nvSpPr>
        <p:spPr>
          <a:xfrm>
            <a:off x="6775704" y="3803904"/>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Replace brand-safety or human judgment</a:t>
            </a:r>
            <a:endParaRPr lang="en-US" sz="1100" dirty="0"/>
          </a:p>
        </p:txBody>
      </p:sp>
      <p:sp>
        <p:nvSpPr>
          <p:cNvPr id="24" name="Shape 22"/>
          <p:cNvSpPr/>
          <p:nvPr/>
        </p:nvSpPr>
        <p:spPr>
          <a:xfrm>
            <a:off x="6473952" y="4562856"/>
            <a:ext cx="128016" cy="128016"/>
          </a:xfrm>
          <a:prstGeom prst="ellipse">
            <a:avLst/>
          </a:prstGeom>
          <a:solidFill>
            <a:srgbClr val="F4C95D"/>
          </a:solidFill>
          <a:ln w="12700">
            <a:solidFill>
              <a:srgbClr val="F4C95D">
                <a:alpha val="0"/>
              </a:srgbClr>
            </a:solidFill>
            <a:prstDash val="solid"/>
          </a:ln>
        </p:spPr>
        <p:txBody>
          <a:bodyPr/>
          <a:p/>
        </p:txBody>
      </p:sp>
      <p:sp>
        <p:nvSpPr>
          <p:cNvPr id="25" name="Text 23"/>
          <p:cNvSpPr/>
          <p:nvPr/>
        </p:nvSpPr>
        <p:spPr>
          <a:xfrm>
            <a:off x="6775704" y="4507992"/>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Claim causality from correlation alone</a:t>
            </a:r>
            <a:endParaRPr lang="en-US" sz="1100" dirty="0"/>
          </a:p>
        </p:txBody>
      </p:sp>
      <p:sp>
        <p:nvSpPr>
          <p:cNvPr id="26" name="Shape 24"/>
          <p:cNvSpPr/>
          <p:nvPr/>
        </p:nvSpPr>
        <p:spPr>
          <a:xfrm>
            <a:off x="749808" y="5440680"/>
            <a:ext cx="10424160" cy="530352"/>
          </a:xfrm>
          <a:prstGeom prst="roundRect">
            <a:avLst>
              <a:gd name="adj" fmla="val 13793"/>
            </a:avLst>
          </a:prstGeom>
          <a:solidFill>
            <a:srgbClr val="0B2741"/>
          </a:solidFill>
          <a:ln w="11430">
            <a:solidFill>
              <a:srgbClr val="193B57"/>
            </a:solidFill>
            <a:prstDash val="solid"/>
          </a:ln>
        </p:spPr>
        <p:txBody>
          <a:bodyPr/>
          <a:p/>
        </p:txBody>
      </p:sp>
      <p:sp>
        <p:nvSpPr>
          <p:cNvPr id="27" name="Text 25"/>
          <p:cNvSpPr/>
          <p:nvPr/>
        </p:nvSpPr>
        <p:spPr>
          <a:xfrm>
            <a:off x="1005840" y="5577840"/>
            <a:ext cx="9921240" cy="256032"/>
          </a:xfrm>
          <a:prstGeom prst="rect">
            <a:avLst/>
          </a:prstGeom>
          <a:noFill/>
          <a:ln/>
        </p:spPr>
        <p:txBody>
          <a:bodyPr wrap="square" lIns="254" tIns="254" rIns="254" bIns="254" rtlCol="0" anchor="ctr">
            <a:normAutofit/>
          </a:bodyPr>
          <a:lstStyle/>
          <a:p>
            <a:pPr algn="ctr" indent="0" marL="0">
              <a:buNone/>
            </a:pPr>
            <a:r>
              <a:rPr lang="en-US" sz="1100" b="1" dirty="0">
                <a:solidFill>
                  <a:srgbClr val="FFFFFF"/>
                </a:solidFill>
              </a:rPr>
              <a:t>Design principle: use the model to decide where to investigate—not to pretend public data knows everything.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0A13"/>
        </a:solidFill>
      </p:bgPr>
    </p:bg>
    <p:spTree>
      <p:nvGrpSpPr>
        <p:cNvPr id="1" name=""/>
        <p:cNvGrpSpPr/>
        <p:nvPr/>
      </p:nvGrpSpPr>
      <p:grpSpPr>
        <a:xfrm>
          <a:off x="0" y="0"/>
          <a:ext cx="0" cy="0"/>
          <a:chOff x="0" y="0"/>
          <a:chExt cx="0" cy="0"/>
        </a:xfrm>
      </p:grpSpPr>
      <p:sp>
        <p:nvSpPr>
          <p:cNvPr id="2" name="Text 0"/>
          <p:cNvSpPr/>
          <p:nvPr/>
        </p:nvSpPr>
        <p:spPr>
          <a:xfrm>
            <a:off x="658368" y="640080"/>
            <a:ext cx="2651760" cy="27432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MAV METRICS</a:t>
            </a:r>
            <a:endParaRPr lang="en-US" sz="900" dirty="0"/>
          </a:p>
        </p:txBody>
      </p:sp>
      <p:sp>
        <p:nvSpPr>
          <p:cNvPr id="3" name="Text 1"/>
          <p:cNvSpPr/>
          <p:nvPr/>
        </p:nvSpPr>
        <p:spPr>
          <a:xfrm>
            <a:off x="658368" y="1261872"/>
            <a:ext cx="7086600" cy="214884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gap.</a:t>
            </a:r>
            <a:endParaRPr lang="en-US" sz="3100" dirty="0"/>
          </a:p>
          <a:p>
            <a:pPr algn="l" indent="0" marL="0">
              <a:buNone/>
            </a:pPr>
            <a:r>
              <a:rPr lang="en-US" sz="3100" b="1" dirty="0">
                <a:solidFill>
                  <a:srgbClr val="FFFFFF"/>
                </a:solidFill>
              </a:rPr>
              <a:t>Track the momentum.</a:t>
            </a:r>
            <a:endParaRPr lang="en-US" sz="3100" dirty="0"/>
          </a:p>
          <a:p>
            <a:pPr algn="l" indent="0" marL="0">
              <a:buNone/>
            </a:pPr>
            <a:r>
              <a:rPr lang="en-US" sz="3100" b="1" dirty="0">
                <a:solidFill>
                  <a:srgbClr val="FFFFFF"/>
                </a:solidFill>
              </a:rPr>
              <a:t>Act before the market.</a:t>
            </a:r>
            <a:endParaRPr lang="en-US" sz="3100" dirty="0"/>
          </a:p>
        </p:txBody>
      </p:sp>
      <p:sp>
        <p:nvSpPr>
          <p:cNvPr id="4" name="Text 2"/>
          <p:cNvSpPr/>
          <p:nvPr/>
        </p:nvSpPr>
        <p:spPr>
          <a:xfrm>
            <a:off x="676656" y="3794760"/>
            <a:ext cx="5669280" cy="530352"/>
          </a:xfrm>
          <a:prstGeom prst="rect">
            <a:avLst/>
          </a:prstGeom>
          <a:noFill/>
          <a:ln/>
        </p:spPr>
        <p:txBody>
          <a:bodyPr wrap="square" lIns="254" tIns="254" rIns="254" bIns="254" rtlCol="0" anchor="ctr">
            <a:normAutofit/>
          </a:bodyPr>
          <a:lstStyle/>
          <a:p>
            <a:pPr algn="l" indent="0" marL="0">
              <a:buNone/>
            </a:pPr>
            <a:r>
              <a:rPr lang="en-US" sz="1300" dirty="0">
                <a:solidFill>
                  <a:srgbClr val="A9BAC9"/>
                </a:solidFill>
              </a:rPr>
              <a:t>An explainable public-data system for spotting underexposed player value.</a:t>
            </a:r>
            <a:endParaRPr lang="en-US" sz="1300" dirty="0"/>
          </a:p>
        </p:txBody>
      </p:sp>
      <p:sp>
        <p:nvSpPr>
          <p:cNvPr id="5" name="Shape 3"/>
          <p:cNvSpPr/>
          <p:nvPr/>
        </p:nvSpPr>
        <p:spPr>
          <a:xfrm>
            <a:off x="7863840" y="1234440"/>
            <a:ext cx="3337560" cy="3611880"/>
          </a:xfrm>
          <a:prstGeom prst="roundRect">
            <a:avLst>
              <a:gd name="adj" fmla="val 2192"/>
            </a:avLst>
          </a:prstGeom>
          <a:solidFill>
            <a:srgbClr val="081D31"/>
          </a:solidFill>
          <a:ln w="11430">
            <a:solidFill>
              <a:srgbClr val="193B57"/>
            </a:solidFill>
            <a:prstDash val="solid"/>
          </a:ln>
        </p:spPr>
        <p:txBody>
          <a:bodyPr/>
          <a:p/>
        </p:txBody>
      </p:sp>
      <p:sp>
        <p:nvSpPr>
          <p:cNvPr id="6" name="Text 4"/>
          <p:cNvSpPr/>
          <p:nvPr/>
        </p:nvSpPr>
        <p:spPr>
          <a:xfrm>
            <a:off x="8183880" y="1600200"/>
            <a:ext cx="20116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THE TAKEAWAY</a:t>
            </a:r>
            <a:endParaRPr lang="en-US" sz="800" dirty="0"/>
          </a:p>
        </p:txBody>
      </p:sp>
      <p:sp>
        <p:nvSpPr>
          <p:cNvPr id="7" name="Text 5"/>
          <p:cNvSpPr/>
          <p:nvPr/>
        </p:nvSpPr>
        <p:spPr>
          <a:xfrm>
            <a:off x="8183880" y="2212848"/>
            <a:ext cx="2514600" cy="713232"/>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Marketability is not a popularity contest.</a:t>
            </a:r>
            <a:endParaRPr lang="en-US" sz="1600" dirty="0"/>
          </a:p>
        </p:txBody>
      </p:sp>
      <p:sp>
        <p:nvSpPr>
          <p:cNvPr id="8" name="Text 6"/>
          <p:cNvSpPr/>
          <p:nvPr/>
        </p:nvSpPr>
        <p:spPr>
          <a:xfrm>
            <a:off x="8183880" y="3182112"/>
            <a:ext cx="2514600" cy="100584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It is a moving relationship between performance, attention, audience quality, and commercial proof.</a:t>
            </a:r>
            <a:endParaRPr lang="en-US" sz="1100" dirty="0"/>
          </a:p>
        </p:txBody>
      </p:sp>
      <p:sp>
        <p:nvSpPr>
          <p:cNvPr id="9" name="Shape 7"/>
          <p:cNvSpPr/>
          <p:nvPr/>
        </p:nvSpPr>
        <p:spPr>
          <a:xfrm>
            <a:off x="8183880" y="4343400"/>
            <a:ext cx="1243584"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10" name="Text 8"/>
          <p:cNvSpPr/>
          <p:nvPr/>
        </p:nvSpPr>
        <p:spPr>
          <a:xfrm>
            <a:off x="8238744" y="4379976"/>
            <a:ext cx="1133856"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QUESTIONS?</a:t>
            </a:r>
            <a:endParaRPr lang="en-US" sz="730" dirty="0"/>
          </a:p>
        </p:txBody>
      </p:sp>
      <p:sp>
        <p:nvSpPr>
          <p:cNvPr id="11" name="Text 9"/>
          <p:cNvSpPr/>
          <p:nvPr/>
        </p:nvSpPr>
        <p:spPr>
          <a:xfrm>
            <a:off x="676656" y="5687568"/>
            <a:ext cx="4480560" cy="292608"/>
          </a:xfrm>
          <a:prstGeom prst="rect">
            <a:avLst/>
          </a:prstGeom>
          <a:noFill/>
          <a:ln/>
        </p:spPr>
        <p:txBody>
          <a:bodyPr wrap="square" lIns="254" tIns="254" rIns="254" bIns="254" rtlCol="0" anchor="ctr">
            <a:normAutofit/>
          </a:bodyPr>
          <a:lstStyle/>
          <a:p>
            <a:pPr algn="l" indent="0" marL="0">
              <a:buNone/>
            </a:pPr>
            <a:r>
              <a:rPr lang="en-US" sz="1000" b="1" dirty="0">
                <a:solidFill>
                  <a:srgbClr val="40D9FF"/>
                </a:solidFill>
              </a:rPr>
              <a:t>github.com/joshmzamora/mav-metrics</a:t>
            </a:r>
            <a:endParaRPr lang="en-US" sz="1000" dirty="0"/>
          </a:p>
        </p:txBody>
      </p:sp>
      <p:sp>
        <p:nvSpPr>
          <p:cNvPr id="12" name="Text 10"/>
          <p:cNvSpPr/>
          <p:nvPr/>
        </p:nvSpPr>
        <p:spPr>
          <a:xfrm>
            <a:off x="676656" y="6080760"/>
            <a:ext cx="4389120" cy="256032"/>
          </a:xfrm>
          <a:prstGeom prst="rect">
            <a:avLst/>
          </a:prstGeom>
          <a:noFill/>
          <a:ln/>
        </p:spPr>
        <p:txBody>
          <a:bodyPr wrap="square" lIns="254" tIns="254" rIns="254" bIns="254" rtlCol="0" anchor="ctr">
            <a:normAutofit/>
          </a:bodyPr>
          <a:lstStyle/>
          <a:p>
            <a:pPr algn="l" indent="0" marL="0">
              <a:buNone/>
            </a:pPr>
            <a:r>
              <a:rPr lang="en-US" sz="800" b="1" dirty="0">
                <a:solidFill>
                  <a:srgbClr val="7E93A5"/>
                </a:solidFill>
              </a:rPr>
              <a:t>Joshua  •  Shresta  •  Veer  •  Sejal</a:t>
            </a:r>
            <a:endParaRPr lang="en-US" sz="800" dirty="0"/>
          </a:p>
        </p:txBody>
      </p:sp>
      <p:sp>
        <p:nvSpPr>
          <p:cNvPr id="13" name="Shape 11"/>
          <p:cNvSpPr/>
          <p:nvPr/>
        </p:nvSpPr>
        <p:spPr>
          <a:xfrm>
            <a:off x="566928" y="6455664"/>
            <a:ext cx="11064240" cy="0"/>
          </a:xfrm>
          <a:prstGeom prst="line">
            <a:avLst/>
          </a:prstGeom>
          <a:noFill/>
          <a:ln w="8890">
            <a:solidFill>
              <a:srgbClr val="193B57"/>
            </a:solidFill>
            <a:prstDash val="solid"/>
          </a:ln>
        </p:spPr>
        <p:txBody>
          <a:bodyPr/>
          <a:p/>
        </p:txBody>
      </p:sp>
      <p:sp>
        <p:nvSpPr>
          <p:cNvPr id="14" name="Text 1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13</a:t>
            </a:r>
            <a:endParaRPr lang="en-US" sz="5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2026 Sports Analytics Case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Mav Metrics — Player Marketability Model</dc:title>
  <dc:subject>Player Marketability Model</dc:subject>
  <dc:creator>Mav Metrics</dc:creator>
  <cp:lastModifiedBy>Mav Metrics</cp:lastModifiedBy>
  <cp:revision>1</cp:revision>
  <dcterms:created xsi:type="dcterms:W3CDTF">2026-10-06T16:19:15Z</dcterms:created>
  <dcterms:modified xsi:type="dcterms:W3CDTF">2026-10-06T16:19:15Z</dcterms:modified>
</cp:coreProperties>
</file>